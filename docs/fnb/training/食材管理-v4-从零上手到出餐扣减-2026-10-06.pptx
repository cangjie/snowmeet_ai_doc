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a681dc446430d" /><Relationship Type="http://schemas.openxmlformats.org/officeDocument/2006/relationships/extended-properties" Target="/docProps/app.xml" Id="R0c2e32de2ad34b3b" /><Relationship Type="http://schemas.openxmlformats.org/officeDocument/2006/relationships/officeDocument" Target="/ppt/presentation.xml" Id="Rd586f8fdc7a0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5f3320aa874408"/>
  </p:sldMasterIdLst>
  <p:notesMasterIdLst>
    <p:notesMasterId xmlns:r="http://schemas.openxmlformats.org/officeDocument/2006/relationships" r:id="R5ce50b4031f54806"/>
  </p:notesMasterIdLst>
  <p:sldIdLst>
    <p:sldId xmlns:r="http://schemas.openxmlformats.org/officeDocument/2006/relationships" id="256" r:id="R5cded6deab8045de"/>
    <p:sldId xmlns:r="http://schemas.openxmlformats.org/officeDocument/2006/relationships" id="257" r:id="R7f391f8e96dc4aa1"/>
    <p:sldId xmlns:r="http://schemas.openxmlformats.org/officeDocument/2006/relationships" id="258" r:id="R622ecc2da46c43a0"/>
    <p:sldId xmlns:r="http://schemas.openxmlformats.org/officeDocument/2006/relationships" id="259" r:id="Rfe57e23cea0242cb"/>
    <p:sldId xmlns:r="http://schemas.openxmlformats.org/officeDocument/2006/relationships" id="260" r:id="R26614289972444df"/>
    <p:sldId xmlns:r="http://schemas.openxmlformats.org/officeDocument/2006/relationships" id="261" r:id="R8393575f845e4ca6"/>
    <p:sldId xmlns:r="http://schemas.openxmlformats.org/officeDocument/2006/relationships" id="262" r:id="R33bba76ac9894164"/>
    <p:sldId xmlns:r="http://schemas.openxmlformats.org/officeDocument/2006/relationships" id="263" r:id="Ra92a9a97fecf4528"/>
    <p:sldId xmlns:r="http://schemas.openxmlformats.org/officeDocument/2006/relationships" id="264" r:id="Rf717ac5411974330"/>
    <p:sldId xmlns:r="http://schemas.openxmlformats.org/officeDocument/2006/relationships" id="265" r:id="Re031cdb33d7d443f"/>
    <p:sldId xmlns:r="http://schemas.openxmlformats.org/officeDocument/2006/relationships" id="266" r:id="Rcad63c3d438347e6"/>
    <p:sldId xmlns:r="http://schemas.openxmlformats.org/officeDocument/2006/relationships" id="267" r:id="R035383bd067c4c38"/>
    <p:sldId xmlns:r="http://schemas.openxmlformats.org/officeDocument/2006/relationships" id="268" r:id="Rfcfc44b29a364f9d"/>
    <p:sldId xmlns:r="http://schemas.openxmlformats.org/officeDocument/2006/relationships" id="269" r:id="R507595c70c114852"/>
    <p:sldId xmlns:r="http://schemas.openxmlformats.org/officeDocument/2006/relationships" id="270" r:id="Rd5c3c5b2f58f4d87"/>
    <p:sldId xmlns:r="http://schemas.openxmlformats.org/officeDocument/2006/relationships" id="271" r:id="Rebe61a6f4a884388"/>
    <p:sldId xmlns:r="http://schemas.openxmlformats.org/officeDocument/2006/relationships" id="272" r:id="Rc96253c2a6e64a6c"/>
    <p:sldId xmlns:r="http://schemas.openxmlformats.org/officeDocument/2006/relationships" id="273" r:id="R8399811ebc4249cd"/>
    <p:sldId xmlns:r="http://schemas.openxmlformats.org/officeDocument/2006/relationships" id="274" r:id="R5206dc491e6346fe"/>
    <p:sldId xmlns:r="http://schemas.openxmlformats.org/officeDocument/2006/relationships" id="275" r:id="R104fd94f57584d59"/>
    <p:sldId xmlns:r="http://schemas.openxmlformats.org/officeDocument/2006/relationships" id="276" r:id="Rdc5617bf59ac4b96"/>
    <p:sldId xmlns:r="http://schemas.openxmlformats.org/officeDocument/2006/relationships" id="277" r:id="R307e35c0f0c248bd"/>
    <p:sldId xmlns:r="http://schemas.openxmlformats.org/officeDocument/2006/relationships" id="278" r:id="Rad1bc9b6c9a24cea"/>
    <p:sldId xmlns:r="http://schemas.openxmlformats.org/officeDocument/2006/relationships" id="279" r:id="R6ed67ac62d9d4c3a"/>
    <p:sldId xmlns:r="http://schemas.openxmlformats.org/officeDocument/2006/relationships" id="280" r:id="R4c45da0b030f4698"/>
    <p:sldId xmlns:r="http://schemas.openxmlformats.org/officeDocument/2006/relationships" id="281" r:id="Rcf79dfb2a1d84119"/>
    <p:sldId xmlns:r="http://schemas.openxmlformats.org/officeDocument/2006/relationships" id="282" r:id="Ra9b7ca910f1147d0"/>
    <p:sldId xmlns:r="http://schemas.openxmlformats.org/officeDocument/2006/relationships" id="283" r:id="R7ed883b67582461d"/>
    <p:sldId xmlns:r="http://schemas.openxmlformats.org/officeDocument/2006/relationships" id="284" r:id="R7a1fd7bb3dcf4e9f"/>
    <p:sldId xmlns:r="http://schemas.openxmlformats.org/officeDocument/2006/relationships" id="285" r:id="R2cac90d290fe4922"/>
    <p:sldId xmlns:r="http://schemas.openxmlformats.org/officeDocument/2006/relationships" id="286" r:id="R44ad8f20d9a34d5c"/>
    <p:sldId xmlns:r="http://schemas.openxmlformats.org/officeDocument/2006/relationships" id="287" r:id="Rd6df358ab03a47f5"/>
    <p:sldId xmlns:r="http://schemas.openxmlformats.org/officeDocument/2006/relationships" id="288" r:id="R5861c86770244852"/>
    <p:sldId xmlns:r="http://schemas.openxmlformats.org/officeDocument/2006/relationships" id="289" r:id="R4a12963ee44f4b6a"/>
    <p:sldId xmlns:r="http://schemas.openxmlformats.org/officeDocument/2006/relationships" id="290" r:id="Rfac32aac2ef04a7c"/>
    <p:sldId xmlns:r="http://schemas.openxmlformats.org/officeDocument/2006/relationships" id="291" r:id="R3037fe0d05c346b8"/>
    <p:sldId xmlns:r="http://schemas.openxmlformats.org/officeDocument/2006/relationships" id="292" r:id="R993179f9649a4cdb"/>
    <p:sldId xmlns:r="http://schemas.openxmlformats.org/officeDocument/2006/relationships" id="293" r:id="Rea2a7e751b0e483d"/>
    <p:sldId xmlns:r="http://schemas.openxmlformats.org/officeDocument/2006/relationships" id="294" r:id="R7622d910e3e74d32"/>
    <p:sldId xmlns:r="http://schemas.openxmlformats.org/officeDocument/2006/relationships" id="295" r:id="R02b080f602174443"/>
    <p:sldId xmlns:r="http://schemas.openxmlformats.org/officeDocument/2006/relationships" id="296" r:id="Ra50c068ad4cd4d4e"/>
    <p:sldId xmlns:r="http://schemas.openxmlformats.org/officeDocument/2006/relationships" id="297" r:id="R7764a18869234348"/>
    <p:sldId xmlns:r="http://schemas.openxmlformats.org/officeDocument/2006/relationships" id="298" r:id="Re577ddd6b7ae41cd"/>
    <p:sldId xmlns:r="http://schemas.openxmlformats.org/officeDocument/2006/relationships" id="299" r:id="Rde5efbca47fd4eb8"/>
    <p:sldId xmlns:r="http://schemas.openxmlformats.org/officeDocument/2006/relationships" id="300" r:id="R598a9d66aafc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0755d11190404d" /><Relationship Type="http://schemas.openxmlformats.org/officeDocument/2006/relationships/slideMaster" Target="/ppt/slideMasters/slideMaster1.xml" Id="R345f3320aa874408" /><Relationship Type="http://schemas.openxmlformats.org/officeDocument/2006/relationships/notesMaster" Target="/ppt/notesMasters/notesMaster1.xml" Id="R5ce50b4031f54806" /><Relationship Type="http://schemas.openxmlformats.org/officeDocument/2006/relationships/presProps" Target="/ppt/presProps.xml" Id="R9095686f7d164302" /><Relationship Type="http://schemas.openxmlformats.org/officeDocument/2006/relationships/tableStyles" Target="/ppt/tableStyles.xml" Id="Rdedf99ffc1c342b3" /><Relationship Type="http://schemas.openxmlformats.org/officeDocument/2006/relationships/slide" Target="/ppt/slides/slide1.xml" Id="R5cded6deab8045de" /><Relationship Type="http://schemas.openxmlformats.org/officeDocument/2006/relationships/slide" Target="/ppt/slides/slide2.xml" Id="R7f391f8e96dc4aa1" /><Relationship Type="http://schemas.openxmlformats.org/officeDocument/2006/relationships/slide" Target="/ppt/slides/slide3.xml" Id="R622ecc2da46c43a0" /><Relationship Type="http://schemas.openxmlformats.org/officeDocument/2006/relationships/slide" Target="/ppt/slides/slide4.xml" Id="Rfe57e23cea0242cb" /><Relationship Type="http://schemas.openxmlformats.org/officeDocument/2006/relationships/slide" Target="/ppt/slides/slide5.xml" Id="R26614289972444df" /><Relationship Type="http://schemas.openxmlformats.org/officeDocument/2006/relationships/slide" Target="/ppt/slides/slide6.xml" Id="R8393575f845e4ca6" /><Relationship Type="http://schemas.openxmlformats.org/officeDocument/2006/relationships/slide" Target="/ppt/slides/slide7.xml" Id="R33bba76ac9894164" /><Relationship Type="http://schemas.openxmlformats.org/officeDocument/2006/relationships/slide" Target="/ppt/slides/slide8.xml" Id="Ra92a9a97fecf4528" /><Relationship Type="http://schemas.openxmlformats.org/officeDocument/2006/relationships/slide" Target="/ppt/slides/slide9.xml" Id="Rf717ac5411974330" /><Relationship Type="http://schemas.openxmlformats.org/officeDocument/2006/relationships/slide" Target="/ppt/slides/slide10.xml" Id="Re031cdb33d7d443f" /><Relationship Type="http://schemas.openxmlformats.org/officeDocument/2006/relationships/slide" Target="/ppt/slides/slide11.xml" Id="Rcad63c3d438347e6" /><Relationship Type="http://schemas.openxmlformats.org/officeDocument/2006/relationships/slide" Target="/ppt/slides/slide12.xml" Id="R035383bd067c4c38" /><Relationship Type="http://schemas.openxmlformats.org/officeDocument/2006/relationships/slide" Target="/ppt/slides/slide13.xml" Id="Rfcfc44b29a364f9d" /><Relationship Type="http://schemas.openxmlformats.org/officeDocument/2006/relationships/slide" Target="/ppt/slides/slide14.xml" Id="R507595c70c114852" /><Relationship Type="http://schemas.openxmlformats.org/officeDocument/2006/relationships/slide" Target="/ppt/slides/slide15.xml" Id="Rd5c3c5b2f58f4d87" /><Relationship Type="http://schemas.openxmlformats.org/officeDocument/2006/relationships/slide" Target="/ppt/slides/slide16.xml" Id="Rebe61a6f4a884388" /><Relationship Type="http://schemas.openxmlformats.org/officeDocument/2006/relationships/slide" Target="/ppt/slides/slide17.xml" Id="Rc96253c2a6e64a6c" /><Relationship Type="http://schemas.openxmlformats.org/officeDocument/2006/relationships/slide" Target="/ppt/slides/slide18.xml" Id="R8399811ebc4249cd" /><Relationship Type="http://schemas.openxmlformats.org/officeDocument/2006/relationships/slide" Target="/ppt/slides/slide19.xml" Id="R5206dc491e6346fe" /><Relationship Type="http://schemas.openxmlformats.org/officeDocument/2006/relationships/slide" Target="/ppt/slides/slide20.xml" Id="R104fd94f57584d59" /><Relationship Type="http://schemas.openxmlformats.org/officeDocument/2006/relationships/slide" Target="/ppt/slides/slide21.xml" Id="Rdc5617bf59ac4b96" /><Relationship Type="http://schemas.openxmlformats.org/officeDocument/2006/relationships/slide" Target="/ppt/slides/slide22.xml" Id="R307e35c0f0c248bd" /><Relationship Type="http://schemas.openxmlformats.org/officeDocument/2006/relationships/slide" Target="/ppt/slides/slide23.xml" Id="Rad1bc9b6c9a24cea" /><Relationship Type="http://schemas.openxmlformats.org/officeDocument/2006/relationships/slide" Target="/ppt/slides/slide24.xml" Id="R6ed67ac62d9d4c3a" /><Relationship Type="http://schemas.openxmlformats.org/officeDocument/2006/relationships/slide" Target="/ppt/slides/slide25.xml" Id="R4c45da0b030f4698" /><Relationship Type="http://schemas.openxmlformats.org/officeDocument/2006/relationships/slide" Target="/ppt/slides/slide26.xml" Id="Rcf79dfb2a1d84119" /><Relationship Type="http://schemas.openxmlformats.org/officeDocument/2006/relationships/slide" Target="/ppt/slides/slide27.xml" Id="Ra9b7ca910f1147d0" /><Relationship Type="http://schemas.openxmlformats.org/officeDocument/2006/relationships/slide" Target="/ppt/slides/slide28.xml" Id="R7ed883b67582461d" /><Relationship Type="http://schemas.openxmlformats.org/officeDocument/2006/relationships/slide" Target="/ppt/slides/slide29.xml" Id="R7a1fd7bb3dcf4e9f" /><Relationship Type="http://schemas.openxmlformats.org/officeDocument/2006/relationships/slide" Target="/ppt/slides/slide30.xml" Id="R2cac90d290fe4922" /><Relationship Type="http://schemas.openxmlformats.org/officeDocument/2006/relationships/slide" Target="/ppt/slides/slide31.xml" Id="R44ad8f20d9a34d5c" /><Relationship Type="http://schemas.openxmlformats.org/officeDocument/2006/relationships/slide" Target="/ppt/slides/slide32.xml" Id="Rd6df358ab03a47f5" /><Relationship Type="http://schemas.openxmlformats.org/officeDocument/2006/relationships/slide" Target="/ppt/slides/slide33.xml" Id="R5861c86770244852" /><Relationship Type="http://schemas.openxmlformats.org/officeDocument/2006/relationships/slide" Target="/ppt/slides/slide34.xml" Id="R4a12963ee44f4b6a" /><Relationship Type="http://schemas.openxmlformats.org/officeDocument/2006/relationships/slide" Target="/ppt/slides/slide35.xml" Id="Rfac32aac2ef04a7c" /><Relationship Type="http://schemas.openxmlformats.org/officeDocument/2006/relationships/slide" Target="/ppt/slides/slide36.xml" Id="R3037fe0d05c346b8" /><Relationship Type="http://schemas.openxmlformats.org/officeDocument/2006/relationships/slide" Target="/ppt/slides/slide37.xml" Id="R993179f9649a4cdb" /><Relationship Type="http://schemas.openxmlformats.org/officeDocument/2006/relationships/slide" Target="/ppt/slides/slide38.xml" Id="Rea2a7e751b0e483d" /><Relationship Type="http://schemas.openxmlformats.org/officeDocument/2006/relationships/slide" Target="/ppt/slides/slide39.xml" Id="R7622d910e3e74d32" /><Relationship Type="http://schemas.openxmlformats.org/officeDocument/2006/relationships/slide" Target="/ppt/slides/slide40.xml" Id="R02b080f602174443" /><Relationship Type="http://schemas.openxmlformats.org/officeDocument/2006/relationships/slide" Target="/ppt/slides/slide41.xml" Id="Ra50c068ad4cd4d4e" /><Relationship Type="http://schemas.openxmlformats.org/officeDocument/2006/relationships/slide" Target="/ppt/slides/slide42.xml" Id="R7764a18869234348" /><Relationship Type="http://schemas.openxmlformats.org/officeDocument/2006/relationships/slide" Target="/ppt/slides/slide43.xml" Id="Re577ddd6b7ae41cd" /><Relationship Type="http://schemas.openxmlformats.org/officeDocument/2006/relationships/slide" Target="/ppt/slides/slide44.xml" Id="Rde5efbca47fd4eb8" /><Relationship Type="http://schemas.openxmlformats.org/officeDocument/2006/relationships/slide" Target="/ppt/slides/slide45.xml" Id="R598a9d66aafc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ea347294e9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b8af69f6704e3a" /><Relationship Type="http://schemas.openxmlformats.org/officeDocument/2006/relationships/notesMaster" Target="/ppt/notesMasters/notesMaster1.xml" Id="R919caed7d975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fbc01daa44253" /><Relationship Type="http://schemas.openxmlformats.org/officeDocument/2006/relationships/notesMaster" Target="/ppt/notesMasters/notesMaster1.xml" Id="R5a0898812b3f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54508442a404c" /><Relationship Type="http://schemas.openxmlformats.org/officeDocument/2006/relationships/notesMaster" Target="/ppt/notesMasters/notesMaster1.xml" Id="R7a24f997b8e7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a9a21ac1a4256" /><Relationship Type="http://schemas.openxmlformats.org/officeDocument/2006/relationships/notesMaster" Target="/ppt/notesMasters/notesMaster1.xml" Id="R57cfb84ddddb41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6506cbb50466f" /><Relationship Type="http://schemas.openxmlformats.org/officeDocument/2006/relationships/notesMaster" Target="/ppt/notesMasters/notesMaster1.xml" Id="R219de0e6ca8b41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066cd88204aa7" /><Relationship Type="http://schemas.openxmlformats.org/officeDocument/2006/relationships/notesMaster" Target="/ppt/notesMasters/notesMaster1.xml" Id="R4adfbc6ec8a84f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babd1ffb64f9a" /><Relationship Type="http://schemas.openxmlformats.org/officeDocument/2006/relationships/notesMaster" Target="/ppt/notesMasters/notesMaster1.xml" Id="R55ef093d630149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9fd00a4144340" /><Relationship Type="http://schemas.openxmlformats.org/officeDocument/2006/relationships/notesMaster" Target="/ppt/notesMasters/notesMaster1.xml" Id="R2adb9d954f294a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9f53e2f1144bd" /><Relationship Type="http://schemas.openxmlformats.org/officeDocument/2006/relationships/notesMaster" Target="/ppt/notesMasters/notesMaster1.xml" Id="R17045c708221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9bc7ed869a4177" /><Relationship Type="http://schemas.openxmlformats.org/officeDocument/2006/relationships/notesMaster" Target="/ppt/notesMasters/notesMaster1.xml" Id="Race6d364196844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7deab5d82f4eb4" /><Relationship Type="http://schemas.openxmlformats.org/officeDocument/2006/relationships/notesMaster" Target="/ppt/notesMasters/notesMaster1.xml" Id="R617177a45d6e4f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d842ddf93745d8" /><Relationship Type="http://schemas.openxmlformats.org/officeDocument/2006/relationships/notesMaster" Target="/ppt/notesMasters/notesMaster1.xml" Id="R24f98e30cf894a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ce7eb9661b4b5e" /><Relationship Type="http://schemas.openxmlformats.org/officeDocument/2006/relationships/notesMaster" Target="/ppt/notesMasters/notesMaster1.xml" Id="Rbf2b1d55179c4d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da98bab76948ab" /><Relationship Type="http://schemas.openxmlformats.org/officeDocument/2006/relationships/notesMaster" Target="/ppt/notesMasters/notesMaster1.xml" Id="Ra6fe3d92200845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8aa3576aed4f35" /><Relationship Type="http://schemas.openxmlformats.org/officeDocument/2006/relationships/notesMaster" Target="/ppt/notesMasters/notesMaster1.xml" Id="R62bf6dd382044a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b65f5223574d84" /><Relationship Type="http://schemas.openxmlformats.org/officeDocument/2006/relationships/notesMaster" Target="/ppt/notesMasters/notesMaster1.xml" Id="R40431901d10b40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505d30847844f4" /><Relationship Type="http://schemas.openxmlformats.org/officeDocument/2006/relationships/notesMaster" Target="/ppt/notesMasters/notesMaster1.xml" Id="R1f3c6219ff064c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f438a68ad84c5d" /><Relationship Type="http://schemas.openxmlformats.org/officeDocument/2006/relationships/notesMaster" Target="/ppt/notesMasters/notesMaster1.xml" Id="R5845b5ee2b8543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d5aff3348d46a4" /><Relationship Type="http://schemas.openxmlformats.org/officeDocument/2006/relationships/notesMaster" Target="/ppt/notesMasters/notesMaster1.xml" Id="Rf7ec7ee26eca43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8e50eb0c784dfb" /><Relationship Type="http://schemas.openxmlformats.org/officeDocument/2006/relationships/notesMaster" Target="/ppt/notesMasters/notesMaster1.xml" Id="Rf1aab74fa2ca4a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67b2cf85ad4205" /><Relationship Type="http://schemas.openxmlformats.org/officeDocument/2006/relationships/notesMaster" Target="/ppt/notesMasters/notesMaster1.xml" Id="Rae48fbe5d25c42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192dfef63c4a08" /><Relationship Type="http://schemas.openxmlformats.org/officeDocument/2006/relationships/notesMaster" Target="/ppt/notesMasters/notesMaster1.xml" Id="R0c246b8df5ed4c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09257596d445ad" /><Relationship Type="http://schemas.openxmlformats.org/officeDocument/2006/relationships/notesMaster" Target="/ppt/notesMasters/notesMaster1.xml" Id="Rb6cad48c174b402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80c22340694b35" /><Relationship Type="http://schemas.openxmlformats.org/officeDocument/2006/relationships/notesMaster" Target="/ppt/notesMasters/notesMaster1.xml" Id="R7c5196ef445f46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d99503efd642fc" /><Relationship Type="http://schemas.openxmlformats.org/officeDocument/2006/relationships/notesMaster" Target="/ppt/notesMasters/notesMaster1.xml" Id="R3a8e6b0e6ae54d6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633eef2ed14bd6" /><Relationship Type="http://schemas.openxmlformats.org/officeDocument/2006/relationships/notesMaster" Target="/ppt/notesMasters/notesMaster1.xml" Id="R56ede0b7811944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cb8ee0b97e4575" /><Relationship Type="http://schemas.openxmlformats.org/officeDocument/2006/relationships/notesMaster" Target="/ppt/notesMasters/notesMaster1.xml" Id="Rffe2a09b57644c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030516a5174d41" /><Relationship Type="http://schemas.openxmlformats.org/officeDocument/2006/relationships/notesMaster" Target="/ppt/notesMasters/notesMaster1.xml" Id="R56366cf66c0b42b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eeefd3f9cc74d7f" /><Relationship Type="http://schemas.openxmlformats.org/officeDocument/2006/relationships/notesMaster" Target="/ppt/notesMasters/notesMaster1.xml" Id="Rba5ec4eb4d0e4f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4f6b07667b4828" /><Relationship Type="http://schemas.openxmlformats.org/officeDocument/2006/relationships/notesMaster" Target="/ppt/notesMasters/notesMaster1.xml" Id="Rad8613e807494b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e976ae493a4eb6" /><Relationship Type="http://schemas.openxmlformats.org/officeDocument/2006/relationships/notesMaster" Target="/ppt/notesMasters/notesMaster1.xml" Id="R1d332246347c4a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f16da11fdb4df6" /><Relationship Type="http://schemas.openxmlformats.org/officeDocument/2006/relationships/notesMaster" Target="/ppt/notesMasters/notesMaster1.xml" Id="Ra78adf02b2bf407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9b8c070bf34c0e" /><Relationship Type="http://schemas.openxmlformats.org/officeDocument/2006/relationships/notesMaster" Target="/ppt/notesMasters/notesMaster1.xml" Id="Rc3a030aaba4049f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aa427bf6074c6f" /><Relationship Type="http://schemas.openxmlformats.org/officeDocument/2006/relationships/notesMaster" Target="/ppt/notesMasters/notesMaster1.xml" Id="R19c5f11f234f455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a67144f2f8a48e2" /><Relationship Type="http://schemas.openxmlformats.org/officeDocument/2006/relationships/notesMaster" Target="/ppt/notesMasters/notesMaster1.xml" Id="R545674b0832c464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1a7ffc5cf14a30" /><Relationship Type="http://schemas.openxmlformats.org/officeDocument/2006/relationships/notesMaster" Target="/ppt/notesMasters/notesMaster1.xml" Id="Rfa7a43a7ce2549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69b621181644420" /><Relationship Type="http://schemas.openxmlformats.org/officeDocument/2006/relationships/notesMaster" Target="/ppt/notesMasters/notesMaster1.xml" Id="R4259fba47eab4a5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4d76133274947b4" /><Relationship Type="http://schemas.openxmlformats.org/officeDocument/2006/relationships/notesMaster" Target="/ppt/notesMasters/notesMaster1.xml" Id="R682c7b1c5ee3436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05334c4bc2f4c6a" /><Relationship Type="http://schemas.openxmlformats.org/officeDocument/2006/relationships/notesMaster" Target="/ppt/notesMasters/notesMaster1.xml" Id="Rd84aa6b1309448d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add67f8651341d7" /><Relationship Type="http://schemas.openxmlformats.org/officeDocument/2006/relationships/notesMaster" Target="/ppt/notesMasters/notesMaster1.xml" Id="R90b7ff1a504b4c8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ba56eca3c4f41e9" /><Relationship Type="http://schemas.openxmlformats.org/officeDocument/2006/relationships/notesMaster" Target="/ppt/notesMasters/notesMaster1.xml" Id="R30fed40a8ceb41f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4cc30482b694762" /><Relationship Type="http://schemas.openxmlformats.org/officeDocument/2006/relationships/notesMaster" Target="/ppt/notesMasters/notesMaster1.xml" Id="R9704c4e7474d4c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cd837c8a76c41e1" /><Relationship Type="http://schemas.openxmlformats.org/officeDocument/2006/relationships/notesMaster" Target="/ppt/notesMasters/notesMaster1.xml" Id="R071948c2af514bd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11a2097d2cd41d1" /><Relationship Type="http://schemas.openxmlformats.org/officeDocument/2006/relationships/notesMaster" Target="/ppt/notesMasters/notesMaster1.xml" Id="R7733d5e7de964f7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ae8724379c4412b" /><Relationship Type="http://schemas.openxmlformats.org/officeDocument/2006/relationships/notesMaster" Target="/ppt/notesMasters/notesMaster1.xml" Id="R97cdd497bb48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食材管理 v4</a:t>
            </a:r>
          </a:p>
          <a:p xmlns:a="http://schemas.openxmlformats.org/drawingml/2006/main">
            <a:r>
              <a:t>从零配置，到出餐扣减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这次要完成什么？</a:t>
            </a:r>
          </a:p>
          <a:p xmlns:a="http://schemas.openxmlformats.org/drawingml/2006/main">
            <a:r>
              <a:t>截图来自当前 v4 页面，使用演示数据。日期、价格、保质期与出成率均为教学示例；实际按本店标准填写。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先确认门店和员工身份</a:t>
            </a:r>
          </a:p>
          <a:p xmlns:a="http://schemas.openxmlformats.org/drawingml/2006/main">
            <a:r>
              <a:t>沿用已有员工认证。实际可操作范围由门店员工权限与店长权限共同决定；不要共享他人的登录身份。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从“更多”开始初始化</a:t>
            </a:r>
          </a:p>
          <a:p xmlns:a="http://schemas.openxmlformats.org/drawingml/2006/main">
            <a:r>
              <a:t>先建档，后入库；先得到出品态，后出餐。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 新增一级区域：吧台</a:t>
            </a:r>
          </a:p>
          <a:p xmlns:a="http://schemas.openxmlformats.org/drawingml/2006/main">
            <a:r>
              <a:t>保存后，应在区域树中看到“吧台”。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 新增二级区域：冷藏柜</a:t>
            </a:r>
          </a:p>
          <a:p xmlns:a="http://schemas.openxmlformats.org/drawingml/2006/main">
            <a:r>
              <a:t>采购入库要选启用的二级区域。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一级区域可以收起下级区域</a:t>
            </a:r>
          </a:p>
          <a:p xmlns:a="http://schemas.openxmlformats.org/drawingml/2006/main">
            <a:r>
              <a:t>区域最多两级。已有绑定时，应停用并保留历史。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 新增一级分类：乳制品</a:t>
            </a:r>
          </a:p>
          <a:p xmlns:a="http://schemas.openxmlformats.org/drawingml/2006/main">
            <a:r>
              <a:t>入库时先选“乳制品”，再选“鲜奶”。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  二级分类决定默认属性</a:t>
            </a:r>
          </a:p>
          <a:p xmlns:a="http://schemas.openxmlformats.org/drawingml/2006/main">
            <a:r>
              <a:t>2 天与 3 天仅为示例。分类默认属性及食材覆盖遵循当前 v4 后端；保质期应按产品标签与本店标准配置。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  配置未开封的保质期规则</a:t>
            </a:r>
          </a:p>
          <a:p xmlns:a="http://schemas.openxmlformats.org/drawingml/2006/main">
            <a:r>
              <a:t>14 天为演示规则，不能替代商品包装标识。生产日期 2026-10-06 的本例，到期预览为 2026-10-20。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  先建最终能出餐的形态</a:t>
            </a:r>
          </a:p>
          <a:p xmlns:a="http://schemas.openxmlformats.org/drawingml/2006/main">
            <a:r>
              <a:t>当前新建档案页面保存后若列表未及时显示，重新进入进货规格与链路页即可；教程截图重新进入后继续。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  往上游加：独立桶</a:t>
            </a:r>
          </a:p>
          <a:p xmlns:a="http://schemas.openxmlformats.org/drawingml/2006/main">
            <a:r>
              <a:t>分类的开封默认值用于封装开封等流程；链路作业按目标形态的作业后保质字段计算。新加上游时填写 shelfAfterOpDays，服务器写到转换目标形态。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有整箱采购时，再加一层</a:t>
            </a:r>
          </a:p>
          <a:p xmlns:a="http://schemas.openxmlformats.org/drawingml/2006/main">
            <a:r>
              <a:t>每单位基本量始终用基本单位；本例是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  核对形态与作业链路</a:t>
            </a:r>
          </a:p>
          <a:p xmlns:a="http://schemas.openxmlformats.org/drawingml/2006/main">
            <a:r>
              <a:t>本例按桶采购，从“独立桶”这一层入库。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  进货规格指定从哪层入库</a:t>
            </a:r>
          </a:p>
          <a:p xmlns:a="http://schemas.openxmlformats.org/drawingml/2006/main">
            <a:r>
              <a:t>选这个规格后，入库数量的单位就是“桶”。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 入库按一级、二级逐层筛选</a:t>
            </a:r>
          </a:p>
          <a:p xmlns:a="http://schemas.openxmlformats.org/drawingml/2006/main">
            <a:r>
              <a:t>更换分类后，需要重新选食材和规格。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 核对区域、日期与到期预览</a:t>
            </a:r>
          </a:p>
          <a:p xmlns:a="http://schemas.openxmlformats.org/drawingml/2006/main">
            <a:r>
              <a:t>截图使用演示数据，未实际上传或识别照片。包装有明确到期日时按包装填写。预览批号不占号，正式提交时服务器重新生成。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 数量按规格单位填写</a:t>
            </a:r>
          </a:p>
          <a:p xmlns:a="http://schemas.openxmlformats.org/drawingml/2006/main">
            <a:r>
              <a:t>2 桶对应 4000 ml；此时只是草稿，库存还没增加。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 确认入库，才真正增加库存</a:t>
            </a:r>
          </a:p>
          <a:p xmlns:a="http://schemas.openxmlformats.org/drawingml/2006/main">
            <a:r>
              <a:t>当前页面的入库草稿刷新后会消失。已正式入库的批次在 10 分钟窗口内可撤销；存在后续业务时由服务端判断是否允许撤销。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 入库后还不能直接出餐</a:t>
            </a:r>
          </a:p>
          <a:p xmlns:a="http://schemas.openxmlformats.org/drawingml/2006/main">
            <a:r>
              <a:t>“有库存”不等于“有可出餐库存”。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 在作业页找到可作业批次</a:t>
            </a:r>
          </a:p>
          <a:p xmlns:a="http://schemas.openxmlformats.org/drawingml/2006/main">
            <a:r>
              <a:t>建议作业只是提示；点击预览也不会改库存。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  预览并填实际开盖产出</a:t>
            </a:r>
          </a:p>
          <a:p xmlns:a="http://schemas.openxmlformats.org/drawingml/2006/main">
            <a:r>
              <a:t>实际产出不能照抄预测，必须根据现场实测。1 桶 = 2000 ml，98% 仅为本例标准出成率。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  核对作业损耗与到期</a:t>
            </a:r>
          </a:p>
          <a:p xmlns:a="http://schemas.openxmlformats.org/drawingml/2006/main">
            <a:r>
              <a:t>本例开盖时间为 2026-10-06、作业后保质 3 天。耗时 0 小时则立即就绪；有耗时的作业要等就绪，店长才可提前完成。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 库存分成两种形态</a:t>
            </a:r>
          </a:p>
          <a:p xmlns:a="http://schemas.openxmlformats.org/drawingml/2006/main">
            <a:r>
              <a:t>接下来用 1960 ml 配置并出餐。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  新增菜品：热牛奶</a:t>
            </a:r>
          </a:p>
          <a:p xmlns:a="http://schemas.openxmlformats.org/drawingml/2006/main">
            <a:r>
              <a:t>同一菜品的不同规格，分别维护用料。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 配方填每一份的用量</a:t>
            </a:r>
          </a:p>
          <a:p xmlns:a="http://schemas.openxmlformats.org/drawingml/2006/main">
            <a:r>
              <a:t>这里填每杯 200 ml，不填两杯合计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 菜品页会显示可出餐份数</a:t>
            </a:r>
          </a:p>
          <a:p xmlns:a="http://schemas.openxmlformats.org/drawingml/2006/main">
            <a:r>
              <a:t>发布配方只保存配置，不会提前扣库存。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 创建两杯热牛奶的厨房单</a:t>
            </a:r>
          </a:p>
          <a:p xmlns:a="http://schemas.openxmlformats.org/drawingml/2006/main">
            <a:r>
              <a:t>当前 v4 未接入美团自动订单导入。不要按旧教程等待外部平台订单自动出现。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  从待出餐订单开始</a:t>
            </a:r>
          </a:p>
          <a:p xmlns:a="http://schemas.openxmlformats.org/drawingml/2006/main">
            <a:r>
              <a:t>两杯 × 每杯 200 ml = 本单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 确认总用料，再出餐扣减</a:t>
            </a:r>
          </a:p>
          <a:p xmlns:a="http://schemas.openxmlformats.org/drawingml/2006/main">
            <a:r>
              <a:t>“确认出餐并扣减”才真正减少食材库存。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 出餐成功后，核对扣减结果</a:t>
            </a:r>
          </a:p>
          <a:p xmlns:a="http://schemas.openxmlformats.org/drawingml/2006/main">
            <a:r>
              <a:t>成功后不要重新建同一张单再扣一次。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 流水能追溯到具体批次</a:t>
            </a:r>
          </a:p>
          <a:p xmlns:a="http://schemas.openxmlformats.org/drawingml/2006/main">
            <a:r>
              <a:t>本例鲜牛奶合计扣减 400 ml，短缺 0。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  回库存看最后的余额</a:t>
            </a:r>
          </a:p>
          <a:p xmlns:a="http://schemas.openxmlformats.org/drawingml/2006/main">
            <a:r>
              <a:t>1960 − 400 = 1560 ml；这是本次练习的终点。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把这笔业务完整对上</a:t>
            </a:r>
          </a:p>
          <a:p xmlns:a="http://schemas.openxmlformats.org/drawingml/2006/main">
            <a:r>
              <a:t>2000 + 1560 + 400 + 40 = 4000 ml。核对时把未作业、可用、已消耗和损耗一起看。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需要标签时，从批次详情打印</a:t>
            </a:r>
          </a:p>
          <a:p xmlns:a="http://schemas.openxmlformats.org/drawingml/2006/main">
            <a:r>
              <a:t>标签内容随实际批次生成，不能照抄教程批号。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蓝牙打印继续用原来的模块</a:t>
            </a:r>
          </a:p>
          <a:p xmlns:a="http://schemas.openxmlformats.org/drawingml/2006/main">
            <a:r>
              <a:t>复用既有蓝牙打印模块。截图没有真实硬件连接或打印，不能作为打印机真机验收结果。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扩展：半成品要用专属分类</a:t>
            </a:r>
          </a:p>
          <a:p xmlns:a="http://schemas.openxmlformats.org/drawingml/2006/main">
            <a:r>
              <a:t>以下奶冻示例是可选分支，不计入前面的余额核对。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半成品配方按“每批”填写</a:t>
            </a:r>
          </a:p>
          <a:p xmlns:a="http://schemas.openxmlformats.org/drawingml/2006/main">
            <a:r>
              <a:t>仅用于解释数量录入，奶冻配方并非完整食品制作配方。实际配方需要填写所有原料与本店的储存、保质期规则。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半成品确认制作也会改库存</a:t>
            </a:r>
          </a:p>
          <a:p xmlns:a="http://schemas.openxmlformats.org/drawingml/2006/main">
            <a:r>
              <a:t>本教程只预览这条分支，未实际扣掉那 500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扩展：为区域配置检查项</a:t>
            </a:r>
          </a:p>
          <a:p xmlns:a="http://schemas.openxmlformats.org/drawingml/2006/main">
            <a:r>
              <a:t>0～5 为界面示例，不是食品安全法规或通用冷藏建议。实际阈值应按产品及本店制度设置。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开门检查：提交后还需店长确认</a:t>
            </a:r>
          </a:p>
          <a:p xmlns:a="http://schemas.openxmlformats.org/drawingml/2006/main">
            <a:r>
              <a:t>检查可先保存草稿。提交后的原始检查结果保留；店长追加处理与确认不会改写原始填报。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盘点：保存实盘和过账分开</a:t>
            </a:r>
          </a:p>
          <a:p xmlns:a="http://schemas.openxmlformats.org/drawingml/2006/main">
            <a:r>
              <a:t>这里只演示填写，未过账；主线余额仍是 1560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看板和 Excel 用于检查链路</a:t>
            </a:r>
          </a:p>
          <a:p xmlns:a="http://schemas.openxmlformats.org/drawingml/2006/main">
            <a:r>
              <a:t>此导出是配方与采购作业链路，不是全部库存流水。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卡住时，按现象排查</a:t>
            </a:r>
          </a:p>
          <a:p xmlns:a="http://schemas.openxmlformats.org/drawingml/2006/main">
            <a:r>
              <a:t>维护按钮缺失先核对员工角色与当前门店。入库、作业和出餐成功后，分别查看批次、作业记录和扣减流水。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每天按这张清单操作</a:t>
            </a:r>
          </a:p>
          <a:p xmlns:a="http://schemas.openxmlformats.org/drawingml/2006/main">
            <a:r>
              <a:t>练习终点：剩余 1560 ml；出餐流水扣减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7885facd144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509208e9649ef" /><Relationship Type="http://schemas.openxmlformats.org/officeDocument/2006/relationships/slideLayout" Target="/ppt/slideLayouts/slideLayout1.xml" Id="Re5a15ab07184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a15ab07184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e85b2d52142f4" /><Relationship Type="http://schemas.openxmlformats.org/officeDocument/2006/relationships/image" Target="/ppt/media/image.png" Id="Rdf3303a646044d30" /><Relationship Type="http://schemas.openxmlformats.org/officeDocument/2006/relationships/notesSlide" Target="/ppt/notesSlides/notesSlide1.xml" Id="Rac067fa6f6cf42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a91c31f8e4b7c" /><Relationship Type="http://schemas.openxmlformats.org/officeDocument/2006/relationships/notesSlide" Target="/ppt/notesSlides/notesSlide2.xml" Id="R1a2e606d4932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a2c8088dd45fa" /><Relationship Type="http://schemas.openxmlformats.org/officeDocument/2006/relationships/image" Target="/ppt/media/image2.png" Id="Rc3a0ca3abc544644" /><Relationship Type="http://schemas.openxmlformats.org/officeDocument/2006/relationships/notesSlide" Target="/ppt/notesSlides/notesSlide3.xml" Id="Rf3f3ab7938c3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211d938f4c41" /><Relationship Type="http://schemas.openxmlformats.org/officeDocument/2006/relationships/image" Target="/ppt/media/image3.png" Id="Ra99e66fabf434f7e" /><Relationship Type="http://schemas.openxmlformats.org/officeDocument/2006/relationships/notesSlide" Target="/ppt/notesSlides/notesSlide4.xml" Id="R55ab0dfd45974a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bc74d171447e2" /><Relationship Type="http://schemas.openxmlformats.org/officeDocument/2006/relationships/image" Target="/ppt/media/image4.png" Id="R08e85454bb4e4945" /><Relationship Type="http://schemas.openxmlformats.org/officeDocument/2006/relationships/notesSlide" Target="/ppt/notesSlides/notesSlide5.xml" Id="Rbdfc8fd5815c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9f4db3d14f55" /><Relationship Type="http://schemas.openxmlformats.org/officeDocument/2006/relationships/image" Target="/ppt/media/image5.png" Id="R1fc2c1bc609c4c35" /><Relationship Type="http://schemas.openxmlformats.org/officeDocument/2006/relationships/notesSlide" Target="/ppt/notesSlides/notesSlide6.xml" Id="R61b67b829511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5a0f0d8d4473" /><Relationship Type="http://schemas.openxmlformats.org/officeDocument/2006/relationships/image" Target="/ppt/media/image6.png" Id="R535ab5eab9c4483d" /><Relationship Type="http://schemas.openxmlformats.org/officeDocument/2006/relationships/notesSlide" Target="/ppt/notesSlides/notesSlide7.xml" Id="Rdec98064d76340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c06e9a3924177" /><Relationship Type="http://schemas.openxmlformats.org/officeDocument/2006/relationships/image" Target="/ppt/media/image7.png" Id="R741b59212d284e5a" /><Relationship Type="http://schemas.openxmlformats.org/officeDocument/2006/relationships/notesSlide" Target="/ppt/notesSlides/notesSlide8.xml" Id="R5a049c19f1bd4e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86260e6484d57" /><Relationship Type="http://schemas.openxmlformats.org/officeDocument/2006/relationships/image" Target="/ppt/media/image8.png" Id="Rdad0c4e33df14ec5" /><Relationship Type="http://schemas.openxmlformats.org/officeDocument/2006/relationships/notesSlide" Target="/ppt/notesSlides/notesSlide9.xml" Id="R130f1ef86f58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03ead2d634f6d" /><Relationship Type="http://schemas.openxmlformats.org/officeDocument/2006/relationships/image" Target="/ppt/media/image9.png" Id="R58fa3e1b29044e39" /><Relationship Type="http://schemas.openxmlformats.org/officeDocument/2006/relationships/notesSlide" Target="/ppt/notesSlides/notesSlide10.xml" Id="Ra55ddc837beb44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a796a6e9a4a7e" /><Relationship Type="http://schemas.openxmlformats.org/officeDocument/2006/relationships/image" Target="/ppt/media/image10.png" Id="R6aa00ad195fb41bb" /><Relationship Type="http://schemas.openxmlformats.org/officeDocument/2006/relationships/notesSlide" Target="/ppt/notesSlides/notesSlide11.xml" Id="R323ab9fd85c34a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81391e1ce4637" /><Relationship Type="http://schemas.openxmlformats.org/officeDocument/2006/relationships/image" Target="/ppt/media/image11.png" Id="R30fc49cf64db4307" /><Relationship Type="http://schemas.openxmlformats.org/officeDocument/2006/relationships/notesSlide" Target="/ppt/notesSlides/notesSlide12.xml" Id="R97563905622f41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896c1d26043fc" /><Relationship Type="http://schemas.openxmlformats.org/officeDocument/2006/relationships/image" Target="/ppt/media/image12.png" Id="R8cd9d0dd90014a03" /><Relationship Type="http://schemas.openxmlformats.org/officeDocument/2006/relationships/notesSlide" Target="/ppt/notesSlides/notesSlide13.xml" Id="R39071d14430c4a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7bb34307a4892" /><Relationship Type="http://schemas.openxmlformats.org/officeDocument/2006/relationships/image" Target="/ppt/media/image13.png" Id="R00286f15872a4947" /><Relationship Type="http://schemas.openxmlformats.org/officeDocument/2006/relationships/notesSlide" Target="/ppt/notesSlides/notesSlide14.xml" Id="R8fbb226c71724b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ce51f8ff4a2f" /><Relationship Type="http://schemas.openxmlformats.org/officeDocument/2006/relationships/image" Target="/ppt/media/image14.png" Id="R31dedec6c9324c3f" /><Relationship Type="http://schemas.openxmlformats.org/officeDocument/2006/relationships/notesSlide" Target="/ppt/notesSlides/notesSlide15.xml" Id="Rd8aa2366997143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bad27fef64a3a" /><Relationship Type="http://schemas.openxmlformats.org/officeDocument/2006/relationships/image" Target="/ppt/media/image15.png" Id="R14579f9fd4be4d37" /><Relationship Type="http://schemas.openxmlformats.org/officeDocument/2006/relationships/notesSlide" Target="/ppt/notesSlides/notesSlide16.xml" Id="Rb11ceb621c3e42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2d400b7a1437e" /><Relationship Type="http://schemas.openxmlformats.org/officeDocument/2006/relationships/image" Target="/ppt/media/image16.png" Id="Rdf3fd63765864214" /><Relationship Type="http://schemas.openxmlformats.org/officeDocument/2006/relationships/notesSlide" Target="/ppt/notesSlides/notesSlide17.xml" Id="R74c725dd00334c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611a068a04ca8" /><Relationship Type="http://schemas.openxmlformats.org/officeDocument/2006/relationships/image" Target="/ppt/media/image17.png" Id="R06ee8cac40004331" /><Relationship Type="http://schemas.openxmlformats.org/officeDocument/2006/relationships/notesSlide" Target="/ppt/notesSlides/notesSlide18.xml" Id="R75cec2ef07054e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d0bf2a824558" /><Relationship Type="http://schemas.openxmlformats.org/officeDocument/2006/relationships/image" Target="/ppt/media/image18.png" Id="R1c4ea9b9d9854202" /><Relationship Type="http://schemas.openxmlformats.org/officeDocument/2006/relationships/notesSlide" Target="/ppt/notesSlides/notesSlide19.xml" Id="Rfca99a735a904b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e9d3907d410c" /><Relationship Type="http://schemas.openxmlformats.org/officeDocument/2006/relationships/image" Target="/ppt/media/image19.png" Id="Rb411a210537a469f" /><Relationship Type="http://schemas.openxmlformats.org/officeDocument/2006/relationships/notesSlide" Target="/ppt/notesSlides/notesSlide20.xml" Id="R64a6a9d1cc6840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e5990fbc9463d" /><Relationship Type="http://schemas.openxmlformats.org/officeDocument/2006/relationships/image" Target="/ppt/media/image20.png" Id="Rfd4b90846bcd4169" /><Relationship Type="http://schemas.openxmlformats.org/officeDocument/2006/relationships/notesSlide" Target="/ppt/notesSlides/notesSlide21.xml" Id="R0ccd0caab07a4a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582fd6a54c90" /><Relationship Type="http://schemas.openxmlformats.org/officeDocument/2006/relationships/image" Target="/ppt/media/image21.png" Id="Rd1dab924bed247ff" /><Relationship Type="http://schemas.openxmlformats.org/officeDocument/2006/relationships/notesSlide" Target="/ppt/notesSlides/notesSlide22.xml" Id="R9b3e0d34328f49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380d966f34b62" /><Relationship Type="http://schemas.openxmlformats.org/officeDocument/2006/relationships/image" Target="/ppt/media/image22.png" Id="R955fe28884544347" /><Relationship Type="http://schemas.openxmlformats.org/officeDocument/2006/relationships/notesSlide" Target="/ppt/notesSlides/notesSlide23.xml" Id="R1a5731916dac49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148883488457f" /><Relationship Type="http://schemas.openxmlformats.org/officeDocument/2006/relationships/image" Target="/ppt/media/image23.png" Id="Rf207c79b6e204ccc" /><Relationship Type="http://schemas.openxmlformats.org/officeDocument/2006/relationships/notesSlide" Target="/ppt/notesSlides/notesSlide24.xml" Id="Ra1408038aba745e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4fa17097c47d9" /><Relationship Type="http://schemas.openxmlformats.org/officeDocument/2006/relationships/image" Target="/ppt/media/image24.png" Id="R4b52ca1e26454e2c" /><Relationship Type="http://schemas.openxmlformats.org/officeDocument/2006/relationships/notesSlide" Target="/ppt/notesSlides/notesSlide25.xml" Id="R555b8389dc8e46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0ef974e0845c5" /><Relationship Type="http://schemas.openxmlformats.org/officeDocument/2006/relationships/image" Target="/ppt/media/image25.png" Id="Rda1fb5786ccf4954" /><Relationship Type="http://schemas.openxmlformats.org/officeDocument/2006/relationships/notesSlide" Target="/ppt/notesSlides/notesSlide26.xml" Id="R9159e6cc38064b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8a9417b3b4ff3" /><Relationship Type="http://schemas.openxmlformats.org/officeDocument/2006/relationships/image" Target="/ppt/media/image26.png" Id="Reec92dacaa224ed6" /><Relationship Type="http://schemas.openxmlformats.org/officeDocument/2006/relationships/notesSlide" Target="/ppt/notesSlides/notesSlide27.xml" Id="R89ae0382d41440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6798d53c441d6" /><Relationship Type="http://schemas.openxmlformats.org/officeDocument/2006/relationships/image" Target="/ppt/media/image27.png" Id="R2fb29d7aefc94bb9" /><Relationship Type="http://schemas.openxmlformats.org/officeDocument/2006/relationships/notesSlide" Target="/ppt/notesSlides/notesSlide28.xml" Id="Rcc36a6b544fe46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29abd74da46b1" /><Relationship Type="http://schemas.openxmlformats.org/officeDocument/2006/relationships/image" Target="/ppt/media/image28.png" Id="Rd756c00310d54eea" /><Relationship Type="http://schemas.openxmlformats.org/officeDocument/2006/relationships/notesSlide" Target="/ppt/notesSlides/notesSlide29.xml" Id="R440d0641571145e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8c91765b94374" /><Relationship Type="http://schemas.openxmlformats.org/officeDocument/2006/relationships/image" Target="/ppt/media/image29.png" Id="R8ece631971ee48da" /><Relationship Type="http://schemas.openxmlformats.org/officeDocument/2006/relationships/notesSlide" Target="/ppt/notesSlides/notesSlide30.xml" Id="Rb4025569a24b423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ffa8aaab746f7" /><Relationship Type="http://schemas.openxmlformats.org/officeDocument/2006/relationships/image" Target="/ppt/media/image30.png" Id="R757b901a5ba84bb8" /><Relationship Type="http://schemas.openxmlformats.org/officeDocument/2006/relationships/notesSlide" Target="/ppt/notesSlides/notesSlide31.xml" Id="Raba617a794bf4f8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411d94d04d9e" /><Relationship Type="http://schemas.openxmlformats.org/officeDocument/2006/relationships/image" Target="/ppt/media/image31.png" Id="R1b79512a55af4f98" /><Relationship Type="http://schemas.openxmlformats.org/officeDocument/2006/relationships/notesSlide" Target="/ppt/notesSlides/notesSlide32.xml" Id="Rd4b93c894f4b4e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19bd9ac0d4bfe" /><Relationship Type="http://schemas.openxmlformats.org/officeDocument/2006/relationships/image" Target="/ppt/media/image32.png" Id="R1d02fdb69a304ec9" /><Relationship Type="http://schemas.openxmlformats.org/officeDocument/2006/relationships/notesSlide" Target="/ppt/notesSlides/notesSlide33.xml" Id="Ra60434e6cc8244d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13ac0751e4299" /><Relationship Type="http://schemas.openxmlformats.org/officeDocument/2006/relationships/notesSlide" Target="/ppt/notesSlides/notesSlide34.xml" Id="Re59799bf5b4c4e3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c7d3fd2b5426b" /><Relationship Type="http://schemas.openxmlformats.org/officeDocument/2006/relationships/image" Target="/ppt/media/image33.png" Id="R0c4021fb25274c2b" /><Relationship Type="http://schemas.openxmlformats.org/officeDocument/2006/relationships/notesSlide" Target="/ppt/notesSlides/notesSlide35.xml" Id="R4069f0d5e7b645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8b381946346bd" /><Relationship Type="http://schemas.openxmlformats.org/officeDocument/2006/relationships/image" Target="/ppt/media/image34.png" Id="Rf7d0f83d92944171" /><Relationship Type="http://schemas.openxmlformats.org/officeDocument/2006/relationships/notesSlide" Target="/ppt/notesSlides/notesSlide36.xml" Id="Rf344944e1b6a479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0618216f844c6" /><Relationship Type="http://schemas.openxmlformats.org/officeDocument/2006/relationships/image" Target="/ppt/media/image35.png" Id="Rbdd678665f9c464f" /><Relationship Type="http://schemas.openxmlformats.org/officeDocument/2006/relationships/notesSlide" Target="/ppt/notesSlides/notesSlide37.xml" Id="R5c8be410f0e641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2195877342fa" /><Relationship Type="http://schemas.openxmlformats.org/officeDocument/2006/relationships/image" Target="/ppt/media/image36.png" Id="Rd36633f99501445e" /><Relationship Type="http://schemas.openxmlformats.org/officeDocument/2006/relationships/notesSlide" Target="/ppt/notesSlides/notesSlide38.xml" Id="R0bb5b5ed1fc740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2f0021464712" /><Relationship Type="http://schemas.openxmlformats.org/officeDocument/2006/relationships/image" Target="/ppt/media/image37.png" Id="Re5dea04efd59411b" /><Relationship Type="http://schemas.openxmlformats.org/officeDocument/2006/relationships/notesSlide" Target="/ppt/notesSlides/notesSlide39.xml" Id="R7b16447423ae4d8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027d2247483b" /><Relationship Type="http://schemas.openxmlformats.org/officeDocument/2006/relationships/image" Target="/ppt/media/image38.png" Id="R45b1038662d249d9" /><Relationship Type="http://schemas.openxmlformats.org/officeDocument/2006/relationships/notesSlide" Target="/ppt/notesSlides/notesSlide40.xml" Id="Ra44e5b5da71347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d4a904114ff4" /><Relationship Type="http://schemas.openxmlformats.org/officeDocument/2006/relationships/image" Target="/ppt/media/image39.png" Id="R3b524e963d794d88" /><Relationship Type="http://schemas.openxmlformats.org/officeDocument/2006/relationships/notesSlide" Target="/ppt/notesSlides/notesSlide41.xml" Id="R160947f364b1455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f803b1934d5e" /><Relationship Type="http://schemas.openxmlformats.org/officeDocument/2006/relationships/image" Target="/ppt/media/image40.png" Id="R39f8394d892249c0" /><Relationship Type="http://schemas.openxmlformats.org/officeDocument/2006/relationships/notesSlide" Target="/ppt/notesSlides/notesSlide42.xml" Id="R343c75907a984cb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4344b2d0b41f3" /><Relationship Type="http://schemas.openxmlformats.org/officeDocument/2006/relationships/image" Target="/ppt/media/image41.png" Id="R0363f089242a4ca0" /><Relationship Type="http://schemas.openxmlformats.org/officeDocument/2006/relationships/notesSlide" Target="/ppt/notesSlides/notesSlide43.xml" Id="Rb2f6028aad864fa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6dd98fe4d4b9f" /><Relationship Type="http://schemas.openxmlformats.org/officeDocument/2006/relationships/notesSlide" Target="/ppt/notesSlides/notesSlide44.xml" Id="R9edf9e1a1f124a7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75a626c247a2" /><Relationship Type="http://schemas.openxmlformats.org/officeDocument/2006/relationships/image" Target="/ppt/media/image42.png" Id="R2598674750c44867" /><Relationship Type="http://schemas.openxmlformats.org/officeDocument/2006/relationships/notesSlide" Target="/ppt/notesSlides/notesSlide45.xml" Id="Rdacf687f478447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C0E1B-2B54-40CF-8B2C-9A313315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食材管理 v4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12C39-0B05-4CF7-8906-AEEF9D3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76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从零配置，到出餐扣减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03D6C-1C20-4E9D-A05E-D19699E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跟着当前界面，完整做完一笔业务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BB7A3-FBB6-4957-899F-EA0AA3B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鲜牛奶 → 开盖 → 热牛奶 → 扣减库存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F076-935B-4FB8-936C-971F56B4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当前界面带图操作教程 · 2026-10-06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303a646044d30"/>
          <a:stretch xmlns:a="http://schemas.openxmlformats.org/drawingml/2006/main"/>
        </p:blipFill>
        <p:spPr>
          <a:xfrm xmlns:a="http://schemas.openxmlformats.org/drawingml/2006/main">
            <a:off x="8248756" y="685800"/>
            <a:ext cx="2666788" cy="558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6BCE1-4AF1-4C9A-9290-CEC7B9E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1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7732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D4E6E-D658-4B80-B00E-B98F8A8B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这次要完成什么？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C72BD-F844-4FCF-AAE9-180E3A9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一个完整示例，先看清目标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62500"/>
                <a:gridCol w="4114800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本教程的示例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完成后核对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存储区域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吧台 / 冷藏柜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启用的二级区域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分类与链路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乳制品 / 鲜奶；桶 →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桶 = 2000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采购入库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桶鲜牛奶，总金额 40 元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中间态 4000 ml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开盖作业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 1 桶，实际产出 1960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出品态可用 1960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菜品与出餐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热牛奶，每杯 200 ml；出 2 杯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扣减 400 ml，剩余 1560 ml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AE0DC-82C2-46DA-98DD-1D3036B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截图来自当前 v4 页面，使用演示数据。日期、价格、保质期与出成率均为教学示例；实际按本店标准填写。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69B34-D137-47AA-885A-77D70B82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471714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7615A-EFB9-4AD5-B3CA-2A83A9A8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先确认门店和员工身份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0278C-083B-4B8F-A693-DE37805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企业微信 → 食材管理 → 右上角身份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F858A-0BFF-4C9F-A3D3-59D2892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AF628-6B52-4AEC-AC2A-9C82BD8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从企业微信应用进入，确认当前门店和姓名。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03B97-CAC5-4E04-BC69-59B87BC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39053-7F02-450D-AE43-9E218DC1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本教程先用店长完成基础配置；日常入库、作业和出餐由有权限的员工操作。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AEBD9-D485-458F-9823-FDFC945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958A-63F3-4DEA-98DC-FE5C92FA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看不到维护按钮时，先核对员工身份与门店权限。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87C78-03C0-4D28-9ECB-1DBEA81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首页：mini.snowmeet.top/fnb/v4/index.html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ca3abc544644"/>
          <a:stretch xmlns:a="http://schemas.openxmlformats.org/drawingml/2006/main"/>
        </p:blipFill>
        <p:spPr>
          <a:xfrm xmlns:a="http://schemas.openxmlformats.org/drawingml/2006/main">
            <a:off x="7600950" y="3049994"/>
            <a:ext cx="3981450" cy="152001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ECC1A-06C7-4A2F-93B9-12A513B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256624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18639-8EDC-489C-8674-E124715E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从“更多”开始初始化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2753-FACF-46A1-97E3-F75730F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更多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9A58E-E38D-4104-AFC7-FDF3044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F782D-4C98-4565-8F44-EC67F66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先配置：存储区域 → 食材分类 → 进货规格与链路。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7FFCC-F4A0-484D-9EDF-124A290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A876F-1306-4602-BE64-C188620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再配置：菜品配方；需要半成品时再建半成品配方。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30BA-8011-43D8-9B0B-34229C88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FAA0F-273E-4DD3-80BF-0BB0C7F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日常业务在底部导航完成：入库 → 作业 → 出餐。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4B869-4092-4F30-98D9-BD815736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先建档，后入库；先得到出品态，后出餐。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e66fabf434f7e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BF102-7109-4F0C-BBA4-E8CAE22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30307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0C35B-29CB-4986-95BF-5B50D8A4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01  新增一级区域：吧台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B4B6-AA1D-43DA-ABCB-5907C0B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存储区域 → + 新增一级区域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2C03F-4DF8-40CB-AE4C-1568984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39586-B969-4B59-AE83-5C6579F4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区域名称填写“吧台”。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865FB-E560-400A-A20F-2FF3954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E7047-D240-49E0-BAA0-5310C977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区域类型选择“前台”，保留“启用”。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2593-7B18-4B98-9B23-6F97EFF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76E96-ECF2-4332-83B4-E92FB90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点击“保存”。一级区域用于组织下级区域。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27D17-3DB3-44F0-A083-5CE9C54F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保存后，应在区域树中看到“吧台”。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85454bb4e4945"/>
          <a:stretch xmlns:a="http://schemas.openxmlformats.org/drawingml/2006/main"/>
        </p:blipFill>
        <p:spPr>
          <a:xfrm xmlns:a="http://schemas.openxmlformats.org/drawingml/2006/main">
            <a:off x="7600950" y="1706500"/>
            <a:ext cx="3981450" cy="420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6E927-4546-4DE6-AD94-2F69361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4068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C69F5-5CFE-4B1A-BA84-216331E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02  新增二级区域：冷藏柜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E85BC-8174-42E5-A7DC-90E1D84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吧台 → + 下级区域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721BF-4D9E-4864-953B-FE352F9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81F5C-1F5E-4B52-BC17-9A5B23C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在“吧台”下点击“+ 下级区域”。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31718-4211-4315-B2ED-D7C3BC3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7008E-83E1-41AA-A6A8-3513E32B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名称填“冷藏柜”，类型选“冷藏冷冻”，保持启用。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D861C-A7B6-4FD8-9AF2-6D62CB6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CC127-0838-48BB-AC50-6EADB00B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保存后，入库和作业选择“吧台 / 冷藏柜”。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FB22E-DC0A-4BED-987D-33147E5D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采购入库要选启用的二级区域。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2c1bc609c4c35"/>
          <a:stretch xmlns:a="http://schemas.openxmlformats.org/drawingml/2006/main"/>
        </p:blipFill>
        <p:spPr>
          <a:xfrm xmlns:a="http://schemas.openxmlformats.org/drawingml/2006/main">
            <a:off x="7600950" y="1706500"/>
            <a:ext cx="3981450" cy="420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70713-7EA8-4D76-8CD7-89ECEF57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222030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C2CCC-1A61-4F6A-98B9-4D945A03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一级区域可以收起下级区域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C607D-78EB-4BA2-B39F-16A88F0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存储区域 → 一级区域标题旁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90B84-6A7C-4645-AD7A-65FCE17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6342B-18E4-4EAE-9230-AD1FF7ED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点击“收起下级区域（1）”，隐藏冷藏柜。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2B63F-960B-46E1-AF3B-1A23777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8EAE-B154-4BF6-BD2F-715AC4D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点击“展开下级区域（1）”，再次显示冷藏柜。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7FB81-B1A7-41D8-8940-A21D234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76D2B-ADEB-470E-9882-ECD6907E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折叠不会停用区域；照片、检查项仍可维护。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A9AB6-FE0F-4EF5-A8BA-FA4D194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区域最多两级。已有绑定时，应停用并保留历史。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ab5eab9c4483d"/>
          <a:stretch xmlns:a="http://schemas.openxmlformats.org/drawingml/2006/main"/>
        </p:blipFill>
        <p:spPr>
          <a:xfrm xmlns:a="http://schemas.openxmlformats.org/drawingml/2006/main">
            <a:off x="7600950" y="1849286"/>
            <a:ext cx="3981450" cy="392142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6E30F-1DE7-4E34-9E4A-B4E4160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7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3236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AC201-36A0-4CB9-8DBF-1EF67A4F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03  新增一级分类：乳制品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B9A21-90B6-4EF7-AC31-712BCFD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 → + 新增一级分类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6F989-2346-428C-9728-A4D5D02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3D2F1-D990-4DB8-9F4A-49E63ED5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名称填写“乳制品”，保留启用。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1BCB0-3F1F-4EB2-A618-5176E15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1F6B5-272A-4CD1-8B85-6C82DF0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点击“保存”。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8AC2D-03A0-4026-BA63-F700FFB8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7113A-2D70-49F3-BA34-218118C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一级分类用于筛选所属二级分类。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DE687-8105-4706-9D3C-09CA3263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入库时先选“乳制品”，再选“鲜奶”。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b59212d284e5a"/>
          <a:stretch xmlns:a="http://schemas.openxmlformats.org/drawingml/2006/main"/>
        </p:blipFill>
        <p:spPr>
          <a:xfrm xmlns:a="http://schemas.openxmlformats.org/drawingml/2006/main">
            <a:off x="7600950" y="2280182"/>
            <a:ext cx="3981450" cy="30596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D238-9229-4354-ADF1-F2FFF78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8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97842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8F08A-076C-45F5-BC32-128F7F6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04  二级分类决定默认属性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2457C-4698-4D44-9218-90FB75E0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乳制品 → + 新增二级分类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21185-EAAB-47C3-8C14-E6A035E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A7D33-20EB-4D3E-BE32-6B0F7D2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名称“鲜奶”，批次号编码“MLK”。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23BE-2193-4336-A323-F66BECE4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A402C-34DD-42B2-8490-DC4CE655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计量选“按体积”，建议储存方式选“冷藏”。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1AC8A-1AA6-4E60-BB37-5D5F98A7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FB411-12E9-4B5A-8780-22EF9E7F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临期提醒填 2 天；开封 / 作业后保质填 3 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D846D-D7E7-4648-BB92-2B71B0D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3755C-6DFF-4CB3-A1AA-B413603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本例不勾选“半成品分类”，启用后保存。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AEE86-C31F-4CA9-B39D-6CF2E5D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按体积的基本单位是 ml。食材还可单独覆盖属性。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0c4e33df14ec5"/>
          <a:stretch xmlns:a="http://schemas.openxmlformats.org/drawingml/2006/main"/>
        </p:blipFill>
        <p:spPr>
          <a:xfrm xmlns:a="http://schemas.openxmlformats.org/drawingml/2006/main">
            <a:off x="8132935" y="1476375"/>
            <a:ext cx="2917480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E6671-BEF8-4EA6-B6EC-CF16103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9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20821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5B3FE-D60F-4A48-917E-02C7D0B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05  配置未开封的保质期规则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D4209-FAA3-466B-88EF-339BBFA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鲜奶 → 保质期规则 → + 新增规则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9AB1A-1614-40AF-BC7D-B9AC743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D0AAE-39F5-4B57-A387-243E8CC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储存方式选择“冷藏”。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38CC5-1A8A-4C8E-B5E2-311D8E58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CBF24-0EF5-4212-8A58-E9BFA9A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生产月份分档选“全年”；保质天数填 14，启用后保存。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676E3-FFF6-403E-9E87-A076A77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146F1-920C-4AE3-A522-E92E3A9B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同一食材有例外时，可在食材链路页单独维护规则。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E187-50FC-472A-83E2-8910B8AE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没有包装到期日时，服务器用生产日期和规则推算。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a3e1b29044e39"/>
          <a:stretch xmlns:a="http://schemas.openxmlformats.org/drawingml/2006/main"/>
        </p:blipFill>
        <p:spPr>
          <a:xfrm xmlns:a="http://schemas.openxmlformats.org/drawingml/2006/main">
            <a:off x="7600950" y="1912437"/>
            <a:ext cx="3981450" cy="379512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4A00F-3507-455D-BCF5-71EA15A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10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4106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58EF7-A395-48F6-8343-173B7E3D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06  先建最终能出餐的形态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986F-142D-4241-B452-99999473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进货规格与链路 → + 新建食材档案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AC33-18D1-4602-AB7C-4C74148F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E7800-66CF-4FEA-A26B-3D9FBAC2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食材名称填“鲜牛奶”，二级分类选“鲜奶”。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903F-091A-4E2A-AF81-A9F20AA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AB59E-3701-46EE-80D1-3C751290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出品态名称填“液体鲜奶”，基本单位选“毫升”。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EE10-34AD-47DB-ABFD-EE0E6474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755E2-9627-4865-ABC7-2CB0753D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储存选“跟随分类建议”，编码用 F，点击“创建食材”。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98AE0-4697-4404-BA3D-63A158D8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配方和出餐只使用出品态可用量。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00ad195fb41bb"/>
          <a:stretch xmlns:a="http://schemas.openxmlformats.org/drawingml/2006/main"/>
        </p:blipFill>
        <p:spPr>
          <a:xfrm xmlns:a="http://schemas.openxmlformats.org/drawingml/2006/main">
            <a:off x="8019141" y="1476375"/>
            <a:ext cx="314506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B47C2-68FD-4A53-A558-D2987304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11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63548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B1B5D-880C-4D72-BF8D-0A78580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07  往上游加：独立桶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A799A-918A-43AA-94FA-586EBAE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鲜牛奶链路 → + 在上游加一个形态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4AB20-981C-4598-8CFB-FFB4DBD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EBE45-2DEB-430C-9C8E-265535E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形态名“独立桶”，单位“桶”，编码 TUB。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6C78C-8708-4B4D-94E9-6039A3D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40840-AE9C-420F-86A9-E31BA4C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每单位基本量填 2000，代表 1 桶内含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47E59-C132-4020-965A-8CD8C25E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82F66-BCD3-4F20-BD5E-547F49CB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作业名“开盖”，标准出成率 98%，耗时 0 小时。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C6071-0907-454D-ADE1-70790FF3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0A5BD-083A-4A1A-B225-58CE98FD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储存冷藏；“作业后保质”填 3 天，点击“加入链路”。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FBFB-C9E4-4AAC-B6EA-4433325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这次开盖的 3 天保质，必须在链路作业里填写。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c49cf64db4307"/>
          <a:stretch xmlns:a="http://schemas.openxmlformats.org/drawingml/2006/main"/>
        </p:blipFill>
        <p:spPr>
          <a:xfrm xmlns:a="http://schemas.openxmlformats.org/drawingml/2006/main">
            <a:off x="8335940" y="1476375"/>
            <a:ext cx="2511469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1F23F-5622-4EC3-887D-1C37E30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12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017574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06D52-95CC-4331-AC38-C47DD74C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有整箱采购时，再加一层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4D56-422E-4C7B-9FD1-1375398F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链路 → + 在上游加一个形态（可选）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2C8C7-E535-4D86-9FEE-D447743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5B103-2B56-4E1C-8559-1264A582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形态名“整箱”，单位“箱”，编码 BOX。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D2BB1-8E8C-4441-8A6C-E6B19D2E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3C44E-962F-4261-AC40-DE000003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每单位基本量填 12000，而不是填 6。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16AC9-B8EB-4C0D-9861-5D14B28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317B-C807-4A19-8900-C0C9282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下游作业“拆箱”，出成率 100%，耗时 0 小时。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75704-94A8-4724-A70C-D56DB5B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A97FE-D977-4100-99DE-CEC1162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保存后，系统显示 1 箱 = 6 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CD81-A96A-4429-8F31-7CD704A0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每单位基本量始终用基本单位；本例是 ml。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9d0dd90014a03"/>
          <a:stretch xmlns:a="http://schemas.openxmlformats.org/drawingml/2006/main"/>
        </p:blipFill>
        <p:spPr>
          <a:xfrm xmlns:a="http://schemas.openxmlformats.org/drawingml/2006/main">
            <a:off x="8335940" y="1476375"/>
            <a:ext cx="2511469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903F4-130D-4CAD-8A71-6250882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13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520182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2184D-96EE-4E7A-9787-D21A39EA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08  核对形态与作业链路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A10D2-A199-4AB9-8196-3069EE1D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进货规格与链路 → 鲜牛奶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6B83E-3CC9-4457-99E1-BAAAD06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9362E-74EE-4C1C-85E5-79E1F41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整箱：1 箱含 12000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8F705-BCD1-4288-9B9F-5783168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81868-F0D0-493C-8116-78BDB3D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拆箱后：6 桶，每桶含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21DE6-4085-46B8-A150-C9980E6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094D3-D685-4DD3-911E-88B9237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开盖后：液体鲜奶；标准出成率 98%。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0886B-78E5-439E-8702-C5E1438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本例按桶采购，从“独立桶”这一层入库。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86f15872a4947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2C21F-31E1-47DD-AB84-8F55486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14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19419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AB4EB-948F-4B55-BDAE-D14D8DBE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09  进货规格指定从哪层入库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1C22E-26A1-4293-ADF0-91DF83A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鲜牛奶 → + 新增进货规格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5237-CF3E-494E-902C-0470FC1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3E046-2589-4803-B3A4-362D8F3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规格名“单桶 2 L”，包装描述“2 L / 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6EB13-70A8-4889-86A0-09C5A5E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58F00-E49C-435B-ACAE-E5D37CE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入库形态选择“独立桶”。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8517D-A618-4646-A8AB-1D20275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8E064-9962-41DE-A564-462592CA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条码可填实际包装条码；本例留空，启用后保存。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72082-913D-429C-B2AC-DBE26D8D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选这个规格后，入库数量的单位就是“桶”。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edec6c9324c3f"/>
          <a:stretch xmlns:a="http://schemas.openxmlformats.org/drawingml/2006/main"/>
        </p:blipFill>
        <p:spPr>
          <a:xfrm xmlns:a="http://schemas.openxmlformats.org/drawingml/2006/main">
            <a:off x="8078174" y="1476375"/>
            <a:ext cx="3027002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54339-6F16-4169-ABAC-FB8AD19B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15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81685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E70B4-2F23-4F7A-8100-C400C9F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10  入库按一级、二级逐层筛选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E449F-B372-4BFA-B187-75F3B7FB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3D8E7-657F-4355-ACFE-6E8A14E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670E-FA2F-4D22-9524-4AA19A9F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一级分类选“乳制品”。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37006-88C3-4C13-942B-ACCE7D5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5DDF3-B7DD-41D3-96E3-F61ED28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二级分类选“鲜奶”，食材名称选“鲜牛奶”。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E92E5-30AC-4607-90C2-2F0F9C0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1F2EC-FD43-4844-B450-247901F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选择进货规格“单桶 2 L”；有条码时也可扫码查找。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4FFC9-0EBA-4EA8-A27C-C42D51B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更换分类后，需要重新选食材和规格。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9f9fd4be4d37"/>
          <a:stretch xmlns:a="http://schemas.openxmlformats.org/drawingml/2006/main"/>
        </p:blipFill>
        <p:spPr>
          <a:xfrm xmlns:a="http://schemas.openxmlformats.org/drawingml/2006/main">
            <a:off x="7600950" y="1576687"/>
            <a:ext cx="3981450" cy="446662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18D1C-8BF7-4FEB-B9D5-999197C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16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5718014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80240-83A0-453B-8A22-093EC2CF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11  核对区域、日期与到期预览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9D85D-0342-424D-B018-355B71F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照片 / 储存方式 / 日期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A2644-882A-4B4E-8D6C-16D485C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AEF66-4486-414B-8541-C920861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拍照 / 上传包装照片；可用“识别”辅助录入日期。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F9D8F-5E1C-405E-B887-8A57D94C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109E1-2D31-405E-8A22-3FA93494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储存方式选冷藏，区域选“吧台 / 冷藏柜”。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9FEAB-2626-4712-B5A4-F052ABE0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A1B1F-C2E4-435D-BC2F-37D62DB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生产日期填 2026-10-06；本例到期日留空，按规则预览。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B00B-3FB3-4AB1-B30D-750ACA20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D7FD6-61FF-4F17-8738-D346BFC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OCR 结果要核对后采用；预览批次号由服务器生成。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5D23-8416-47F5-9A15-E65AA0A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本例有效到期 2026-10-20；批次号不能手工修改。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fd63765864214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39168-6224-4366-B31A-48BFCB1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17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680464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CDF3B-8974-4C50-ACB3-D3384024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12  数量按规格单位填写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69BCE-8D4E-44E7-83B8-36CBF3FA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数量与金额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AA97-9F02-4EAF-A901-ED7ADA4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5B7DC-97F6-42F7-B59B-6D98B523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数量填 2，旁边单位应显示“桶”。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3F3F4-7B45-4491-B1FE-B50BC0D4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C7FBE-3DC8-4715-9E4C-1A285FC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总金额填 40 元，表示这 2 桶的合计采购金额。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E836F-780B-4CB9-8B37-BEDD6F6A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E1010-A2C4-48BA-B572-18DA9AE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核对规格、数量、金额、区域与日期。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7BAEC-077E-4D86-BDF2-4D93D115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A6BF8-ECBA-4D15-A0AC-44D6A2F4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点击“加入待提交清单”。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BDE6-B3EB-4CE7-BE2B-F0423DB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2 桶对应 4000 ml；此时只是草稿，库存还没增加。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e8cac40004331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5952B-0BF1-4B67-BDFC-421184A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18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22030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D0FBE-142E-4C7F-8116-F19D054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13  确认入库，才真正增加库存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75F85-E4CC-4D6C-8F68-5F7A35DF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今日入库单 → 确认入库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4E939-2D15-4FF2-B549-45FC79F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776D5-3369-4C6F-B150-5F61319E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核对待提交条目：鲜牛奶 / 单桶 2 L / 2 桶 / 40 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F4BA-C58E-44AC-9E71-7C15BBAC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1FA40-EC76-40C9-B4C8-F797F3A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错误条目先移除，重新填写后加入清单。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E2334-3E35-40FF-8CE4-8169B84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3E55C-8892-4D2D-8E2A-FC2FD6AC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点击“确认入库”，查看“刚才入库的批次”。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10EC1-8EBC-46F8-9435-AF04D697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确认成功后，再去库存页核对入库结果。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ea9b9d9854202"/>
          <a:stretch xmlns:a="http://schemas.openxmlformats.org/drawingml/2006/main"/>
        </p:blipFill>
        <p:spPr>
          <a:xfrm xmlns:a="http://schemas.openxmlformats.org/drawingml/2006/main">
            <a:off x="7600950" y="2239428"/>
            <a:ext cx="3981450" cy="314114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B0CFF-AA5D-4FE8-9414-B2D774C9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19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349232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5FCFF-77EE-41A7-857C-04D4F0AA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14  入库后还不能直接出餐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4B49-9B57-4397-B8AB-BBE1128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2C900-BB80-49D2-A5D4-3164C5FE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C46F7-D774-4AF8-A8F0-9DC16C3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独立桶应有 2 桶，对应基本量 4000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CC96D-D5A2-4656-A764-180517D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04093-CE92-4D27-9BB8-091838D2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出品态“液体鲜奶”可用量仍是 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1FA17-2BAD-43B9-9253-C1A8AB3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D1EC0-9E85-4133-83CF-2A856B0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需要先开盖，再把可用出品态用于配方。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9A1F8-6991-4399-99D3-55FF0F5D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“有库存”不等于“有可出餐库存”。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1a210537a469f"/>
          <a:stretch xmlns:a="http://schemas.openxmlformats.org/drawingml/2006/main"/>
        </p:blipFill>
        <p:spPr>
          <a:xfrm xmlns:a="http://schemas.openxmlformats.org/drawingml/2006/main">
            <a:off x="7600950" y="2547040"/>
            <a:ext cx="3981450" cy="252592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B0657-5919-41CD-9012-B2A0D9E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20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6723809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34762-77A7-43EB-B841-D37EAF9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15  在作业页找到可作业批次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903E7-7AC8-4C86-95E1-C6E838F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作业 → 可作业批次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45606-C7AC-40B6-8DE3-CFB2C135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6978C-B255-4CA8-971B-60DA0CC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找到刚入库的鲜牛奶批次。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52B97-90F7-4C2E-84D5-E895805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FA038-5D61-4C14-9DA4-6A6E47A1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点击“执行作业”。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5963-BF26-42FF-9455-D5B49C50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BBF3-4108-48E3-A9F5-DE2FC23E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本例采购态是独立桶，所以接下来执行开盖。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16197-E878-4CA5-9980-014A87BD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建议作业只是提示；点击预览也不会改库存。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b90846bcd4169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4A550-BE89-44EA-A4BD-F1A43536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21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035935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257AF-8C4B-4020-8C9B-A9CF468C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16  预览并填实际开盖产出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ED397-821B-4B96-AC47-AC073264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执行作业 → 投入与产出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8AF59-5989-4718-9FA3-6AAB2EF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0E436-51B6-4A5D-A6C0-84EC1E23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投入数量填 1，单位是来源形态的“桶”。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029A3-1C4D-4D22-BCD6-B57C1E3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D8425-4A0D-4985-B07C-80D80CFC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点击“预览作业”，预计产出应为 1960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588E-9705-4BEE-A04C-165C5953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05B1F-1714-47AB-BEF5-C626F6C5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实际产出按现场测量填；本例填 1960 ml。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538EB-1A2E-4F31-9949-1AD7F55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880F7-88DB-44FB-BAA6-B7D5D19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存放区域选冷藏柜，点击“确认作业”。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2FA17-CAC3-4ABE-B696-B4B50F5B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确认后扣 1 桶，新增 1960 ml 出品态。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ab924bed247ff"/>
          <a:stretch xmlns:a="http://schemas.openxmlformats.org/drawingml/2006/main"/>
        </p:blipFill>
        <p:spPr>
          <a:xfrm xmlns:a="http://schemas.openxmlformats.org/drawingml/2006/main">
            <a:off x="7817496" y="1476375"/>
            <a:ext cx="354835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367E5-6185-4EC2-A355-1F598AC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22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092777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C4826-14A7-4315-841B-0ACB448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17  核对作业损耗与到期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3AFF3-C859-470A-8697-7A09844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作业 → 刚才作业结果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F1079-6D74-4CCB-8239-C52B52A8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932E8-AE4D-4B0A-B4DD-5F5D4FE2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投入基本量 2000 ml，实际产出 1960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9A4EE-C6D0-4B2F-BB0B-22246098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50D6A-E754-438C-98AC-BE999DB9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损耗基本量应为 40 ml，实际出成率 98%。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EB271-825B-492E-8CB7-446572B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A4606-78D0-4272-BA49-59C955D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开盖后的有效到期是 2026-10-09。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3DE2B-0E2D-4EA2-AB6F-63A1176D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有效到期取原到期与作业后到期中更早的一天。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fe28884544347"/>
          <a:stretch xmlns:a="http://schemas.openxmlformats.org/drawingml/2006/main"/>
        </p:blipFill>
        <p:spPr>
          <a:xfrm xmlns:a="http://schemas.openxmlformats.org/drawingml/2006/main">
            <a:off x="7600950" y="2779625"/>
            <a:ext cx="3981450" cy="206075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87072-8130-4ABF-A785-B6FEA1D5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23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179138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898D0-50D0-4FDD-B6A9-1EBE2DF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18  库存分成两种形态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31151-90F1-4C10-B261-175443F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379B1-019C-4986-ABDA-23E0BC8D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8A2A1-3127-4B88-BE76-DE69E67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独立桶剩 1 桶，基本量 2000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C09CB-2E62-410F-AB3B-68AC27F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08F6A-7E41-43C5-B58D-7878C5B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液体鲜奶出品态可用量 1960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91607-9A0B-413F-9D6A-9DBB7AF9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22150-070D-42E5-AFF3-A7F11E71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配方与出餐只扣已经就绪、未过期的出品态。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CEC7A-66F5-41F6-93A0-0CBCEC3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接下来用 1960 ml 配置并出餐。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7c79b6e204ccc"/>
          <a:stretch xmlns:a="http://schemas.openxmlformats.org/drawingml/2006/main"/>
        </p:blipFill>
        <p:spPr>
          <a:xfrm xmlns:a="http://schemas.openxmlformats.org/drawingml/2006/main">
            <a:off x="7600950" y="2371976"/>
            <a:ext cx="3981450" cy="28760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8DD4C-F7C8-4B55-9F93-7A57C6E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24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015181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5E84-21F3-44D8-98E8-0861D79E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19  新增菜品：热牛奶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367E9-9C40-4475-9D57-FEE45C92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菜品配方 → + 新增菜品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D26DB-232D-4B10-9AA2-318841C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3A98-7431-41EA-8561-3181D50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菜品名称“热牛奶”，规格名称“200 ml”。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5A083-DB33-409F-80E8-FFB7624F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002A3-4389-4228-BF08-69DB0DBB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售价填 12 元（演示价格），保持启用。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16402-16A4-486F-8BAA-885384B2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2F834-B081-49FE-B9E9-7B63B232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保存后，在这个规格下点击“编辑用料”。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0FF8-4379-4BCB-90C5-0A7CE8F4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同一菜品的不同规格，分别维护用料。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2ca1e26454e2c"/>
          <a:stretch xmlns:a="http://schemas.openxmlformats.org/drawingml/2006/main"/>
        </p:blipFill>
        <p:spPr>
          <a:xfrm xmlns:a="http://schemas.openxmlformats.org/drawingml/2006/main">
            <a:off x="7600950" y="1902630"/>
            <a:ext cx="3981450" cy="381473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2337F-90F7-458C-BEDA-9C3F5A9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25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500898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0C07B-DCD3-4D82-A59C-53C50A4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20  配方填每一份的用量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A70F4-43B6-4EBD-91D8-D9BCCA3C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热牛奶 / 200 ml → 编辑用料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CD6B7-41FC-43E9-9A4B-CF3680D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ECEE8-8048-44C6-840F-105CCFD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点击“+ 添加食材”，用料选“鲜牛奶”。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04E0A-4009-4C2A-8B13-DBCFC6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5EBA5-456E-4F08-BF2F-6DA37FB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“每份 / 每批基本量”填 200，单位按食材基本单位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E63E9-FDAD-4991-8BAE-53F1792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FE041-4B42-4851-B36F-3B717FB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点击“发布配方新版本”。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0D91E-56F7-4E57-9426-AD431DB3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这里填每杯 200 ml，不填两杯合计 400 ml。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fb5786ccf4954"/>
          <a:stretch xmlns:a="http://schemas.openxmlformats.org/drawingml/2006/main"/>
        </p:blipFill>
        <p:spPr>
          <a:xfrm xmlns:a="http://schemas.openxmlformats.org/drawingml/2006/main">
            <a:off x="7600950" y="2088954"/>
            <a:ext cx="3981450" cy="344209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5F316-0440-4920-BB00-F7AA8BE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26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58761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788B-C7D9-463E-9735-22586D5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21  菜品页会显示可出餐份数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3442-C230-4D8E-A26E-CDACF0B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菜品配方 → 热牛奶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13970-4F56-462C-97B0-66E0E4D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02083-FC74-4A07-AE34-C93DC14B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配方显示鲜牛奶 200 ml / 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428D7-E1DC-4800-ABC9-78D68AC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A819B-8772-46F9-8827-73DDD6A2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1960 ml ÷ 200 ml，完整可出餐 9 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BAF4-1234-47AE-BDFC-4DA8D111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423F0-6450-4542-B61A-B65A14E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有多种用料时，可出餐份数由最紧缺原料决定。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21337-3D4C-4BAA-B0D8-4B8937CC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发布配方只保存配置，不会提前扣库存。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92dacaa224ed6"/>
          <a:stretch xmlns:a="http://schemas.openxmlformats.org/drawingml/2006/main"/>
        </p:blipFill>
        <p:spPr>
          <a:xfrm xmlns:a="http://schemas.openxmlformats.org/drawingml/2006/main">
            <a:off x="7600950" y="2869658"/>
            <a:ext cx="3981450" cy="188068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026A-F89C-49DF-A443-8E5A9DE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27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84993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07186-47F0-446A-9B4A-8E6B741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22  创建两杯热牛奶的厨房单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A5D84-D3CF-4107-B154-71D037A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出餐 → + 手动创建厨房单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BD485-D487-4E4D-A966-CCDE1698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A6DDA-E5DB-4E48-9DED-9056693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桌号填 A1，备注填“温热，2 杯”。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83CC9-E053-4D07-B836-19F1E7CC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CD8C-9BA5-4EA4-8C93-82826A3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选择热牛奶 / 200 ml，数量填 2。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8B452-F11C-4035-B3AF-DD9AA33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5C3D4-BB5E-4691-B7BD-75C178E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提交厨房单。当前系统按手动厨房单开展出餐。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DA7D2-5BFB-4C2D-BF5A-2E22CFA7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建单还没有扣减食材。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29d7aefc94bb9"/>
          <a:stretch xmlns:a="http://schemas.openxmlformats.org/drawingml/2006/main"/>
        </p:blipFill>
        <p:spPr>
          <a:xfrm xmlns:a="http://schemas.openxmlformats.org/drawingml/2006/main">
            <a:off x="7911796" y="1476375"/>
            <a:ext cx="335975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2FECD-EC05-42B6-8563-1C920204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28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5119662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2F526-920C-4B45-BB51-72EAF283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23  从待出餐订单开始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6993D-4788-40AB-A760-A09062CE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待出餐订单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ADB1D-0B9F-444E-96BA-2C5526D6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EF980-0412-488A-85C6-43EBEA5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确认桌号、备注、菜品规格和份数。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420F5-DFF3-48AE-8FA3-936EA9E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8D4CC-468C-4A76-AA5B-C01F533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点击这张单的“查看并出餐”。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0741-DC79-4B81-A466-1C88351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A450E-A9F0-4E19-A8BC-4D8A02F1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系统会按配方与份数汇总需要扣减的用料。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5E065-ACD6-495A-8231-8A25796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两杯 × 每杯 200 ml = 本单 400 ml。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6c00310d54eea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6D4B9-64DE-45BA-838A-F627368F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29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435804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4B24C-74D6-4479-BCA4-DC0CB19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24  确认总用料，再出餐扣减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7A4B2-0C5F-4182-BB0E-B5891EF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出餐用料 → 确认出餐并扣减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2709F-CEDF-4533-A400-DD2E8F95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9337-67E7-4F94-9D5E-DDED34C8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鲜牛奶应显示：可用 1960 ml，缺口 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D8580-3944-4E36-9020-47BEBC06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40CD0-B8F8-49AE-A810-C40B558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本单用料输入框应为 400，代表两杯总用量。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286C3-2502-4DEF-97B3-EA7D69C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1713D-4C2B-42C4-8E4D-A5C20A2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现场需要微调时，填本单实际总用量并核对。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5F2A-64C7-4148-870B-C6B3AD3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842D7-CC00-449A-B329-3F8F7A66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本例保持 400，点击“确认出餐并扣减”。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BF874-A1C0-44BB-83B5-C793D932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“确认出餐并扣减”才真正减少食材库存。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e631971ee48da"/>
          <a:stretch xmlns:a="http://schemas.openxmlformats.org/drawingml/2006/main"/>
        </p:blipFill>
        <p:spPr>
          <a:xfrm xmlns:a="http://schemas.openxmlformats.org/drawingml/2006/main">
            <a:off x="7600950" y="2694594"/>
            <a:ext cx="3981450" cy="223081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F4CD6-D9C3-46C4-B3AD-FE333D9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30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5330807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EF185-F0FF-4E4F-802D-85A97E5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25  出餐成功后，核对扣减结果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31B86-E704-4EBB-967F-2390D86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刚才出餐结果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091F4-C034-44B8-A27D-A7F3F8B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998F0-9A0E-42FC-974D-0C88AF6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结果中应看到鲜牛奶实际扣减 400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3152B-5B71-4535-BEF3-13FEA7A0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7E9D6-B087-40CE-92EF-0ECE9D7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短缺应为 0；刚才的订单从待出餐列表移除。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1F792-A4B5-41E4-8DEF-E1E04A8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35DB4-C122-41B5-904D-7858302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查看“出餐扣减流水”，确认本单留下记录。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C1D22-6EA1-4762-BF1D-0B0410F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成功后不要重新建同一张单再扣一次。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b901a5ba84bb8"/>
          <a:stretch xmlns:a="http://schemas.openxmlformats.org/drawingml/2006/main"/>
        </p:blipFill>
        <p:spPr>
          <a:xfrm xmlns:a="http://schemas.openxmlformats.org/drawingml/2006/main">
            <a:off x="7600950" y="1499158"/>
            <a:ext cx="3981450" cy="462168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33FE0-B448-400B-8D89-55BBD446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31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4961344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EBF19-1529-4AF6-90F2-099C66FA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26  流水能追溯到具体批次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6E30F-3A02-4512-A032-0217E0C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出餐扣减流水 → 展开记录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245D5-80F8-4395-9420-C2B65325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90A6-59AA-4F54-868B-A15F9757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展开这次出餐记录。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FCCDF-790F-4DE4-B39C-52B7E041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9F2B2-743A-4D82-B129-C7D7124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核对食材、实际量、短缺量及扣减批次。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CB4F6-53A4-4864-84BF-3419CC5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00D2E-D66B-422D-8060-80E357FD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系统优先使用更早有效到期的可用批次。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8408F-47A8-455A-95F7-1842085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本例鲜牛奶合计扣减 400 ml，短缺 0。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9512a55af4f98"/>
          <a:stretch xmlns:a="http://schemas.openxmlformats.org/drawingml/2006/main"/>
        </p:blipFill>
        <p:spPr>
          <a:xfrm xmlns:a="http://schemas.openxmlformats.org/drawingml/2006/main">
            <a:off x="7845843" y="1476375"/>
            <a:ext cx="3491664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6E79A-D2B2-46A9-94C5-6D7750F3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32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705292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A520A-BCB3-48AB-AAFD-0A085B03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27  回库存看最后的余额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2083-66A8-49F7-A73C-2938424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1FC2C-524F-4411-B82F-ED7E9DD2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9B199-0F0C-4C07-AFEE-0C9654F0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出品态剩余可用量应为 1560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01C80-ECE0-4187-898F-22B7A79D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27645-A0ED-42BB-9D46-C92FB378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未开盖的独立桶仍有 1 桶，即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7E813-7AA4-4BD9-9094-9B3F8E33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85B32-30CD-4586-A113-7A24853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热牛奶每杯 200 ml，现在可再出 7 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D34F-8A08-43AF-9EDE-9CEB92AF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1960 − 400 = 1560 ml；这是本次练习的终点。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2fdb69a304ec9"/>
          <a:stretch xmlns:a="http://schemas.openxmlformats.org/drawingml/2006/main"/>
        </p:blipFill>
        <p:spPr>
          <a:xfrm xmlns:a="http://schemas.openxmlformats.org/drawingml/2006/main">
            <a:off x="7600950" y="2371976"/>
            <a:ext cx="3981450" cy="28760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4D410-B8C4-4426-BB84-B264DC3B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33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377427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EABE6-8825-459B-B224-1DBFDD6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把这笔业务完整对上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74704-71BF-4E84-A9BC-E4F89781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本例只执行一次入库、一次开盖、一次出餐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095500"/>
                <a:gridCol w="4591050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去向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基本量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核对方式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尚未开盖的独立桶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 ml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库存的中间态层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剩余液体鲜奶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库存的出品态层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已经出餐扣减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ml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出餐扣减流水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开盖损耗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作业结果 / 今日记录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4000 ml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等于采购入库的 2 桶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AE76-9F50-4090-89B6-2DFD5C0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2000 + 1560 + 400 + 40 = 4000 ml。核对时把未作业、可用、已消耗和损耗一起看。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425E-2678-4285-A305-520ACE0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34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794440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A617-5863-4FE3-88F9-50F4998D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需要标签时，从批次详情打印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75C4E-1DE4-414F-91FF-60482DE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批次详情 → 打印食材标签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37BAA-443F-4485-9D32-4EC9DE33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30021-1594-4868-B662-2F0D25A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打开产出批次，核对批次号、形态和有效到期。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3AA2-F9CD-4705-9205-E1F00D6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656D0-81F0-4E42-9C02-ABA3A65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点击“打印食材标签”，进入标签打印界面。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63405-92B9-4C7B-BEA4-891A2DA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CCCB3-9974-4D6D-A650-EFDE06FA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开盖后标签要显示新的有效到期，本例 2026-10-09。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7C25E-EF88-454A-AAC6-62A4B2CB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标签内容随实际批次生成，不能照抄教程批号。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021fb25274c2b"/>
          <a:stretch xmlns:a="http://schemas.openxmlformats.org/drawingml/2006/main"/>
        </p:blipFill>
        <p:spPr>
          <a:xfrm xmlns:a="http://schemas.openxmlformats.org/drawingml/2006/main">
            <a:off x="7600950" y="1569184"/>
            <a:ext cx="3981450" cy="448163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7BA04-CFDF-4333-AFC2-AB1B74F6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35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9127494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A65B4-02E0-4AD4-98D4-AB39A39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蓝牙打印继续用原来的模块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25D17-64F0-48AC-BF4A-D290A28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蓝牙打印机 → 搜索并连接 → 打印标签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7A35-F6E5-458C-AADF-068AF47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5C982-3213-4CA4-8909-5A2A825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在企业微信真机内打开，准备蓝牙标签打印机。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683AE-8830-40E3-BA6D-E82E427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68B3F-5EC0-49BE-984C-8CBA496B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开启蓝牙并授权，搜索设备、选择并连接打印机。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36A82-1EC8-4A30-8265-578F81D3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96E20-19DD-4065-B868-DE6AE82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纸张用 60 × 40 mm，数量 1～10 张，再打印。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555F3-34DF-43C4-90E3-E5D7762C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请在企业微信真机上完成连接和出纸。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0f83d92944171"/>
          <a:stretch xmlns:a="http://schemas.openxmlformats.org/drawingml/2006/main"/>
        </p:blipFill>
        <p:spPr>
          <a:xfrm xmlns:a="http://schemas.openxmlformats.org/drawingml/2006/main">
            <a:off x="7600950" y="1544943"/>
            <a:ext cx="3981450" cy="453011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4E297-D0E4-4832-ACF7-D9A4D67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36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986819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AFC54-01FD-4574-BDBB-81784B57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扩展：半成品要用专属分类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06C34-148B-4528-A190-F8C92688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 → 新增二级分类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8DEB8-B4C8-43B6-8CA3-F277A307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93CB-CEF9-43EE-9E93-8893C69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建立“半成品 / 奶制半成品”分类。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7FE4C-3560-49C7-AF8F-72C42B2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92A66-0EDE-4144-93DE-E06AC94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选择按件数，勾选“半成品分类”，启用后保存。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C52B8-6872-44ED-BFCD-E842AE2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4CA4E-5953-4C88-9498-1F1806B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半成品通过制作产出，不作为普通采购食材入库。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6F477-DE73-4658-ADA5-A2D629B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以下奶冻示例是可选分支，不计入前面的余额核对。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678665f9c464f"/>
          <a:stretch xmlns:a="http://schemas.openxmlformats.org/drawingml/2006/main"/>
        </p:blipFill>
        <p:spPr>
          <a:xfrm xmlns:a="http://schemas.openxmlformats.org/drawingml/2006/main">
            <a:off x="8132935" y="1476375"/>
            <a:ext cx="291748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13EA3-B226-46E6-A343-02574421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37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946133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FAC35-8696-4402-BC92-9C26003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半成品配方按“每批”填写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BF186-9FED-45B5-AAC5-56681E4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半成品制作 → + 新建半成品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423E5-7F0D-4905-A69A-53C4539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4F575-8A00-454B-8510-F035352B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名称“奶冻”；分类奶制半成品，基本单位“个”。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89769-80A2-4A4E-AFAE-01DE2388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F8B0C-5597-4B38-8B77-9AB0CE18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每批产出基本量填 10。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F92F4-AC92-440C-A6D3-670FD546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F3A2-320E-4B05-8642-89BCBB6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添加鲜牛奶，用量填 500 ml，然后保存。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0BD07-A822-414E-B71F-A176AD1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本例一批：消耗 500 ml 鲜牛奶，产出 10 个奶冻。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633f99501445e"/>
          <a:stretch xmlns:a="http://schemas.openxmlformats.org/drawingml/2006/main"/>
        </p:blipFill>
        <p:spPr>
          <a:xfrm xmlns:a="http://schemas.openxmlformats.org/drawingml/2006/main">
            <a:off x="8282136" y="1476375"/>
            <a:ext cx="2619079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EBB68-29CB-46BC-9CBC-3823BCC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38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517843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6F6CA-417F-4690-B17F-AF471F01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半成品确认制作也会改库存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3E466-82EA-4064-A8C4-5ABBCD7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奶冻 → 制作 → 预览所需原料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8201D-C1D2-4EDC-9967-C1E73C3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B274B-D277-4A63-9029-69326A7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制作批数填 1，选启用的下级区域。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72CDA-63D8-4C40-8257-9D5A01E2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61B19-E12A-4D17-A255-B5409F0D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点击“预览所需原料”，核对每批用量与产出。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AB8B8-AB6E-45EC-85FF-FD60E27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7BFFF-2679-4816-9E8B-3587C83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确认制作才会扣原料并新增半成品库存。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699BC-9342-4AB8-9B32-33708B4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EDA8D-B676-4FE3-927D-D31A0CBE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含奶冻的菜品配方，按每份所需的“个”填写。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CCCC8-7B82-447E-BD6B-E0289D4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本教程只预览这条分支，未实际扣掉那 500 ml。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ea04efd59411b"/>
          <a:stretch xmlns:a="http://schemas.openxmlformats.org/drawingml/2006/main"/>
        </p:blipFill>
        <p:spPr>
          <a:xfrm xmlns:a="http://schemas.openxmlformats.org/drawingml/2006/main">
            <a:off x="7660071" y="1476375"/>
            <a:ext cx="38632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466F8-5B15-4FB5-8958-26105B8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39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268755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72430-16A6-41B9-902B-2D3B6BF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扩展：为区域配置检查项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931E3-825F-4206-AD2E-9723F5A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存储区域 → 冷藏柜 → + 检查项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64F96-DF5F-485E-833D-19EB8D9D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36587-4B94-4F28-BBF5-1F5C67E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名称“冷藏温度”，方法选数值，单位 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7F754-A30C-49CB-A58A-324DF8DA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84106-9BC1-4576-9075-8A17460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上下限按本店标准填写；本例演示 0～5。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6607A-6573-4CA8-B38A-C407DE6C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83EAF-9836-4E6C-8C8B-B042395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检查项启用并保存后，纳入开门检查。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D77AC-5975-494A-A515-6BAC48B6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数值合格与否由系统按配置阈值判断。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1038662d249d9"/>
          <a:stretch xmlns:a="http://schemas.openxmlformats.org/drawingml/2006/main"/>
        </p:blipFill>
        <p:spPr>
          <a:xfrm xmlns:a="http://schemas.openxmlformats.org/drawingml/2006/main">
            <a:off x="8399162" y="1476375"/>
            <a:ext cx="2385026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C12B1-2A90-45AD-90AE-551B1393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40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189971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9A062-6334-4E82-ABDB-4B67FD06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开门检查：提交后还需店长确认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45F12-15EE-4518-B43B-B742475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开门检查 → 开始今日检查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54A1-28F4-473C-9E05-0EE1AA48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64BEB-E5A4-4967-85C6-1538389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逐项检查，录入实测值；需要照片的项目上传现场照片。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C744A-7E36-4010-AC09-B03101E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BDD09-3EDD-4D87-A34D-BAE1DB1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本例温度填 4，点击“保存并提交检查”。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87EEE-E9AC-49AC-9523-29FAFAA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DC1B4-EDE2-465C-9D0B-DFD87451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店长核对记录、补充处理并点击“店长确认”。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20A37-E685-4BB9-AF22-4EFC63E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“通过未填项”不会代替数值项目的现场测量。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24e963d794d88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E4011-8C71-4FD8-9724-9E792DD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41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450948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6830F-23F6-4028-A00E-C848E7DD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盘点：保存实盘和过账分开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E4E61-2857-4E8C-93C4-78961C3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盘点核对 → 生成盘点快照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1307E-2C15-45C5-9053-5AAC784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2DCC8-FDB7-4D74-9F4B-D6AE314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先生成当前出品态快照，本例系统量 1560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46713-776D-43C9-8AAE-2201BD7A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D9AB8-592A-4D1E-A9AC-001AFFBF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填实际盘点量；截图示例填 1550，并写说明。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1A6B4-F6AC-493C-96D0-6A920D4B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A6070-C3AA-4C80-82D6-F1E4759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“保存实盘”只保存记录；店长“过账盘点”才调库存。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F6E40-1E00-450D-8286-2CA80191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5A350-D13F-4224-8A08-B8FA5B1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盘点期间库存有变化，重新生成快照再核对。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E0A7F-CC5D-441C-8199-C83925E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这里只演示填写，未过账；主线余额仍是 1560 ml。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8394d892249c0"/>
          <a:stretch xmlns:a="http://schemas.openxmlformats.org/drawingml/2006/main"/>
        </p:blipFill>
        <p:spPr>
          <a:xfrm xmlns:a="http://schemas.openxmlformats.org/drawingml/2006/main">
            <a:off x="7600950" y="1544943"/>
            <a:ext cx="3981450" cy="453011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E9FBA-669F-4D69-B589-849A82D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42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936017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7C584-E4BD-4264-B8D7-1B7D920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看板和 Excel 用于检查链路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EFCA6-4C6F-4EC8-80AA-66987ECB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数据看板 → 出品与配方链路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ABD2A-98D4-4235-8EA0-8D66039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A25C8-3C31-4C77-902A-9228CA9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选择日期范围并点击“查询”。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54085-A9AB-48A9-BC16-373B7B6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5B80-D445-4002-A10D-1FC5FCEE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查看成本、损耗、周转与盘盈，按需核对明细。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6B46A-A13A-48D7-B028-66A6B9E2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BF1B-BADF-4CC6-97FA-D4FA960E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在“出品与配方链路”点击“导出 Excel”。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178A5-C619-4167-930F-A39A68B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此导出是配方与采购作业链路，不是全部库存流水。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3f089242a4ca0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FC0DE-80CB-458C-A8AB-4BC86B18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43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0196715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4611A-990D-4124-87E4-16C560BF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卡住时，按现象排查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27BE0-0DB7-4DB3-9C10-FE594E4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先定位缺少的是配置、可用量，还是权限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857625"/>
                <a:gridCol w="4162425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91440" marR="91440" marT="45720" marB="45720"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入库没有食材 / 规格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两级分类、食材、规格是否启用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重新进入链路页核对配置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区域无法选择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是否为启用的二级区域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添加下级区域并启用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有库存却无法出餐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是否还是采购态 / 中间态，或未就绪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先作业；同时核对有效到期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用料出现缺口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配方基本单位、本单总量、可用量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按提示先作业或入库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请求结果未确认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原请求是否已成功，页面是否有重试提示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使用“重试原请求”，不要另建重复单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37A60-7A8F-4B29-9969-32CD528B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维护按钮缺失先核对员工角色与当前门店。入库、作业和出餐成功后，分别查看批次、作业记录和扣减流水。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68A39-E322-4BF9-9985-9E525C4C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44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19522116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BC8FE-1F01-4E39-B111-624FCEA9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每天按这张清单操作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EE8F2-3CA8-49EC-A141-D31A82A5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开门 → 收货 → 备料 → 出餐 → 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92915-C592-49A7-8D2F-4494684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19B64-0091-46A3-BD74-A094B8F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开门：检查区域与设备，提交检查并由店长确认。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50755-DD0E-4FBC-BE4A-BE52520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69015-96BE-4857-88A8-3C24E56D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收货：核对规格、数量、照片与日期，确认入库。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650E7-34AC-4A74-8224-801C23C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5C42C-D0B8-4306-8D75-2DF26AD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备料：按作业 / 半成品配方填实际产出，等批次就绪。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D8B1-2E78-4E23-B0A2-986383D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B4C2C-AF0C-4F00-AFCD-F523C6A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出餐：核对本单总用料，确认扣减；收尾查临期、流水与盘点。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7A91C-EA48-42BD-8986-BFBBC29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练习终点：剩余 1560 ml；出餐流水扣减 400 ml。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8674750c44867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3D755-D801-437E-802C-DFD8103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45 / 45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693247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2026-10-06T14:09:49.1710000Z</dcterms:created>
  <dcterms:modified xsi:type="dcterms:W3CDTF">2026-10-06T14:09:49.1710000Z</dcterms:modified>
</coreProperties>
</file>