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f830fff64149b5" /><Relationship Type="http://schemas.openxmlformats.org/officeDocument/2006/relationships/extended-properties" Target="/docProps/app.xml" Id="Rf35de37710354aae" /><Relationship Type="http://schemas.openxmlformats.org/officeDocument/2006/relationships/officeDocument" Target="/ppt/presentation.xml" Id="R71a646af38b74e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38983da2d848f7"/>
  </p:sldMasterIdLst>
  <p:notesMasterIdLst>
    <p:notesMasterId xmlns:r="http://schemas.openxmlformats.org/officeDocument/2006/relationships" r:id="R79a2da37650a4b8b"/>
  </p:notesMasterIdLst>
  <p:sldIdLst>
    <p:sldId xmlns:r="http://schemas.openxmlformats.org/officeDocument/2006/relationships" id="256" r:id="Rac2963593e794ecf"/>
    <p:sldId xmlns:r="http://schemas.openxmlformats.org/officeDocument/2006/relationships" id="257" r:id="R8d4c65b6c171427a"/>
    <p:sldId xmlns:r="http://schemas.openxmlformats.org/officeDocument/2006/relationships" id="258" r:id="R263d30a383df45a0"/>
    <p:sldId xmlns:r="http://schemas.openxmlformats.org/officeDocument/2006/relationships" id="259" r:id="R6ceab748f6e74879"/>
    <p:sldId xmlns:r="http://schemas.openxmlformats.org/officeDocument/2006/relationships" id="260" r:id="Rc68ead678c1e4f4c"/>
    <p:sldId xmlns:r="http://schemas.openxmlformats.org/officeDocument/2006/relationships" id="261" r:id="R7d85c464e8034788"/>
    <p:sldId xmlns:r="http://schemas.openxmlformats.org/officeDocument/2006/relationships" id="262" r:id="R9ab16d7891aa41bf"/>
    <p:sldId xmlns:r="http://schemas.openxmlformats.org/officeDocument/2006/relationships" id="263" r:id="Rda63455b6b97452c"/>
    <p:sldId xmlns:r="http://schemas.openxmlformats.org/officeDocument/2006/relationships" id="264" r:id="Rc248adf2f9544c37"/>
    <p:sldId xmlns:r="http://schemas.openxmlformats.org/officeDocument/2006/relationships" id="265" r:id="R5e944f8a1e284d49"/>
    <p:sldId xmlns:r="http://schemas.openxmlformats.org/officeDocument/2006/relationships" id="266" r:id="R7c2067e437da4b2c"/>
    <p:sldId xmlns:r="http://schemas.openxmlformats.org/officeDocument/2006/relationships" id="267" r:id="R03750acb015a44af"/>
    <p:sldId xmlns:r="http://schemas.openxmlformats.org/officeDocument/2006/relationships" id="268" r:id="Rf7224a2100824fec"/>
    <p:sldId xmlns:r="http://schemas.openxmlformats.org/officeDocument/2006/relationships" id="269" r:id="R6e44114af781445b"/>
    <p:sldId xmlns:r="http://schemas.openxmlformats.org/officeDocument/2006/relationships" id="270" r:id="Rc794ae2399924048"/>
    <p:sldId xmlns:r="http://schemas.openxmlformats.org/officeDocument/2006/relationships" id="271" r:id="R79750fbf70d74f6a"/>
    <p:sldId xmlns:r="http://schemas.openxmlformats.org/officeDocument/2006/relationships" id="272" r:id="Rbe5e340d8b064c61"/>
    <p:sldId xmlns:r="http://schemas.openxmlformats.org/officeDocument/2006/relationships" id="273" r:id="R258eeed50db44259"/>
    <p:sldId xmlns:r="http://schemas.openxmlformats.org/officeDocument/2006/relationships" id="274" r:id="Re31660bc06c8457f"/>
    <p:sldId xmlns:r="http://schemas.openxmlformats.org/officeDocument/2006/relationships" id="275" r:id="Rd3884bf9590340ef"/>
    <p:sldId xmlns:r="http://schemas.openxmlformats.org/officeDocument/2006/relationships" id="276" r:id="R49d80956e60d45c1"/>
    <p:sldId xmlns:r="http://schemas.openxmlformats.org/officeDocument/2006/relationships" id="277" r:id="R11606a96db8b40cb"/>
    <p:sldId xmlns:r="http://schemas.openxmlformats.org/officeDocument/2006/relationships" id="278" r:id="R6c95ed1383914c8a"/>
    <p:sldId xmlns:r="http://schemas.openxmlformats.org/officeDocument/2006/relationships" id="279" r:id="Rcb7da4b3e41445a9"/>
    <p:sldId xmlns:r="http://schemas.openxmlformats.org/officeDocument/2006/relationships" id="280" r:id="Rf2ffd76b347042bd"/>
    <p:sldId xmlns:r="http://schemas.openxmlformats.org/officeDocument/2006/relationships" id="281" r:id="R85caf6b95dde469b"/>
    <p:sldId xmlns:r="http://schemas.openxmlformats.org/officeDocument/2006/relationships" id="282" r:id="Rfac3b12a5a154e34"/>
    <p:sldId xmlns:r="http://schemas.openxmlformats.org/officeDocument/2006/relationships" id="283" r:id="R897c32e266d24715"/>
    <p:sldId xmlns:r="http://schemas.openxmlformats.org/officeDocument/2006/relationships" id="284" r:id="R683a02f26bdc49a9"/>
    <p:sldId xmlns:r="http://schemas.openxmlformats.org/officeDocument/2006/relationships" id="285" r:id="R7e3dd7e5799a40d9"/>
    <p:sldId xmlns:r="http://schemas.openxmlformats.org/officeDocument/2006/relationships" id="286" r:id="Rc598caa7d69644f4"/>
    <p:sldId xmlns:r="http://schemas.openxmlformats.org/officeDocument/2006/relationships" id="287" r:id="Rd1e176611b5a4fa5"/>
    <p:sldId xmlns:r="http://schemas.openxmlformats.org/officeDocument/2006/relationships" id="288" r:id="R2e70b4dafbf441b2"/>
    <p:sldId xmlns:r="http://schemas.openxmlformats.org/officeDocument/2006/relationships" id="289" r:id="R8744e65b3b12415c"/>
    <p:sldId xmlns:r="http://schemas.openxmlformats.org/officeDocument/2006/relationships" id="290" r:id="R4753b0d0675e413a"/>
    <p:sldId xmlns:r="http://schemas.openxmlformats.org/officeDocument/2006/relationships" id="291" r:id="R57e96b595c1f4bad"/>
    <p:sldId xmlns:r="http://schemas.openxmlformats.org/officeDocument/2006/relationships" id="292" r:id="Rc735a749b8734984"/>
    <p:sldId xmlns:r="http://schemas.openxmlformats.org/officeDocument/2006/relationships" id="293" r:id="R47a61bd9f9674ded"/>
    <p:sldId xmlns:r="http://schemas.openxmlformats.org/officeDocument/2006/relationships" id="294" r:id="Rb9e3cbd5f5e54a9e"/>
    <p:sldId xmlns:r="http://schemas.openxmlformats.org/officeDocument/2006/relationships" id="295" r:id="R88c7d5f7186f400e"/>
    <p:sldId xmlns:r="http://schemas.openxmlformats.org/officeDocument/2006/relationships" id="296" r:id="Rb3280e09e142441b"/>
    <p:sldId xmlns:r="http://schemas.openxmlformats.org/officeDocument/2006/relationships" id="297" r:id="R1cf6efcc79964651"/>
    <p:sldId xmlns:r="http://schemas.openxmlformats.org/officeDocument/2006/relationships" id="298" r:id="Rb7a41de16e5644a4"/>
    <p:sldId xmlns:r="http://schemas.openxmlformats.org/officeDocument/2006/relationships" id="299" r:id="Re4e7ee2d3f3f47da"/>
    <p:sldId xmlns:r="http://schemas.openxmlformats.org/officeDocument/2006/relationships" id="300" r:id="Rf5933d5c6f994d69"/>
    <p:sldId xmlns:r="http://schemas.openxmlformats.org/officeDocument/2006/relationships" id="301" r:id="R0b480d01ced643ff"/>
    <p:sldId xmlns:r="http://schemas.openxmlformats.org/officeDocument/2006/relationships" id="302" r:id="Rb0c5d76104a14392"/>
    <p:sldId xmlns:r="http://schemas.openxmlformats.org/officeDocument/2006/relationships" id="303" r:id="Rce07b523c8ab48fa"/>
    <p:sldId xmlns:r="http://schemas.openxmlformats.org/officeDocument/2006/relationships" id="304" r:id="Rc15bdd16503f4091"/>
    <p:sldId xmlns:r="http://schemas.openxmlformats.org/officeDocument/2006/relationships" id="305" r:id="R418e27dfeeea4e55"/>
    <p:sldId xmlns:r="http://schemas.openxmlformats.org/officeDocument/2006/relationships" id="306" r:id="Re98bd3f9745e4657"/>
    <p:sldId xmlns:r="http://schemas.openxmlformats.org/officeDocument/2006/relationships" id="307" r:id="R8be87ef5c59e48de"/>
    <p:sldId xmlns:r="http://schemas.openxmlformats.org/officeDocument/2006/relationships" id="308" r:id="Rae06a11b466846c8"/>
    <p:sldId xmlns:r="http://schemas.openxmlformats.org/officeDocument/2006/relationships" id="309" r:id="R395f619b231d499f"/>
    <p:sldId xmlns:r="http://schemas.openxmlformats.org/officeDocument/2006/relationships" id="310" r:id="Rf7a76a28b8104a03"/>
    <p:sldId xmlns:r="http://schemas.openxmlformats.org/officeDocument/2006/relationships" id="311" r:id="R2a87c79b49584e13"/>
    <p:sldId xmlns:r="http://schemas.openxmlformats.org/officeDocument/2006/relationships" id="312" r:id="R9e77c06edc8a4601"/>
    <p:sldId xmlns:r="http://schemas.openxmlformats.org/officeDocument/2006/relationships" id="313" r:id="Ra908cbad3950456a"/>
    <p:sldId xmlns:r="http://schemas.openxmlformats.org/officeDocument/2006/relationships" id="314" r:id="Re483b542d0b349f7"/>
    <p:sldId xmlns:r="http://schemas.openxmlformats.org/officeDocument/2006/relationships" id="315" r:id="Rf8de04c1b9b74269"/>
    <p:sldId xmlns:r="http://schemas.openxmlformats.org/officeDocument/2006/relationships" id="316" r:id="R89726a978a3f4801"/>
    <p:sldId xmlns:r="http://schemas.openxmlformats.org/officeDocument/2006/relationships" id="317" r:id="R9469291b06df4d48"/>
    <p:sldId xmlns:r="http://schemas.openxmlformats.org/officeDocument/2006/relationships" id="318" r:id="Rc8ae495b3b5d4e8e"/>
    <p:sldId xmlns:r="http://schemas.openxmlformats.org/officeDocument/2006/relationships" id="319" r:id="Rb217049b21004587"/>
    <p:sldId xmlns:r="http://schemas.openxmlformats.org/officeDocument/2006/relationships" id="320" r:id="R6d03ad89147b4d33"/>
    <p:sldId xmlns:r="http://schemas.openxmlformats.org/officeDocument/2006/relationships" id="321" r:id="R79ca92a1f0a44638"/>
    <p:sldId xmlns:r="http://schemas.openxmlformats.org/officeDocument/2006/relationships" id="322" r:id="Rcf4c03d754774e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9ba55fdc7943c5" /><Relationship Type="http://schemas.openxmlformats.org/officeDocument/2006/relationships/slideMaster" Target="/ppt/slideMasters/slideMaster1.xml" Id="R7a38983da2d848f7" /><Relationship Type="http://schemas.openxmlformats.org/officeDocument/2006/relationships/notesMaster" Target="/ppt/notesMasters/notesMaster1.xml" Id="R79a2da37650a4b8b" /><Relationship Type="http://schemas.openxmlformats.org/officeDocument/2006/relationships/presProps" Target="/ppt/presProps.xml" Id="R330c2ba7ef60406b" /><Relationship Type="http://schemas.openxmlformats.org/officeDocument/2006/relationships/tableStyles" Target="/ppt/tableStyles.xml" Id="R857c0a0a3ace42ee" /><Relationship Type="http://schemas.openxmlformats.org/officeDocument/2006/relationships/slide" Target="/ppt/slides/slide1.xml" Id="Rac2963593e794ecf" /><Relationship Type="http://schemas.openxmlformats.org/officeDocument/2006/relationships/slide" Target="/ppt/slides/slide2.xml" Id="R8d4c65b6c171427a" /><Relationship Type="http://schemas.openxmlformats.org/officeDocument/2006/relationships/slide" Target="/ppt/slides/slide3.xml" Id="R263d30a383df45a0" /><Relationship Type="http://schemas.openxmlformats.org/officeDocument/2006/relationships/slide" Target="/ppt/slides/slide4.xml" Id="R6ceab748f6e74879" /><Relationship Type="http://schemas.openxmlformats.org/officeDocument/2006/relationships/slide" Target="/ppt/slides/slide5.xml" Id="Rc68ead678c1e4f4c" /><Relationship Type="http://schemas.openxmlformats.org/officeDocument/2006/relationships/slide" Target="/ppt/slides/slide6.xml" Id="R7d85c464e8034788" /><Relationship Type="http://schemas.openxmlformats.org/officeDocument/2006/relationships/slide" Target="/ppt/slides/slide7.xml" Id="R9ab16d7891aa41bf" /><Relationship Type="http://schemas.openxmlformats.org/officeDocument/2006/relationships/slide" Target="/ppt/slides/slide8.xml" Id="Rda63455b6b97452c" /><Relationship Type="http://schemas.openxmlformats.org/officeDocument/2006/relationships/slide" Target="/ppt/slides/slide9.xml" Id="Rc248adf2f9544c37" /><Relationship Type="http://schemas.openxmlformats.org/officeDocument/2006/relationships/slide" Target="/ppt/slides/slide10.xml" Id="R5e944f8a1e284d49" /><Relationship Type="http://schemas.openxmlformats.org/officeDocument/2006/relationships/slide" Target="/ppt/slides/slide11.xml" Id="R7c2067e437da4b2c" /><Relationship Type="http://schemas.openxmlformats.org/officeDocument/2006/relationships/slide" Target="/ppt/slides/slide12.xml" Id="R03750acb015a44af" /><Relationship Type="http://schemas.openxmlformats.org/officeDocument/2006/relationships/slide" Target="/ppt/slides/slide13.xml" Id="Rf7224a2100824fec" /><Relationship Type="http://schemas.openxmlformats.org/officeDocument/2006/relationships/slide" Target="/ppt/slides/slide14.xml" Id="R6e44114af781445b" /><Relationship Type="http://schemas.openxmlformats.org/officeDocument/2006/relationships/slide" Target="/ppt/slides/slide15.xml" Id="Rc794ae2399924048" /><Relationship Type="http://schemas.openxmlformats.org/officeDocument/2006/relationships/slide" Target="/ppt/slides/slide16.xml" Id="R79750fbf70d74f6a" /><Relationship Type="http://schemas.openxmlformats.org/officeDocument/2006/relationships/slide" Target="/ppt/slides/slide17.xml" Id="Rbe5e340d8b064c61" /><Relationship Type="http://schemas.openxmlformats.org/officeDocument/2006/relationships/slide" Target="/ppt/slides/slide18.xml" Id="R258eeed50db44259" /><Relationship Type="http://schemas.openxmlformats.org/officeDocument/2006/relationships/slide" Target="/ppt/slides/slide19.xml" Id="Re31660bc06c8457f" /><Relationship Type="http://schemas.openxmlformats.org/officeDocument/2006/relationships/slide" Target="/ppt/slides/slide20.xml" Id="Rd3884bf9590340ef" /><Relationship Type="http://schemas.openxmlformats.org/officeDocument/2006/relationships/slide" Target="/ppt/slides/slide21.xml" Id="R49d80956e60d45c1" /><Relationship Type="http://schemas.openxmlformats.org/officeDocument/2006/relationships/slide" Target="/ppt/slides/slide22.xml" Id="R11606a96db8b40cb" /><Relationship Type="http://schemas.openxmlformats.org/officeDocument/2006/relationships/slide" Target="/ppt/slides/slide23.xml" Id="R6c95ed1383914c8a" /><Relationship Type="http://schemas.openxmlformats.org/officeDocument/2006/relationships/slide" Target="/ppt/slides/slide24.xml" Id="Rcb7da4b3e41445a9" /><Relationship Type="http://schemas.openxmlformats.org/officeDocument/2006/relationships/slide" Target="/ppt/slides/slide25.xml" Id="Rf2ffd76b347042bd" /><Relationship Type="http://schemas.openxmlformats.org/officeDocument/2006/relationships/slide" Target="/ppt/slides/slide26.xml" Id="R85caf6b95dde469b" /><Relationship Type="http://schemas.openxmlformats.org/officeDocument/2006/relationships/slide" Target="/ppt/slides/slide27.xml" Id="Rfac3b12a5a154e34" /><Relationship Type="http://schemas.openxmlformats.org/officeDocument/2006/relationships/slide" Target="/ppt/slides/slide28.xml" Id="R897c32e266d24715" /><Relationship Type="http://schemas.openxmlformats.org/officeDocument/2006/relationships/slide" Target="/ppt/slides/slide29.xml" Id="R683a02f26bdc49a9" /><Relationship Type="http://schemas.openxmlformats.org/officeDocument/2006/relationships/slide" Target="/ppt/slides/slide30.xml" Id="R7e3dd7e5799a40d9" /><Relationship Type="http://schemas.openxmlformats.org/officeDocument/2006/relationships/slide" Target="/ppt/slides/slide31.xml" Id="Rc598caa7d69644f4" /><Relationship Type="http://schemas.openxmlformats.org/officeDocument/2006/relationships/slide" Target="/ppt/slides/slide32.xml" Id="Rd1e176611b5a4fa5" /><Relationship Type="http://schemas.openxmlformats.org/officeDocument/2006/relationships/slide" Target="/ppt/slides/slide33.xml" Id="R2e70b4dafbf441b2" /><Relationship Type="http://schemas.openxmlformats.org/officeDocument/2006/relationships/slide" Target="/ppt/slides/slide34.xml" Id="R8744e65b3b12415c" /><Relationship Type="http://schemas.openxmlformats.org/officeDocument/2006/relationships/slide" Target="/ppt/slides/slide35.xml" Id="R4753b0d0675e413a" /><Relationship Type="http://schemas.openxmlformats.org/officeDocument/2006/relationships/slide" Target="/ppt/slides/slide36.xml" Id="R57e96b595c1f4bad" /><Relationship Type="http://schemas.openxmlformats.org/officeDocument/2006/relationships/slide" Target="/ppt/slides/slide37.xml" Id="Rc735a749b8734984" /><Relationship Type="http://schemas.openxmlformats.org/officeDocument/2006/relationships/slide" Target="/ppt/slides/slide38.xml" Id="R47a61bd9f9674ded" /><Relationship Type="http://schemas.openxmlformats.org/officeDocument/2006/relationships/slide" Target="/ppt/slides/slide39.xml" Id="Rb9e3cbd5f5e54a9e" /><Relationship Type="http://schemas.openxmlformats.org/officeDocument/2006/relationships/slide" Target="/ppt/slides/slide40.xml" Id="R88c7d5f7186f400e" /><Relationship Type="http://schemas.openxmlformats.org/officeDocument/2006/relationships/slide" Target="/ppt/slides/slide41.xml" Id="Rb3280e09e142441b" /><Relationship Type="http://schemas.openxmlformats.org/officeDocument/2006/relationships/slide" Target="/ppt/slides/slide42.xml" Id="R1cf6efcc79964651" /><Relationship Type="http://schemas.openxmlformats.org/officeDocument/2006/relationships/slide" Target="/ppt/slides/slide43.xml" Id="Rb7a41de16e5644a4" /><Relationship Type="http://schemas.openxmlformats.org/officeDocument/2006/relationships/slide" Target="/ppt/slides/slide44.xml" Id="Re4e7ee2d3f3f47da" /><Relationship Type="http://schemas.openxmlformats.org/officeDocument/2006/relationships/slide" Target="/ppt/slides/slide45.xml" Id="Rf5933d5c6f994d69" /><Relationship Type="http://schemas.openxmlformats.org/officeDocument/2006/relationships/slide" Target="/ppt/slides/slide46.xml" Id="R0b480d01ced643ff" /><Relationship Type="http://schemas.openxmlformats.org/officeDocument/2006/relationships/slide" Target="/ppt/slides/slide47.xml" Id="Rb0c5d76104a14392" /><Relationship Type="http://schemas.openxmlformats.org/officeDocument/2006/relationships/slide" Target="/ppt/slides/slide48.xml" Id="Rce07b523c8ab48fa" /><Relationship Type="http://schemas.openxmlformats.org/officeDocument/2006/relationships/slide" Target="/ppt/slides/slide49.xml" Id="Rc15bdd16503f4091" /><Relationship Type="http://schemas.openxmlformats.org/officeDocument/2006/relationships/slide" Target="/ppt/slides/slide50.xml" Id="R418e27dfeeea4e55" /><Relationship Type="http://schemas.openxmlformats.org/officeDocument/2006/relationships/slide" Target="/ppt/slides/slide51.xml" Id="Re98bd3f9745e4657" /><Relationship Type="http://schemas.openxmlformats.org/officeDocument/2006/relationships/slide" Target="/ppt/slides/slide52.xml" Id="R8be87ef5c59e48de" /><Relationship Type="http://schemas.openxmlformats.org/officeDocument/2006/relationships/slide" Target="/ppt/slides/slide53.xml" Id="Rae06a11b466846c8" /><Relationship Type="http://schemas.openxmlformats.org/officeDocument/2006/relationships/slide" Target="/ppt/slides/slide54.xml" Id="R395f619b231d499f" /><Relationship Type="http://schemas.openxmlformats.org/officeDocument/2006/relationships/slide" Target="/ppt/slides/slide55.xml" Id="Rf7a76a28b8104a03" /><Relationship Type="http://schemas.openxmlformats.org/officeDocument/2006/relationships/slide" Target="/ppt/slides/slide56.xml" Id="R2a87c79b49584e13" /><Relationship Type="http://schemas.openxmlformats.org/officeDocument/2006/relationships/slide" Target="/ppt/slides/slide57.xml" Id="R9e77c06edc8a4601" /><Relationship Type="http://schemas.openxmlformats.org/officeDocument/2006/relationships/slide" Target="/ppt/slides/slide58.xml" Id="Ra908cbad3950456a" /><Relationship Type="http://schemas.openxmlformats.org/officeDocument/2006/relationships/slide" Target="/ppt/slides/slide59.xml" Id="Re483b542d0b349f7" /><Relationship Type="http://schemas.openxmlformats.org/officeDocument/2006/relationships/slide" Target="/ppt/slides/slide60.xml" Id="Rf8de04c1b9b74269" /><Relationship Type="http://schemas.openxmlformats.org/officeDocument/2006/relationships/slide" Target="/ppt/slides/slide61.xml" Id="R89726a978a3f4801" /><Relationship Type="http://schemas.openxmlformats.org/officeDocument/2006/relationships/slide" Target="/ppt/slides/slide62.xml" Id="R9469291b06df4d48" /><Relationship Type="http://schemas.openxmlformats.org/officeDocument/2006/relationships/slide" Target="/ppt/slides/slide63.xml" Id="Rc8ae495b3b5d4e8e" /><Relationship Type="http://schemas.openxmlformats.org/officeDocument/2006/relationships/slide" Target="/ppt/slides/slide64.xml" Id="Rb217049b21004587" /><Relationship Type="http://schemas.openxmlformats.org/officeDocument/2006/relationships/slide" Target="/ppt/slides/slide65.xml" Id="R6d03ad89147b4d33" /><Relationship Type="http://schemas.openxmlformats.org/officeDocument/2006/relationships/slide" Target="/ppt/slides/slide66.xml" Id="R79ca92a1f0a44638" /><Relationship Type="http://schemas.openxmlformats.org/officeDocument/2006/relationships/slide" Target="/ppt/slides/slide67.xml" Id="Rcf4c03d75477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1ee8bc6f6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5dc4e76fe499b" /><Relationship Type="http://schemas.openxmlformats.org/officeDocument/2006/relationships/notesMaster" Target="/ppt/notesMasters/notesMaster1.xml" Id="R9a44dc11c003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5700da9dc49b3" /><Relationship Type="http://schemas.openxmlformats.org/officeDocument/2006/relationships/notesMaster" Target="/ppt/notesMasters/notesMaster1.xml" Id="R07a76e478b6c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5af44e1db44b8d" /><Relationship Type="http://schemas.openxmlformats.org/officeDocument/2006/relationships/notesMaster" Target="/ppt/notesMasters/notesMaster1.xml" Id="Rdf76fcc74c7d4a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960325395246df" /><Relationship Type="http://schemas.openxmlformats.org/officeDocument/2006/relationships/notesMaster" Target="/ppt/notesMasters/notesMaster1.xml" Id="R79ba9469be4243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2f07ce5244d0b" /><Relationship Type="http://schemas.openxmlformats.org/officeDocument/2006/relationships/notesMaster" Target="/ppt/notesMasters/notesMaster1.xml" Id="R284849e8bbb547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7a8ae51956432a" /><Relationship Type="http://schemas.openxmlformats.org/officeDocument/2006/relationships/notesMaster" Target="/ppt/notesMasters/notesMaster1.xml" Id="R963afa72f799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7d69d911104e87" /><Relationship Type="http://schemas.openxmlformats.org/officeDocument/2006/relationships/notesMaster" Target="/ppt/notesMasters/notesMaster1.xml" Id="R9d4f9d1d0d7841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4f34d6ee94483c" /><Relationship Type="http://schemas.openxmlformats.org/officeDocument/2006/relationships/notesMaster" Target="/ppt/notesMasters/notesMaster1.xml" Id="R99abba5f9e29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b82e12da5145d5" /><Relationship Type="http://schemas.openxmlformats.org/officeDocument/2006/relationships/notesMaster" Target="/ppt/notesMasters/notesMaster1.xml" Id="Rcf64de0cdbe84c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f3907a69ce487a" /><Relationship Type="http://schemas.openxmlformats.org/officeDocument/2006/relationships/notesMaster" Target="/ppt/notesMasters/notesMaster1.xml" Id="Rc4a05028871849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e3c5e0e1c4c6c" /><Relationship Type="http://schemas.openxmlformats.org/officeDocument/2006/relationships/notesMaster" Target="/ppt/notesMasters/notesMaster1.xml" Id="Red1945d136d245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f6ba8b002348ea" /><Relationship Type="http://schemas.openxmlformats.org/officeDocument/2006/relationships/notesMaster" Target="/ppt/notesMasters/notesMaster1.xml" Id="Red31a9535d5448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4885fcd2b24b7d" /><Relationship Type="http://schemas.openxmlformats.org/officeDocument/2006/relationships/notesMaster" Target="/ppt/notesMasters/notesMaster1.xml" Id="Rb742c718f93540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a6705d239149e9" /><Relationship Type="http://schemas.openxmlformats.org/officeDocument/2006/relationships/notesMaster" Target="/ppt/notesMasters/notesMaster1.xml" Id="Ra874af33fea449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571bf4fc5c405e" /><Relationship Type="http://schemas.openxmlformats.org/officeDocument/2006/relationships/notesMaster" Target="/ppt/notesMasters/notesMaster1.xml" Id="Rebaa4a737daf4a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bf1d4a777c46b2" /><Relationship Type="http://schemas.openxmlformats.org/officeDocument/2006/relationships/notesMaster" Target="/ppt/notesMasters/notesMaster1.xml" Id="R1b687a01c89b4f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145e1ba8604a00" /><Relationship Type="http://schemas.openxmlformats.org/officeDocument/2006/relationships/notesMaster" Target="/ppt/notesMasters/notesMaster1.xml" Id="R75f299c54a3045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df8e70f4d64f20" /><Relationship Type="http://schemas.openxmlformats.org/officeDocument/2006/relationships/notesMaster" Target="/ppt/notesMasters/notesMaster1.xml" Id="R2065882681b44b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cd1d96bae0426f" /><Relationship Type="http://schemas.openxmlformats.org/officeDocument/2006/relationships/notesMaster" Target="/ppt/notesMasters/notesMaster1.xml" Id="R91a3450edda840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b02fc0de29475b" /><Relationship Type="http://schemas.openxmlformats.org/officeDocument/2006/relationships/notesMaster" Target="/ppt/notesMasters/notesMaster1.xml" Id="R9c376916557447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29836abd3a4c05" /><Relationship Type="http://schemas.openxmlformats.org/officeDocument/2006/relationships/notesMaster" Target="/ppt/notesMasters/notesMaster1.xml" Id="Rf65152cdef8b4f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d3a4f712044581" /><Relationship Type="http://schemas.openxmlformats.org/officeDocument/2006/relationships/notesMaster" Target="/ppt/notesMasters/notesMaster1.xml" Id="R4ac2d2c013ce43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3a45dafe2b45a5" /><Relationship Type="http://schemas.openxmlformats.org/officeDocument/2006/relationships/notesMaster" Target="/ppt/notesMasters/notesMaster1.xml" Id="R96104bc299884f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fd556dcabb48d0" /><Relationship Type="http://schemas.openxmlformats.org/officeDocument/2006/relationships/notesMaster" Target="/ppt/notesMasters/notesMaster1.xml" Id="R218ce7397e1444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2cde8123d24861" /><Relationship Type="http://schemas.openxmlformats.org/officeDocument/2006/relationships/notesMaster" Target="/ppt/notesMasters/notesMaster1.xml" Id="Rdae8dd5779bb4e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a56ec17ec447f1" /><Relationship Type="http://schemas.openxmlformats.org/officeDocument/2006/relationships/notesMaster" Target="/ppt/notesMasters/notesMaster1.xml" Id="Rc71c7e9a173e401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f2da0160aa94605" /><Relationship Type="http://schemas.openxmlformats.org/officeDocument/2006/relationships/notesMaster" Target="/ppt/notesMasters/notesMaster1.xml" Id="Rcee965d9eedb42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9bfd9229e2c45d7" /><Relationship Type="http://schemas.openxmlformats.org/officeDocument/2006/relationships/notesMaster" Target="/ppt/notesMasters/notesMaster1.xml" Id="Rd3918459875840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96470b37294a8c" /><Relationship Type="http://schemas.openxmlformats.org/officeDocument/2006/relationships/notesMaster" Target="/ppt/notesMasters/notesMaster1.xml" Id="Rc76e0ae1974944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a5d59de00694ba0" /><Relationship Type="http://schemas.openxmlformats.org/officeDocument/2006/relationships/notesMaster" Target="/ppt/notesMasters/notesMaster1.xml" Id="R67695d8a48cf42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0067b5171b4170" /><Relationship Type="http://schemas.openxmlformats.org/officeDocument/2006/relationships/notesMaster" Target="/ppt/notesMasters/notesMaster1.xml" Id="Ra64d90a1b45049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39a0ae9776424f" /><Relationship Type="http://schemas.openxmlformats.org/officeDocument/2006/relationships/notesMaster" Target="/ppt/notesMasters/notesMaster1.xml" Id="Rd7b49272fd0c41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6a96541b584723" /><Relationship Type="http://schemas.openxmlformats.org/officeDocument/2006/relationships/notesMaster" Target="/ppt/notesMasters/notesMaster1.xml" Id="Rda7fd6936b4941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86655ab89d54967" /><Relationship Type="http://schemas.openxmlformats.org/officeDocument/2006/relationships/notesMaster" Target="/ppt/notesMasters/notesMaster1.xml" Id="Rc0313be8400b4e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1d5a3ef32f44b9a" /><Relationship Type="http://schemas.openxmlformats.org/officeDocument/2006/relationships/notesMaster" Target="/ppt/notesMasters/notesMaster1.xml" Id="Rd308a307fe4943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a8ab8dc80740dc" /><Relationship Type="http://schemas.openxmlformats.org/officeDocument/2006/relationships/notesMaster" Target="/ppt/notesMasters/notesMaster1.xml" Id="R9baec5eda26d4c3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5623ceb1eaf46d4" /><Relationship Type="http://schemas.openxmlformats.org/officeDocument/2006/relationships/notesMaster" Target="/ppt/notesMasters/notesMaster1.xml" Id="R82995ac3f9b442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215d4c0d2dc413a" /><Relationship Type="http://schemas.openxmlformats.org/officeDocument/2006/relationships/notesMaster" Target="/ppt/notesMasters/notesMaster1.xml" Id="R70d012c52f014d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bf2c6bdf5d34589" /><Relationship Type="http://schemas.openxmlformats.org/officeDocument/2006/relationships/notesMaster" Target="/ppt/notesMasters/notesMaster1.xml" Id="R0585ceabb2074c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4521027903a4b5d" /><Relationship Type="http://schemas.openxmlformats.org/officeDocument/2006/relationships/notesMaster" Target="/ppt/notesMasters/notesMaster1.xml" Id="Rf77db25961604bf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4d33ea953764a9a" /><Relationship Type="http://schemas.openxmlformats.org/officeDocument/2006/relationships/notesMaster" Target="/ppt/notesMasters/notesMaster1.xml" Id="Rbf085dd8944249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95bbc7c2239408f" /><Relationship Type="http://schemas.openxmlformats.org/officeDocument/2006/relationships/notesMaster" Target="/ppt/notesMasters/notesMaster1.xml" Id="R31e528571a4a4f7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a626a88d3154ff8" /><Relationship Type="http://schemas.openxmlformats.org/officeDocument/2006/relationships/notesMaster" Target="/ppt/notesMasters/notesMaster1.xml" Id="R3069d4143327437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4f419c2505c4211" /><Relationship Type="http://schemas.openxmlformats.org/officeDocument/2006/relationships/notesMaster" Target="/ppt/notesMasters/notesMaster1.xml" Id="R2abe19dfb77e4aa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13f06967f874cb6" /><Relationship Type="http://schemas.openxmlformats.org/officeDocument/2006/relationships/notesMaster" Target="/ppt/notesMasters/notesMaster1.xml" Id="R97654d67eeeb425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dbb75701f41482c" /><Relationship Type="http://schemas.openxmlformats.org/officeDocument/2006/relationships/notesMaster" Target="/ppt/notesMasters/notesMaster1.xml" Id="R60e495beff804da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1e77646a2634e23" /><Relationship Type="http://schemas.openxmlformats.org/officeDocument/2006/relationships/notesMaster" Target="/ppt/notesMasters/notesMaster1.xml" Id="R2f235858cd45451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063e61767594593" /><Relationship Type="http://schemas.openxmlformats.org/officeDocument/2006/relationships/notesMaster" Target="/ppt/notesMasters/notesMaster1.xml" Id="R35c2a58dfe79463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56f106b985042f4" /><Relationship Type="http://schemas.openxmlformats.org/officeDocument/2006/relationships/notesMaster" Target="/ppt/notesMasters/notesMaster1.xml" Id="R1de95adbb2b6433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0636942c403446c" /><Relationship Type="http://schemas.openxmlformats.org/officeDocument/2006/relationships/notesMaster" Target="/ppt/notesMasters/notesMaster1.xml" Id="R70e4490926b843d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413aa67ad5e43ac" /><Relationship Type="http://schemas.openxmlformats.org/officeDocument/2006/relationships/notesMaster" Target="/ppt/notesMasters/notesMaster1.xml" Id="Raac71c2db8ed4a0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11f072c3a664955" /><Relationship Type="http://schemas.openxmlformats.org/officeDocument/2006/relationships/notesMaster" Target="/ppt/notesMasters/notesMaster1.xml" Id="Reb4d69888480477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63a9997ff6f4a30" /><Relationship Type="http://schemas.openxmlformats.org/officeDocument/2006/relationships/notesMaster" Target="/ppt/notesMasters/notesMaster1.xml" Id="R80d4e80263f44a8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9a8ffe6614a4b0f" /><Relationship Type="http://schemas.openxmlformats.org/officeDocument/2006/relationships/notesMaster" Target="/ppt/notesMasters/notesMaster1.xml" Id="R0edb2c05bd0b42e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5b0d370cfe64865" /><Relationship Type="http://schemas.openxmlformats.org/officeDocument/2006/relationships/notesMaster" Target="/ppt/notesMasters/notesMaster1.xml" Id="R8cce3c80ad524d2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0559e7fd0074131" /><Relationship Type="http://schemas.openxmlformats.org/officeDocument/2006/relationships/notesMaster" Target="/ppt/notesMasters/notesMaster1.xml" Id="R0be8bd596d7b47e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cc74915172b435a" /><Relationship Type="http://schemas.openxmlformats.org/officeDocument/2006/relationships/notesMaster" Target="/ppt/notesMasters/notesMaster1.xml" Id="R1875177118ff465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05bdb03f2e146f3" /><Relationship Type="http://schemas.openxmlformats.org/officeDocument/2006/relationships/notesMaster" Target="/ppt/notesMasters/notesMaster1.xml" Id="R68c06eb8c0fb42a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c81332723554844" /><Relationship Type="http://schemas.openxmlformats.org/officeDocument/2006/relationships/notesMaster" Target="/ppt/notesMasters/notesMaster1.xml" Id="R5668c89f2b8b442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4ece664e1024724" /><Relationship Type="http://schemas.openxmlformats.org/officeDocument/2006/relationships/notesMaster" Target="/ppt/notesMasters/notesMaster1.xml" Id="R1c2c2910999f4db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8454a52853e4f8d" /><Relationship Type="http://schemas.openxmlformats.org/officeDocument/2006/relationships/notesMaster" Target="/ppt/notesMasters/notesMaster1.xml" Id="Rdcdd7b41d611436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f64fd9b5e9949a9" /><Relationship Type="http://schemas.openxmlformats.org/officeDocument/2006/relationships/notesMaster" Target="/ppt/notesMasters/notesMaster1.xml" Id="Rcbac3e3b4c1641a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c254a10a0c144fc" /><Relationship Type="http://schemas.openxmlformats.org/officeDocument/2006/relationships/notesMaster" Target="/ppt/notesMasters/notesMaster1.xml" Id="R36536dad0a7d433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99907f6b2384df8" /><Relationship Type="http://schemas.openxmlformats.org/officeDocument/2006/relationships/notesMaster" Target="/ppt/notesMasters/notesMaster1.xml" Id="R1a0a918b69bd4a1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d22a7536b084337" /><Relationship Type="http://schemas.openxmlformats.org/officeDocument/2006/relationships/notesMaster" Target="/ppt/notesMasters/notesMaster1.xml" Id="Ra7d4ab3d687849c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5f3e9ea2c284873" /><Relationship Type="http://schemas.openxmlformats.org/officeDocument/2006/relationships/notesMaster" Target="/ppt/notesMasters/notesMaster1.xml" Id="R7e2fdcee63f04dd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db7733cb7ef48cb" /><Relationship Type="http://schemas.openxmlformats.org/officeDocument/2006/relationships/notesMaster" Target="/ppt/notesMasters/notesMaster1.xml" Id="R8c81eacf65bd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食材管理 v4</a:t>
            </a:r>
          </a:p>
          <a:p xmlns:a="http://schemas.openxmlformats.org/drawingml/2006/main">
            <a:r>
              <a:t>从零配置，到出餐扣减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这次要完成什么？</a:t>
            </a:r>
          </a:p>
          <a:p xmlns:a="http://schemas.openxmlformats.org/drawingml/2006/main">
            <a:r>
              <a:t>截图来自当前 v4 页面，使用演示数据。日期、价格、保质期与出成率均为教学示例；实际按本店标准填写。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先确认门店和员工身份</a:t>
            </a:r>
          </a:p>
          <a:p xmlns:a="http://schemas.openxmlformats.org/drawingml/2006/main">
            <a:r>
              <a:t>沿用已有员工认证。实际可操作范围由门店员工权限与店长权限共同决定；不要共享他人的登录身份。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从“更多”开始初始化</a:t>
            </a:r>
          </a:p>
          <a:p xmlns:a="http://schemas.openxmlformats.org/drawingml/2006/main">
            <a:r>
              <a:t>先建档，后入库；先得到出品态，后出餐。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 新增一级区域：吧台</a:t>
            </a:r>
          </a:p>
          <a:p xmlns:a="http://schemas.openxmlformats.org/drawingml/2006/main">
            <a:r>
              <a:t>保存后，应在区域树中看到“吧台”。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 新增二级区域：冷藏柜</a:t>
            </a:r>
          </a:p>
          <a:p xmlns:a="http://schemas.openxmlformats.org/drawingml/2006/main">
            <a:r>
              <a:t>采购入库要选启用的二级区域。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一级区域可以收起下级区域</a:t>
            </a:r>
          </a:p>
          <a:p xmlns:a="http://schemas.openxmlformats.org/drawingml/2006/main">
            <a:r>
              <a:t>区域最多两级。已有绑定时，应停用并保留历史。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 新增一级分类：乳制品</a:t>
            </a:r>
          </a:p>
          <a:p xmlns:a="http://schemas.openxmlformats.org/drawingml/2006/main">
            <a:r>
              <a:t>入库时先选“乳制品”，再选“鲜奶”。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  二级分类决定默认属性</a:t>
            </a:r>
          </a:p>
          <a:p xmlns:a="http://schemas.openxmlformats.org/drawingml/2006/main">
            <a:r>
              <a:t>2 天与 3 天仅为示例。分类默认属性及食材覆盖遵循当前 v4 后端；保质期应按产品标签与本店标准配置。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  配置未开封的保质期规则</a:t>
            </a:r>
          </a:p>
          <a:p xmlns:a="http://schemas.openxmlformats.org/drawingml/2006/main">
            <a:r>
              <a:t>14 天为演示规则，不能替代商品包装标识。生产日期 2026-10-06 的本例，到期预览为 2026-10-20。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  先建最终能出餐的形态</a:t>
            </a:r>
          </a:p>
          <a:p xmlns:a="http://schemas.openxmlformats.org/drawingml/2006/main">
            <a:r>
              <a:t>当前新建档案页面保存后若列表未及时显示，重新进入进货规格与链路页即可；教程截图重新进入后继续。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  往上游加：独立桶</a:t>
            </a:r>
          </a:p>
          <a:p xmlns:a="http://schemas.openxmlformats.org/drawingml/2006/main">
            <a:r>
              <a:t>分类的开封默认值用于封装开封等流程；链路作业按目标形态的作业后保质字段计算。新加上游时填写 shelfAfterOpDays，服务器写到转换目标形态。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有整箱采购时，再加一层</a:t>
            </a:r>
          </a:p>
          <a:p xmlns:a="http://schemas.openxmlformats.org/drawingml/2006/main">
            <a:r>
              <a:t>每单位基本量始终用基本单位；本例是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  核对形态与作业链路</a:t>
            </a:r>
          </a:p>
          <a:p xmlns:a="http://schemas.openxmlformats.org/drawingml/2006/main">
            <a:r>
              <a:t>本例按桶采购，从“独立桶”这一层入库。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  进货规格指定从哪层入库</a:t>
            </a:r>
          </a:p>
          <a:p xmlns:a="http://schemas.openxmlformats.org/drawingml/2006/main">
            <a:r>
              <a:t>选这个规格后，入库数量的单位就是“桶”。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 入库按一级、二级逐层筛选</a:t>
            </a:r>
          </a:p>
          <a:p xmlns:a="http://schemas.openxmlformats.org/drawingml/2006/main">
            <a:r>
              <a:t>更换分类后，需要重新选食材和规格。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 核对区域、日期与到期预览</a:t>
            </a:r>
          </a:p>
          <a:p xmlns:a="http://schemas.openxmlformats.org/drawingml/2006/main">
            <a:r>
              <a:t>截图使用演示数据，未实际上传或识别照片。包装有明确到期日时按包装填写。预览批号不占号，正式提交时服务器重新生成。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 数量按规格单位填写</a:t>
            </a:r>
          </a:p>
          <a:p xmlns:a="http://schemas.openxmlformats.org/drawingml/2006/main">
            <a:r>
              <a:t>2 桶对应 4000 ml；此时只是草稿，库存还没增加。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 确认入库，才真正增加库存</a:t>
            </a:r>
          </a:p>
          <a:p xmlns:a="http://schemas.openxmlformats.org/drawingml/2006/main">
            <a:r>
              <a:t>当前页面的入库草稿刷新后会消失。已正式入库的批次在 10 分钟窗口内可撤销；存在后续业务时由服务端判断是否允许撤销。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 入库后还不能直接出餐</a:t>
            </a:r>
          </a:p>
          <a:p xmlns:a="http://schemas.openxmlformats.org/drawingml/2006/main">
            <a:r>
              <a:t>“有库存”不等于“有可出餐库存”。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 在作业页找到可作业批次</a:t>
            </a:r>
          </a:p>
          <a:p xmlns:a="http://schemas.openxmlformats.org/drawingml/2006/main">
            <a:r>
              <a:t>建议作业只是提示；点击预览也不会改库存。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  预览并填实际开盖产出</a:t>
            </a:r>
          </a:p>
          <a:p xmlns:a="http://schemas.openxmlformats.org/drawingml/2006/main">
            <a:r>
              <a:t>实际产出不能照抄预测，必须根据现场实测。1 桶 = 2000 ml，98% 仅为本例标准出成率。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  核对作业损耗与到期</a:t>
            </a:r>
          </a:p>
          <a:p xmlns:a="http://schemas.openxmlformats.org/drawingml/2006/main">
            <a:r>
              <a:t>本例开盖时间为 2026-10-06、作业后保质 3 天。耗时 0 小时则立即就绪；有耗时的作业要等就绪，店长才可提前完成。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 库存分成两种形态</a:t>
            </a:r>
          </a:p>
          <a:p xmlns:a="http://schemas.openxmlformats.org/drawingml/2006/main">
            <a:r>
              <a:t>接下来用 1960 ml 配置并出餐。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  新增菜品：热牛奶</a:t>
            </a:r>
          </a:p>
          <a:p xmlns:a="http://schemas.openxmlformats.org/drawingml/2006/main">
            <a:r>
              <a:t>同一菜品的不同规格，分别维护用料。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 配方填每一份的用量</a:t>
            </a:r>
          </a:p>
          <a:p xmlns:a="http://schemas.openxmlformats.org/drawingml/2006/main">
            <a:r>
              <a:t>这里填每杯 200 ml，不填两杯合计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 菜品页会显示可出餐份数</a:t>
            </a:r>
          </a:p>
          <a:p xmlns:a="http://schemas.openxmlformats.org/drawingml/2006/main">
            <a:r>
              <a:t>发布配方只保存配置，不会提前扣库存。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 创建两杯热牛奶的厨房单</a:t>
            </a:r>
          </a:p>
          <a:p xmlns:a="http://schemas.openxmlformats.org/drawingml/2006/main">
            <a:r>
              <a:t>当前 v4 未接入美团自动订单导入。不要按旧教程等待外部平台订单自动出现。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  从待出餐订单开始</a:t>
            </a:r>
          </a:p>
          <a:p xmlns:a="http://schemas.openxmlformats.org/drawingml/2006/main">
            <a:r>
              <a:t>两杯 × 每杯 200 ml = 本单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 确认总用料，再出餐扣减</a:t>
            </a:r>
          </a:p>
          <a:p xmlns:a="http://schemas.openxmlformats.org/drawingml/2006/main">
            <a:r>
              <a:t>“确认出餐并扣减”才真正减少食材库存。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 出餐成功后，核对扣减结果</a:t>
            </a:r>
          </a:p>
          <a:p xmlns:a="http://schemas.openxmlformats.org/drawingml/2006/main">
            <a:r>
              <a:t>成功后不要重新建同一张单再扣一次。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 流水能追溯到具体批次</a:t>
            </a:r>
          </a:p>
          <a:p xmlns:a="http://schemas.openxmlformats.org/drawingml/2006/main">
            <a:r>
              <a:t>本例鲜牛奶合计扣减 400 ml，短缺 0。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  回库存看最后的余额</a:t>
            </a:r>
          </a:p>
          <a:p xmlns:a="http://schemas.openxmlformats.org/drawingml/2006/main">
            <a:r>
              <a:t>1960 − 400 = 1560 ml；这是本次练习的终点。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把这笔业务完整对上</a:t>
            </a:r>
          </a:p>
          <a:p xmlns:a="http://schemas.openxmlformats.org/drawingml/2006/main">
            <a:r>
              <a:t>2000 + 1560 + 400 + 40 = 4000 ml。核对时把未作业、可用、已消耗和损耗一起看。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需要标签时，从批次详情打印</a:t>
            </a:r>
          </a:p>
          <a:p xmlns:a="http://schemas.openxmlformats.org/drawingml/2006/main">
            <a:r>
              <a:t>标签内容随实际批次生成，不能照抄教程批号。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蓝牙打印继续用原来的模块</a:t>
            </a:r>
          </a:p>
          <a:p xmlns:a="http://schemas.openxmlformats.org/drawingml/2006/main">
            <a:r>
              <a:t>复用既有蓝牙打印模块。截图没有真实硬件连接或打印，不能作为打印机真机验收结果。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扩展：半成品要用专属分类</a:t>
            </a:r>
          </a:p>
          <a:p xmlns:a="http://schemas.openxmlformats.org/drawingml/2006/main">
            <a:r>
              <a:t>以下奶冻示例是可选分支，不计入前面的余额核对。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半成品配方按“每批”填写</a:t>
            </a:r>
          </a:p>
          <a:p xmlns:a="http://schemas.openxmlformats.org/drawingml/2006/main">
            <a:r>
              <a:t>仅用于解释数量录入，奶冻配方并非完整食品制作配方。实际配方需要填写所有原料与本店的储存、保质期规则。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半成品确认制作也会改库存</a:t>
            </a:r>
          </a:p>
          <a:p xmlns:a="http://schemas.openxmlformats.org/drawingml/2006/main">
            <a:r>
              <a:t>本教程只预览这条分支，未实际扣掉那 500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扩展：为区域配置检查项</a:t>
            </a:r>
          </a:p>
          <a:p xmlns:a="http://schemas.openxmlformats.org/drawingml/2006/main">
            <a:r>
              <a:t>0～5 为界面示例，不是食品安全法规或通用冷藏建议。实际阈值应按产品及本店制度设置。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开门检查：提交后还需店长确认</a:t>
            </a:r>
          </a:p>
          <a:p xmlns:a="http://schemas.openxmlformats.org/drawingml/2006/main">
            <a:r>
              <a:t>检查可先保存草稿。提交后的原始检查结果保留；店长追加处理与确认不会改写原始填报。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盘点：保存实盘和过账分开</a:t>
            </a:r>
          </a:p>
          <a:p xmlns:a="http://schemas.openxmlformats.org/drawingml/2006/main">
            <a:r>
              <a:t>这里只演示填写，未过账；主线余额仍是 1560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看板和 Excel 用于检查链路</a:t>
            </a:r>
          </a:p>
          <a:p xmlns:a="http://schemas.openxmlformats.org/drawingml/2006/main">
            <a:r>
              <a:t>此导出是配方与采购作业链路，不是全部库存流水。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卡住时，按现象排查</a:t>
            </a:r>
          </a:p>
          <a:p xmlns:a="http://schemas.openxmlformats.org/drawingml/2006/main">
            <a:r>
              <a:t>维护按钮缺失先核对员工角色与当前门店。入库、作业和出餐成功后，分别查看批次、作业记录和扣减流水。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每天按这张清单操作</a:t>
            </a:r>
          </a:p>
          <a:p xmlns:a="http://schemas.openxmlformats.org/drawingml/2006/main">
            <a:r>
              <a:t>练习终点：剩余 1560 ml；出餐流水扣减 400 ml。</a:t>
            </a:r>
          </a:p>
          <a:p xmlns:a="http://schemas.openxmlformats.org/drawingml/2006/main">
            <a:r>
              <a:t>适用版本：SnowmeetApi ai@9c5d46c98df1dcad795966713b00c014b3d8954e，2026-10-06 已记录部署版本。</a:t>
            </a:r>
          </a:p>
          <a:p xmlns:a="http://schemas.openxmlformats.org/drawingml/2006/main">
            <a:r>
              <a:t>画面：当前 wwwroot/fnb/v4 前端在隔离环境使用演示数据生成；未连接生产库、未提交生产业务。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进阶示例</a:t>
            </a:r>
          </a:p>
          <a:p xmlns:a="http://schemas.openxmlformats.org/drawingml/2006/main">
            <a:r>
              <a:t>帕斯雀牛肉披萨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这次要准备什么？</a:t>
            </a:r>
          </a:p>
          <a:p xmlns:a="http://schemas.openxmlformats.org/drawingml/2006/main">
            <a:r>
              <a:t>百分比是标准出成率，数值为教学示例。本例直接用面粉；面团也可先做成半成品（第37–39页）。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先建分类和存放区域</a:t>
            </a:r>
          </a:p>
          <a:p xmlns:a="http://schemas.openxmlformats.org/drawingml/2006/main">
            <a:r>
              <a:t>作业后保质：奶酪、熟肉3天，酱料5天，面粉和包材留空。区域：后厨下建冷藏柜、干货架。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辅料单独建一个分类：按件数</a:t>
            </a:r>
          </a:p>
          <a:p xmlns:a="http://schemas.openxmlformats.org/drawingml/2006/main">
            <a:r>
              <a:t>按件数的分类，基本单位是「个」。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新建辅料：先选一级分类</a:t>
            </a:r>
          </a:p>
          <a:p xmlns:a="http://schemas.openxmlformats.org/drawingml/2006/main">
            <a:r>
              <a:t>保存后若链路页没出现新食材，从「更多」重新进入。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帕斯雀牛肉：加上游形态</a:t>
            </a:r>
          </a:p>
          <a:p xmlns:a="http://schemas.openxmlformats.org/drawingml/2006/main">
            <a:r>
              <a:t>其余5样按第47页的表，同样先建出品态、再加上游。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链路建好，再加进货规格</a:t>
            </a:r>
          </a:p>
          <a:p xmlns:a="http://schemas.openxmlformats.org/drawingml/2006/main">
            <a:r>
              <a:t>本例6样都是「采购态 → 一次作业 → 出品态」。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入库：一行一样，先加入清单</a:t>
            </a:r>
          </a:p>
          <a:p xmlns:a="http://schemas.openxmlformats.org/drawingml/2006/main">
            <a:r>
              <a:t>6样逐一加入清单，最后一次确认入库。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核对清单后，一次确认入库</a:t>
            </a:r>
          </a:p>
          <a:p xmlns:a="http://schemas.openxmlformats.org/drawingml/2006/main">
            <a:r>
              <a:t>清单不改库存；确认入库后才写入批次。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入库后：6个批次都待作业</a:t>
            </a:r>
          </a:p>
          <a:p xmlns:a="http://schemas.openxmlformats.org/drawingml/2006/main">
            <a:r>
              <a:t>本次入库金额共1065元。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作业：马苏里拉刨丝1块</a:t>
            </a:r>
          </a:p>
          <a:p xmlns:a="http://schemas.openxmlformats.org/drawingml/2006/main">
            <a:r>
              <a:t>刨丝后到期2026-10-21；未开的另一块到期日不变。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六个作业：投入与实际产出</a:t>
            </a:r>
          </a:p>
          <a:p xmlns:a="http://schemas.openxmlformats.org/drawingml/2006/main">
            <a:r>
              <a:t>面粉、包材没填作业后保质，沿用原到期日。实际产出低于标准出成率时，页面会提示，损耗计入报表。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配方：每份披萨6行用料</a:t>
            </a:r>
          </a:p>
          <a:p xmlns:a="http://schemas.openxmlformats.org/drawingml/2006/main">
            <a:r>
              <a:t>配方按1份填写；发布配方不扣库存。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发布后：直接算出可出份数</a:t>
            </a:r>
          </a:p>
          <a:p xmlns:a="http://schemas.openxmlformats.org/drawingml/2006/main">
            <a:r>
              <a:t>只算出品态库存；采购态要先作业才算。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库存页：每样还能出几份</a:t>
            </a:r>
          </a:p>
          <a:p xmlns:a="http://schemas.openxmlformats.org/drawingml/2006/main">
            <a:r>
              <a:t>牛肉13份最少，这道菜现在能出13份。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新建厨房单：A3桌2份</a:t>
            </a:r>
          </a:p>
          <a:p xmlns:a="http://schemas.openxmlformats.org/drawingml/2006/main">
            <a:r>
              <a:t>一单多道菜时，点「+ 添加菜品」继续加。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出餐预览：按2份自动汇总</a:t>
            </a:r>
          </a:p>
          <a:p xmlns:a="http://schemas.openxmlformats.org/drawingml/2006/main">
            <a:r>
              <a:t>预览不扣库存。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按顾客要求微调用量</a:t>
            </a:r>
          </a:p>
          <a:p xmlns:a="http://schemas.openxmlformats.org/drawingml/2006/main">
            <a:r>
              <a:t>微调只改这一单，不改配方；填0表示不用。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确认出餐，按实际用量扣减</a:t>
            </a:r>
          </a:p>
          <a:p xmlns:a="http://schemas.openxmlformats.org/drawingml/2006/main">
            <a:r>
              <a:t>扣的是出品态批次，未开的奶酪和牛肉不动。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扣减流水：每样扣了哪个批次</a:t>
            </a:r>
          </a:p>
          <a:p xmlns:a="http://schemas.openxmlformats.org/drawingml/2006/main">
            <a:r>
              <a:t>一单一条流水；扣到多个批次时分行列出。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扣减核对</a:t>
            </a:r>
          </a:p>
          <a:p xmlns:a="http://schemas.openxmlformats.org/drawingml/2006/main">
            <a:r>
              <a:t>奶酪2170 + 280 + 损耗50 + 未开2500 = 入库5000g；牛肉830 + 140 + 30 + 1000 = 2000g。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出餐后：库存和可出份数一起变</a:t>
            </a:r>
          </a:p>
          <a:p xmlns:a="http://schemas.openxmlformats.org/drawingml/2006/main">
            <a:r>
              <a:t>每天看库存页决定开不开新的一块，临期的先用。</a:t>
            </a:r>
          </a:p>
          <a:p xmlns:a="http://schemas.openxmlformats.org/drawingml/2006/main">
            <a:r>
              <a:t>适用版本：SnowmeetApi ai@7a9cc267（2026-10-16 已部署），含新建食材先选一级分类。</a:t>
            </a:r>
          </a:p>
          <a:p xmlns:a="http://schemas.openxmlformats.org/drawingml/2006/main">
            <a:r>
              <a:t>画面：当前 wwwroot/fnb/v4 页面 + 本机运行的 SnowmeetApi + 本机 LocalDB 演示库，入库、作业、出餐由真实接口计算；未连接生产库。</a:t>
            </a:r>
          </a:p>
          <a:p xmlns:a="http://schemas.openxmlformats.org/drawingml/2006/main">
            <a:r>
              <a:t>依据：snowmeet_ai_doc/docs/fnb/2026-10-06-fnb-v4-h5.md、2026-10-06-fnb-v4-api-contract.md、2026-10-06-fnb-v4-operations-api.md；SnowmeetApi/wwwroot/fnb/v4/app.js、operations.js；Services/Fnb/FnbV4CatalogService.cs、FnbV4Service.cs、FnbV4OperationService.cs、FnbV4KitchenService.cs。</a:t>
            </a:r>
          </a:p>
          <a:p xmlns:a="http://schemas.openxmlformats.org/drawingml/2006/main">
            <a:r>
              <a:t>原资料：D:/Downloads/食材管理-从零上手操作说明.pptx，仅作为主题参考；本页入口和按钮以当前界面为准。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01ae59e3e4a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5f1da5fb84f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6aa22500440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0fca6554247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5239de5834e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41da761184a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9B0A7C-1CF4-4C50-8257-A0DEDFFF4B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DD7DD-8176-4FC7-8F24-6A9C7FAD40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FB5FAD-3D76-4A3E-BC9A-5AE8E6A29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AB2482-FA34-4E53-8B25-CE5AF3064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D0FA2F-1246-4D5D-A809-B322AD6216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DF5B9C-167E-467C-9E95-051D90DA6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1E1B28-AEAE-472D-BAC2-BCA239EB76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4443FC-5C47-4463-8D3A-A13DCB4104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49794F-0770-4469-BF9E-DB676DB76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3511FC-0498-4756-AE9E-2E9E6DD8A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171cfe59f04291" /><Relationship Type="http://schemas.openxmlformats.org/officeDocument/2006/relationships/slideLayout" Target="/ppt/slideLayouts/slideLayout1.xml" Id="R4bbdee42434249fa" /><Relationship Type="http://schemas.openxmlformats.org/officeDocument/2006/relationships/slideLayout" Target="/ppt/slideLayouts/slideLayout2.xml" Id="R139f984043a948c6" /><Relationship Type="http://schemas.openxmlformats.org/officeDocument/2006/relationships/slideLayout" Target="/ppt/slideLayouts/slideLayout3.xml" Id="Reca720f03f3140bc" /><Relationship Type="http://schemas.openxmlformats.org/officeDocument/2006/relationships/slideLayout" Target="/ppt/slideLayouts/slideLayout4.xml" Id="Rb8619cf88b9342a9" /><Relationship Type="http://schemas.openxmlformats.org/officeDocument/2006/relationships/slideLayout" Target="/ppt/slideLayouts/slideLayout5.xml" Id="R15e2e6fddbe54389" /><Relationship Type="http://schemas.openxmlformats.org/officeDocument/2006/relationships/slideLayout" Target="/ppt/slideLayouts/slideLayout6.xml" Id="R42f90b716824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bdee42434249fa"/>
    <p:sldLayoutId xmlns:r="http://schemas.openxmlformats.org/officeDocument/2006/relationships" id="2147483650" r:id="R139f984043a948c6"/>
    <p:sldLayoutId xmlns:r="http://schemas.openxmlformats.org/officeDocument/2006/relationships" id="2147483651" r:id="Reca720f03f3140bc"/>
    <p:sldLayoutId xmlns:r="http://schemas.openxmlformats.org/officeDocument/2006/relationships" id="2147483652" r:id="Rb8619cf88b9342a9"/>
    <p:sldLayoutId xmlns:r="http://schemas.openxmlformats.org/officeDocument/2006/relationships" id="2147483653" r:id="R15e2e6fddbe54389"/>
    <p:sldLayoutId xmlns:r="http://schemas.openxmlformats.org/officeDocument/2006/relationships" id="2147483654" r:id="R42f90b716824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dc3148f064b59" /><Relationship Type="http://schemas.openxmlformats.org/officeDocument/2006/relationships/image" Target="/ppt/media/image.png" Id="R547d662c8f624465" /><Relationship Type="http://schemas.openxmlformats.org/officeDocument/2006/relationships/notesSlide" Target="/ppt/notesSlides/notesSlide1.xml" Id="Rb60fa1985bc348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cbb41a0c644ec" /><Relationship Type="http://schemas.openxmlformats.org/officeDocument/2006/relationships/notesSlide" Target="/ppt/notesSlides/notesSlide2.xml" Id="R57d562b39e7d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3e037bb3248f6" /><Relationship Type="http://schemas.openxmlformats.org/officeDocument/2006/relationships/image" Target="/ppt/media/image2.png" Id="R51cf76dde47a4e3b" /><Relationship Type="http://schemas.openxmlformats.org/officeDocument/2006/relationships/notesSlide" Target="/ppt/notesSlides/notesSlide3.xml" Id="R1dfd1214392a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82ada45bd4c59" /><Relationship Type="http://schemas.openxmlformats.org/officeDocument/2006/relationships/image" Target="/ppt/media/image3.png" Id="R5b46bff0fbd54180" /><Relationship Type="http://schemas.openxmlformats.org/officeDocument/2006/relationships/notesSlide" Target="/ppt/notesSlides/notesSlide4.xml" Id="R9dad95c6dc31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130fc26d44f2f" /><Relationship Type="http://schemas.openxmlformats.org/officeDocument/2006/relationships/image" Target="/ppt/media/image4.png" Id="R9570edb3a2c4460f" /><Relationship Type="http://schemas.openxmlformats.org/officeDocument/2006/relationships/notesSlide" Target="/ppt/notesSlides/notesSlide5.xml" Id="Rd4c42ebe9a26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452206315446b" /><Relationship Type="http://schemas.openxmlformats.org/officeDocument/2006/relationships/image" Target="/ppt/media/image5.png" Id="R25d9c80d1f1b4904" /><Relationship Type="http://schemas.openxmlformats.org/officeDocument/2006/relationships/notesSlide" Target="/ppt/notesSlides/notesSlide6.xml" Id="R77aea19aa91b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b0dcad22f41c7" /><Relationship Type="http://schemas.openxmlformats.org/officeDocument/2006/relationships/image" Target="/ppt/media/image6.png" Id="R6e75756847f74254" /><Relationship Type="http://schemas.openxmlformats.org/officeDocument/2006/relationships/notesSlide" Target="/ppt/notesSlides/notesSlide7.xml" Id="Rd007345c782b40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8fc6612d04731" /><Relationship Type="http://schemas.openxmlformats.org/officeDocument/2006/relationships/image" Target="/ppt/media/image7.png" Id="Ra75952ae92e645fd" /><Relationship Type="http://schemas.openxmlformats.org/officeDocument/2006/relationships/notesSlide" Target="/ppt/notesSlides/notesSlide8.xml" Id="R5aa1d2be3fb74b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34568cc0b439e" /><Relationship Type="http://schemas.openxmlformats.org/officeDocument/2006/relationships/image" Target="/ppt/media/image8.png" Id="R64796e4e3fc74dc1" /><Relationship Type="http://schemas.openxmlformats.org/officeDocument/2006/relationships/notesSlide" Target="/ppt/notesSlides/notesSlide9.xml" Id="Radd4310ba37348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a75f38d3c4b12" /><Relationship Type="http://schemas.openxmlformats.org/officeDocument/2006/relationships/image" Target="/ppt/media/image9.png" Id="R5a6e7d3679c5427f" /><Relationship Type="http://schemas.openxmlformats.org/officeDocument/2006/relationships/notesSlide" Target="/ppt/notesSlides/notesSlide10.xml" Id="Rb8456b03c0e34c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92a85aa25462c" /><Relationship Type="http://schemas.openxmlformats.org/officeDocument/2006/relationships/image" Target="/ppt/media/image10.png" Id="R1370483927ff463c" /><Relationship Type="http://schemas.openxmlformats.org/officeDocument/2006/relationships/notesSlide" Target="/ppt/notesSlides/notesSlide11.xml" Id="R5105d3fe9ce44a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f13ec9b044b5e" /><Relationship Type="http://schemas.openxmlformats.org/officeDocument/2006/relationships/image" Target="/ppt/media/image11.png" Id="R0743ff2867764c49" /><Relationship Type="http://schemas.openxmlformats.org/officeDocument/2006/relationships/notesSlide" Target="/ppt/notesSlides/notesSlide12.xml" Id="R22bab88d32fe4f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dda8b36c1470a" /><Relationship Type="http://schemas.openxmlformats.org/officeDocument/2006/relationships/image" Target="/ppt/media/image12.png" Id="Re490598565114720" /><Relationship Type="http://schemas.openxmlformats.org/officeDocument/2006/relationships/notesSlide" Target="/ppt/notesSlides/notesSlide13.xml" Id="Rfd38090975d642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49eb21ff140ab" /><Relationship Type="http://schemas.openxmlformats.org/officeDocument/2006/relationships/image" Target="/ppt/media/image13.png" Id="R01c215bfafd9438f" /><Relationship Type="http://schemas.openxmlformats.org/officeDocument/2006/relationships/notesSlide" Target="/ppt/notesSlides/notesSlide14.xml" Id="R72305a5a86224e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63123021c4e0c" /><Relationship Type="http://schemas.openxmlformats.org/officeDocument/2006/relationships/image" Target="/ppt/media/image14.png" Id="Re5d46404f1384842" /><Relationship Type="http://schemas.openxmlformats.org/officeDocument/2006/relationships/notesSlide" Target="/ppt/notesSlides/notesSlide15.xml" Id="R0420b0cd3fbc44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fb35c30a046d3" /><Relationship Type="http://schemas.openxmlformats.org/officeDocument/2006/relationships/image" Target="/ppt/media/image15.png" Id="R8f399219363a4e46" /><Relationship Type="http://schemas.openxmlformats.org/officeDocument/2006/relationships/notesSlide" Target="/ppt/notesSlides/notesSlide16.xml" Id="Rdacc86a29cd649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26f24c2c446f3" /><Relationship Type="http://schemas.openxmlformats.org/officeDocument/2006/relationships/image" Target="/ppt/media/image16.png" Id="R966c993d6cba4b7b" /><Relationship Type="http://schemas.openxmlformats.org/officeDocument/2006/relationships/notesSlide" Target="/ppt/notesSlides/notesSlide17.xml" Id="Re5b306f86c4b4c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4e23bb2844a1a" /><Relationship Type="http://schemas.openxmlformats.org/officeDocument/2006/relationships/image" Target="/ppt/media/image17.png" Id="R3f5a6890fcc542fd" /><Relationship Type="http://schemas.openxmlformats.org/officeDocument/2006/relationships/notesSlide" Target="/ppt/notesSlides/notesSlide18.xml" Id="R44a205a631ee48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21ce042c14971" /><Relationship Type="http://schemas.openxmlformats.org/officeDocument/2006/relationships/image" Target="/ppt/media/image18.png" Id="R2898560c045b498f" /><Relationship Type="http://schemas.openxmlformats.org/officeDocument/2006/relationships/notesSlide" Target="/ppt/notesSlides/notesSlide19.xml" Id="Rad018f176fa04f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8a317ab444045" /><Relationship Type="http://schemas.openxmlformats.org/officeDocument/2006/relationships/image" Target="/ppt/media/image19.png" Id="Rf52f6f8864904803" /><Relationship Type="http://schemas.openxmlformats.org/officeDocument/2006/relationships/notesSlide" Target="/ppt/notesSlides/notesSlide20.xml" Id="R8edfd44af2d849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d983ad5ce4e87" /><Relationship Type="http://schemas.openxmlformats.org/officeDocument/2006/relationships/image" Target="/ppt/media/image20.png" Id="Rb01f2610f1884971" /><Relationship Type="http://schemas.openxmlformats.org/officeDocument/2006/relationships/notesSlide" Target="/ppt/notesSlides/notesSlide21.xml" Id="R9495663b785046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d7c5bfa3643d5" /><Relationship Type="http://schemas.openxmlformats.org/officeDocument/2006/relationships/image" Target="/ppt/media/image21.png" Id="Re4d95d08747b414c" /><Relationship Type="http://schemas.openxmlformats.org/officeDocument/2006/relationships/notesSlide" Target="/ppt/notesSlides/notesSlide22.xml" Id="R9c4b68b4914f4f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278170ef44365" /><Relationship Type="http://schemas.openxmlformats.org/officeDocument/2006/relationships/image" Target="/ppt/media/image22.png" Id="R8e49fc7c11484e09" /><Relationship Type="http://schemas.openxmlformats.org/officeDocument/2006/relationships/notesSlide" Target="/ppt/notesSlides/notesSlide23.xml" Id="Rb4330306855240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e732c378549ba" /><Relationship Type="http://schemas.openxmlformats.org/officeDocument/2006/relationships/image" Target="/ppt/media/image23.png" Id="R1f5b68381d074523" /><Relationship Type="http://schemas.openxmlformats.org/officeDocument/2006/relationships/notesSlide" Target="/ppt/notesSlides/notesSlide24.xml" Id="R5e6290af3b5d47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b9194bcbc4bd1" /><Relationship Type="http://schemas.openxmlformats.org/officeDocument/2006/relationships/image" Target="/ppt/media/image24.png" Id="R52fb68c6023141ab" /><Relationship Type="http://schemas.openxmlformats.org/officeDocument/2006/relationships/notesSlide" Target="/ppt/notesSlides/notesSlide25.xml" Id="R97b629b7c30747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fdc34eb234e89" /><Relationship Type="http://schemas.openxmlformats.org/officeDocument/2006/relationships/image" Target="/ppt/media/image25.png" Id="R02826a9befa643b1" /><Relationship Type="http://schemas.openxmlformats.org/officeDocument/2006/relationships/notesSlide" Target="/ppt/notesSlides/notesSlide26.xml" Id="R0da46e1c7ceb4f7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161949b9e47c3" /><Relationship Type="http://schemas.openxmlformats.org/officeDocument/2006/relationships/image" Target="/ppt/media/image26.png" Id="R380c574c12f54320" /><Relationship Type="http://schemas.openxmlformats.org/officeDocument/2006/relationships/notesSlide" Target="/ppt/notesSlides/notesSlide27.xml" Id="Ra797bde80d1048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c7e09e1304672" /><Relationship Type="http://schemas.openxmlformats.org/officeDocument/2006/relationships/image" Target="/ppt/media/image27.png" Id="R1af585d02ff9413b" /><Relationship Type="http://schemas.openxmlformats.org/officeDocument/2006/relationships/notesSlide" Target="/ppt/notesSlides/notesSlide28.xml" Id="R5b0fa446f1c74b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2cfeace6243ef" /><Relationship Type="http://schemas.openxmlformats.org/officeDocument/2006/relationships/image" Target="/ppt/media/image28.png" Id="R3e7272ec370c4cec" /><Relationship Type="http://schemas.openxmlformats.org/officeDocument/2006/relationships/notesSlide" Target="/ppt/notesSlides/notesSlide29.xml" Id="R3fa79cb528514d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4c8da77c34d7d" /><Relationship Type="http://schemas.openxmlformats.org/officeDocument/2006/relationships/image" Target="/ppt/media/image29.png" Id="R14d9f32afb5c491b" /><Relationship Type="http://schemas.openxmlformats.org/officeDocument/2006/relationships/notesSlide" Target="/ppt/notesSlides/notesSlide30.xml" Id="R94f20f4893cd414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ca89f37454abd" /><Relationship Type="http://schemas.openxmlformats.org/officeDocument/2006/relationships/image" Target="/ppt/media/image30.png" Id="Rbd61cd9e92bb4f89" /><Relationship Type="http://schemas.openxmlformats.org/officeDocument/2006/relationships/notesSlide" Target="/ppt/notesSlides/notesSlide31.xml" Id="R6d91d24fe04541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f33ba27cd401f" /><Relationship Type="http://schemas.openxmlformats.org/officeDocument/2006/relationships/image" Target="/ppt/media/image31.png" Id="Rd48e4fc6edf54439" /><Relationship Type="http://schemas.openxmlformats.org/officeDocument/2006/relationships/notesSlide" Target="/ppt/notesSlides/notesSlide32.xml" Id="R48776191778c4b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7a7ea334c4e78" /><Relationship Type="http://schemas.openxmlformats.org/officeDocument/2006/relationships/image" Target="/ppt/media/image32.png" Id="Rd5097d692cce4401" /><Relationship Type="http://schemas.openxmlformats.org/officeDocument/2006/relationships/notesSlide" Target="/ppt/notesSlides/notesSlide33.xml" Id="Rc18de34343fa43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5c7ef8d394d06" /><Relationship Type="http://schemas.openxmlformats.org/officeDocument/2006/relationships/notesSlide" Target="/ppt/notesSlides/notesSlide34.xml" Id="R46e2fc49eb344a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2188dcf2a4dc8" /><Relationship Type="http://schemas.openxmlformats.org/officeDocument/2006/relationships/image" Target="/ppt/media/image33.png" Id="R1f0b4b148f8f44c9" /><Relationship Type="http://schemas.openxmlformats.org/officeDocument/2006/relationships/notesSlide" Target="/ppt/notesSlides/notesSlide35.xml" Id="Re7ae30193041492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33c44318f4849" /><Relationship Type="http://schemas.openxmlformats.org/officeDocument/2006/relationships/image" Target="/ppt/media/image34.png" Id="R285973fdff064caf" /><Relationship Type="http://schemas.openxmlformats.org/officeDocument/2006/relationships/notesSlide" Target="/ppt/notesSlides/notesSlide36.xml" Id="Rc706a8bc60f14a3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596394b534d7f" /><Relationship Type="http://schemas.openxmlformats.org/officeDocument/2006/relationships/image" Target="/ppt/media/image35.png" Id="Re90e66fe0f57410f" /><Relationship Type="http://schemas.openxmlformats.org/officeDocument/2006/relationships/notesSlide" Target="/ppt/notesSlides/notesSlide37.xml" Id="R3bb6d12e0f0846b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19a6077e340d8" /><Relationship Type="http://schemas.openxmlformats.org/officeDocument/2006/relationships/image" Target="/ppt/media/image36.png" Id="Ra7446970a6e34831" /><Relationship Type="http://schemas.openxmlformats.org/officeDocument/2006/relationships/notesSlide" Target="/ppt/notesSlides/notesSlide38.xml" Id="R6d743b951e724ea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bdabd9e3242e3" /><Relationship Type="http://schemas.openxmlformats.org/officeDocument/2006/relationships/image" Target="/ppt/media/image37.png" Id="R1d74d605a64f41e8" /><Relationship Type="http://schemas.openxmlformats.org/officeDocument/2006/relationships/notesSlide" Target="/ppt/notesSlides/notesSlide39.xml" Id="Rb4695a2afc9e417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43b8747654d52" /><Relationship Type="http://schemas.openxmlformats.org/officeDocument/2006/relationships/image" Target="/ppt/media/image38.png" Id="R07ed6e442791496b" /><Relationship Type="http://schemas.openxmlformats.org/officeDocument/2006/relationships/notesSlide" Target="/ppt/notesSlides/notesSlide40.xml" Id="R139856e10fd7479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62a9be16b4717" /><Relationship Type="http://schemas.openxmlformats.org/officeDocument/2006/relationships/image" Target="/ppt/media/image39.png" Id="R25b0cf62ce844120" /><Relationship Type="http://schemas.openxmlformats.org/officeDocument/2006/relationships/notesSlide" Target="/ppt/notesSlides/notesSlide41.xml" Id="R33db6bd37a554bf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879892cab4e81" /><Relationship Type="http://schemas.openxmlformats.org/officeDocument/2006/relationships/image" Target="/ppt/media/image40.png" Id="Rf92762c54cd3437b" /><Relationship Type="http://schemas.openxmlformats.org/officeDocument/2006/relationships/notesSlide" Target="/ppt/notesSlides/notesSlide42.xml" Id="Re957722f644d445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76c950f714aab" /><Relationship Type="http://schemas.openxmlformats.org/officeDocument/2006/relationships/image" Target="/ppt/media/image41.png" Id="R54caa82e815244c9" /><Relationship Type="http://schemas.openxmlformats.org/officeDocument/2006/relationships/notesSlide" Target="/ppt/notesSlides/notesSlide43.xml" Id="R2faa04ee237d478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0eff39db04f0d" /><Relationship Type="http://schemas.openxmlformats.org/officeDocument/2006/relationships/notesSlide" Target="/ppt/notesSlides/notesSlide44.xml" Id="Re3470a9b330340e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8e941cea84119" /><Relationship Type="http://schemas.openxmlformats.org/officeDocument/2006/relationships/image" Target="/ppt/media/image42.png" Id="Rb004c6c77cc142bd" /><Relationship Type="http://schemas.openxmlformats.org/officeDocument/2006/relationships/notesSlide" Target="/ppt/notesSlides/notesSlide45.xml" Id="Raff6a946cc4d458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406c1ae6c42fa" /><Relationship Type="http://schemas.openxmlformats.org/officeDocument/2006/relationships/image" Target="/ppt/media/image43.png" Id="Rb9a2cc652f4a425c" /><Relationship Type="http://schemas.openxmlformats.org/officeDocument/2006/relationships/notesSlide" Target="/ppt/notesSlides/notesSlide46.xml" Id="Rfc6921ac937c4d0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aab579d944297" /><Relationship Type="http://schemas.openxmlformats.org/officeDocument/2006/relationships/notesSlide" Target="/ppt/notesSlides/notesSlide47.xml" Id="Rd70d12a0d35b40e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6c452de3b40d6" /><Relationship Type="http://schemas.openxmlformats.org/officeDocument/2006/relationships/notesSlide" Target="/ppt/notesSlides/notesSlide48.xml" Id="Recb07ba31408465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ff75dacdd4544" /><Relationship Type="http://schemas.openxmlformats.org/officeDocument/2006/relationships/image" Target="/ppt/media/image44.png" Id="R52a828e64bdf47f8" /><Relationship Type="http://schemas.openxmlformats.org/officeDocument/2006/relationships/notesSlide" Target="/ppt/notesSlides/notesSlide49.xml" Id="R3f0ed29f15084e1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7c0f3eb964ee9" /><Relationship Type="http://schemas.openxmlformats.org/officeDocument/2006/relationships/image" Target="/ppt/media/image45.png" Id="R735ff91a5be34f80" /><Relationship Type="http://schemas.openxmlformats.org/officeDocument/2006/relationships/notesSlide" Target="/ppt/notesSlides/notesSlide50.xml" Id="Re0cb7175a7d04d8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48dd09946442d" /><Relationship Type="http://schemas.openxmlformats.org/officeDocument/2006/relationships/image" Target="/ppt/media/image46.png" Id="R80f2b0cefb394e9c" /><Relationship Type="http://schemas.openxmlformats.org/officeDocument/2006/relationships/notesSlide" Target="/ppt/notesSlides/notesSlide51.xml" Id="R11914e2cacac40d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dff26a5ce454b" /><Relationship Type="http://schemas.openxmlformats.org/officeDocument/2006/relationships/image" Target="/ppt/media/image47.png" Id="R3657b67cec864c1d" /><Relationship Type="http://schemas.openxmlformats.org/officeDocument/2006/relationships/notesSlide" Target="/ppt/notesSlides/notesSlide52.xml" Id="R6a75cabc9231418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58a3784ac4083" /><Relationship Type="http://schemas.openxmlformats.org/officeDocument/2006/relationships/image" Target="/ppt/media/image48.png" Id="R5c3a726445c149e0" /><Relationship Type="http://schemas.openxmlformats.org/officeDocument/2006/relationships/notesSlide" Target="/ppt/notesSlides/notesSlide53.xml" Id="R4368fc63237c47e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6884761134d9a" /><Relationship Type="http://schemas.openxmlformats.org/officeDocument/2006/relationships/image" Target="/ppt/media/image49.png" Id="R88f7c5e142c74521" /><Relationship Type="http://schemas.openxmlformats.org/officeDocument/2006/relationships/notesSlide" Target="/ppt/notesSlides/notesSlide54.xml" Id="Rd7f6278cb3584ee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d38ea0b9a4a26" /><Relationship Type="http://schemas.openxmlformats.org/officeDocument/2006/relationships/image" Target="/ppt/media/image50.png" Id="R9ff956a7735d4d01" /><Relationship Type="http://schemas.openxmlformats.org/officeDocument/2006/relationships/notesSlide" Target="/ppt/notesSlides/notesSlide55.xml" Id="Refcf57f3dd3b4af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30b86edd84b29" /><Relationship Type="http://schemas.openxmlformats.org/officeDocument/2006/relationships/image" Target="/ppt/media/image51.png" Id="R4caac37dd68940fb" /><Relationship Type="http://schemas.openxmlformats.org/officeDocument/2006/relationships/notesSlide" Target="/ppt/notesSlides/notesSlide56.xml" Id="Raf2876cf55fb4c3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8767bef3041ec" /><Relationship Type="http://schemas.openxmlformats.org/officeDocument/2006/relationships/notesSlide" Target="/ppt/notesSlides/notesSlide57.xml" Id="Rd55bedd3571c408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f98fc9d744aa6" /><Relationship Type="http://schemas.openxmlformats.org/officeDocument/2006/relationships/image" Target="/ppt/media/image52.png" Id="R3ebb9ac7b63d4801" /><Relationship Type="http://schemas.openxmlformats.org/officeDocument/2006/relationships/notesSlide" Target="/ppt/notesSlides/notesSlide58.xml" Id="Rfd2a14eaba80429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d04d6ad274fe3" /><Relationship Type="http://schemas.openxmlformats.org/officeDocument/2006/relationships/image" Target="/ppt/media/image53.png" Id="R8455a205f7ef4f93" /><Relationship Type="http://schemas.openxmlformats.org/officeDocument/2006/relationships/notesSlide" Target="/ppt/notesSlides/notesSlide59.xml" Id="R04a2f3da5d084a1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ac7c731a04c7e" /><Relationship Type="http://schemas.openxmlformats.org/officeDocument/2006/relationships/image" Target="/ppt/media/image54.png" Id="R718f3389e7854523" /><Relationship Type="http://schemas.openxmlformats.org/officeDocument/2006/relationships/notesSlide" Target="/ppt/notesSlides/notesSlide60.xml" Id="Rade1793c5b974ab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a603fdef44a3e" /><Relationship Type="http://schemas.openxmlformats.org/officeDocument/2006/relationships/image" Target="/ppt/media/image55.png" Id="R1ffd7abeb9d6485f" /><Relationship Type="http://schemas.openxmlformats.org/officeDocument/2006/relationships/notesSlide" Target="/ppt/notesSlides/notesSlide61.xml" Id="R716f210dea0f4e7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79ba0cc564e0f" /><Relationship Type="http://schemas.openxmlformats.org/officeDocument/2006/relationships/image" Target="/ppt/media/image56.png" Id="R94c45adba25b4836" /><Relationship Type="http://schemas.openxmlformats.org/officeDocument/2006/relationships/notesSlide" Target="/ppt/notesSlides/notesSlide62.xml" Id="Rac9b3f6c183844b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c9fb26d7a4c0c" /><Relationship Type="http://schemas.openxmlformats.org/officeDocument/2006/relationships/image" Target="/ppt/media/image57.png" Id="Rff722c93a9a44626" /><Relationship Type="http://schemas.openxmlformats.org/officeDocument/2006/relationships/notesSlide" Target="/ppt/notesSlides/notesSlide63.xml" Id="R944c5c36a9a34f7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f4912445d453b" /><Relationship Type="http://schemas.openxmlformats.org/officeDocument/2006/relationships/image" Target="/ppt/media/image58.png" Id="R4c262dad953d4b8c" /><Relationship Type="http://schemas.openxmlformats.org/officeDocument/2006/relationships/notesSlide" Target="/ppt/notesSlides/notesSlide64.xml" Id="R60c923fda465460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4fa1ac1f44d53" /><Relationship Type="http://schemas.openxmlformats.org/officeDocument/2006/relationships/image" Target="/ppt/media/image59.png" Id="R1db50c9c8923481a" /><Relationship Type="http://schemas.openxmlformats.org/officeDocument/2006/relationships/notesSlide" Target="/ppt/notesSlides/notesSlide65.xml" Id="Re340fa8da7144f4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10316dca94deb" /><Relationship Type="http://schemas.openxmlformats.org/officeDocument/2006/relationships/notesSlide" Target="/ppt/notesSlides/notesSlide66.xml" Id="Re57a1d71d94e4b4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9f21f33984a2f" /><Relationship Type="http://schemas.openxmlformats.org/officeDocument/2006/relationships/image" Target="/ppt/media/image60.png" Id="R2f41741a91154727" /><Relationship Type="http://schemas.openxmlformats.org/officeDocument/2006/relationships/notesSlide" Target="/ppt/notesSlides/notesSlide67.xml" Id="R97eabdb58d0e46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147BC-4587-496D-8FDA-1F47B74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食材管理 v4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6E105-32D0-4F3A-87F4-9489F87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76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从零配置，到出餐扣减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AE5F7-8F9D-485D-AB61-CD5F198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跟着当前界面，完整做完一笔业务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B944F-C91E-48BA-AC1C-47C0EB2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鲜牛奶 → 开盖 → 热牛奶 → 扣减库存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11956-E2FF-41A9-975F-4B135DC0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当前界面带图操作教程 · 2026-10-06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63A26-055D-4B5A-943D-8032F331F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d662c8f624465"/>
          <a:stretch xmlns:a="http://schemas.openxmlformats.org/drawingml/2006/main"/>
        </p:blipFill>
        <p:spPr>
          <a:xfrm xmlns:a="http://schemas.openxmlformats.org/drawingml/2006/main">
            <a:off x="8248756" y="685800"/>
            <a:ext cx="2666788" cy="558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71AAD-4767-46F5-BED8-4452A681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1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08587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132FA-8684-43A3-B4FD-F31CA22B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这次要完成什么？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D7DB5-E572-4D10-B059-344AA64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一个完整示例，先看清目标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DDD15-9667-47FA-A28A-57FCE367935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62500"/>
                <a:gridCol w="4114800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本教程的示例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完成后核对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存储区域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吧台 / 冷藏柜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启用的二级区域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分类与链路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乳制品 / 鲜奶；桶 →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桶 = 2000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采购入库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桶鲜牛奶，总金额 40 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中间态 4000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开盖作业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 1 桶，实际产出 1960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出品态可用 1960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菜品与出餐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热牛奶，每杯 200 ml；出 2 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扣减 400 ml，剩余 1560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7BE12-6A3A-4925-B735-6055EA41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截图来自当前 v4 页面，使用演示数据。日期、价格、保质期与出成率均为教学示例；实际按本店标准填写。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7B99-260F-4BA8-9765-CE21AA4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61301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6D657-258B-492D-B36E-83DA56FA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先确认门店和员工身份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F986-D6F5-48D7-86C3-2E068BD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企业微信 → 食材管理 → 右上角身份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D49BD-1087-4227-919E-F2F9339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E43C8-FA38-42E2-BEA6-EE3E3C0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从企业微信应用进入，确认当前门店和姓名。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FB8B4-E3A8-4CB6-8BFC-B33E0EA0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AFE3F-C794-42A1-91B2-DA9DA1E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本教程先用店长完成基础配置；日常入库、作业和出餐由有权限的员工操作。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2CE81-7822-44D3-A031-BE21F4C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D46DF-B6F8-4382-AF88-4681DBF2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看不到维护按钮时，先核对员工身份与门店权限。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FC5BD-C905-4310-BC0F-3CB6C02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首页：mini.snowmeet.top/fnb/v4/index.html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4CFA-7448-43B5-BE64-7786E42A9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f76dde47a4e3b"/>
          <a:stretch xmlns:a="http://schemas.openxmlformats.org/drawingml/2006/main"/>
        </p:blipFill>
        <p:spPr>
          <a:xfrm xmlns:a="http://schemas.openxmlformats.org/drawingml/2006/main">
            <a:off x="7600950" y="3049994"/>
            <a:ext cx="3981450" cy="152001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14AF-1885-4164-862F-D373FE4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500202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94CD6-6EB0-436F-9943-61DE7792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从“更多”开始初始化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A311D-86F4-4AE5-92C1-44D2964D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更多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98BF2-E6AD-49DB-AD86-C62CF942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86A34-6163-49DD-B39C-B42F6BE0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先配置：存储区域 → 食材分类 → 进货规格与链路。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93722-D8FB-499A-B571-935AAC2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5F576-C24E-42B4-B16F-A31072B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再配置：菜品配方；需要半成品时再建半成品配方。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F8835-E7BD-43CC-B6FB-C7FF23C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1A661-C022-4829-9ACD-669B32C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日常业务在底部导航完成：入库 → 作业 → 出餐。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0088D-91AC-47D3-86B0-1E37DA4F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先建档，后入库；先得到出品态，后出餐。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70753-EA76-4F01-9EE5-21AB817DE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6bff0fbd54180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A7373-574E-4917-BFB2-B42BF17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26356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DE650-033B-4383-AA0E-293EA268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01  新增一级区域：吧台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69F98-6C30-4DBD-9B92-5AAEEF7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存储区域 → + 新增一级区域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545BC-D181-47E2-92F3-0BD78E06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A75C3-EF88-42C6-A051-5415A849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区域名称填写“吧台”。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27215-00CB-4695-8019-3C2DB5B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7EB1F-A75A-4F73-A45B-8562C72A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区域类型选择“前台”，保留“启用”。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52696-D06F-456F-88D3-09583E5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6DFEC-C3CC-47AE-BD90-55D6580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点击“保存”。一级区域用于组织下级区域。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A6952-26E5-4B75-8277-89BBCF5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保存后，应在区域树中看到“吧台”。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A673-21A6-4C4E-905F-D3050B948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0edb3a2c4460f"/>
          <a:stretch xmlns:a="http://schemas.openxmlformats.org/drawingml/2006/main"/>
        </p:blipFill>
        <p:spPr>
          <a:xfrm xmlns:a="http://schemas.openxmlformats.org/drawingml/2006/main">
            <a:off x="7600950" y="1706500"/>
            <a:ext cx="3981450" cy="420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70C64-3A98-42F0-8AF7-AD3BE833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92606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13580-E3DB-457E-BAEC-91897EFC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02  新增二级区域：冷藏柜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52184-3BE6-4512-8805-9F6BACD5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吧台 → + 下级区域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B747C-7341-4A75-BCDA-7BAAA7AC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6EAAA-2B31-463F-8B37-94218AC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在“吧台”下点击“+ 下级区域”。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0090D-32F3-40CD-9564-6A637FE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27233-25E9-4918-891C-9BCD04F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名称填“冷藏柜”，类型选“冷藏冷冻”，保持启用。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AE7E0-3803-4551-95C4-6988852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AA424-FFE9-4928-9C1F-B1D3BE3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保存后，入库和作业选择“吧台 / 冷藏柜”。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0657E-B5B6-4542-9BDC-9EB59D4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采购入库要选启用的二级区域。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9206-7467-4F3A-A10A-10807B9D5F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9c80d1f1b4904"/>
          <a:stretch xmlns:a="http://schemas.openxmlformats.org/drawingml/2006/main"/>
        </p:blipFill>
        <p:spPr>
          <a:xfrm xmlns:a="http://schemas.openxmlformats.org/drawingml/2006/main">
            <a:off x="7600950" y="1706500"/>
            <a:ext cx="3981450" cy="420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B76F3-B934-4036-A82F-1C68398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48232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00120-CB04-4C60-9931-4810D61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一级区域可以收起下级区域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8A942-030A-4E99-9D48-2C8C19A7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存储区域 → 一级区域标题旁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C735-DCB6-4EA2-8F5F-8516E469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7DD88-36C5-4D90-A4F9-5242697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点击“收起下级区域（1）”，隐藏冷藏柜。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D6E8-51D3-48A1-AB4B-9608631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3BCE8-0E74-4330-82DB-4B97861C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点击“展开下级区域（1）”，再次显示冷藏柜。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2577F-1304-40D1-8F0D-A289629B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F7684-B9AE-4EEF-A7DF-E4983DD6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折叠不会停用区域；照片、检查项仍可维护。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EE342-599D-4E2A-A3AC-B4FDAE1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区域最多两级。已有绑定时，应停用并保留历史。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16CA7-F77F-4F0E-8089-F4C1C0328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5756847f74254"/>
          <a:stretch xmlns:a="http://schemas.openxmlformats.org/drawingml/2006/main"/>
        </p:blipFill>
        <p:spPr>
          <a:xfrm xmlns:a="http://schemas.openxmlformats.org/drawingml/2006/main">
            <a:off x="7600950" y="1849286"/>
            <a:ext cx="3981450" cy="392142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90FCA-3904-448F-932E-9FFC4C3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7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99084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0BBA7-EB22-4945-8600-747D8000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03  新增一级分类：乳制品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3C5E3-55DE-4285-A5DD-010944F7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 → + 新增一级分类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8AB3-769F-429D-9038-5C1C5BF4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2399-2DDD-47F2-92AC-4B2E2EB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名称填写“乳制品”，保留启用。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0305E-2C2D-4A39-98BA-1F5EEEC9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A18E2-001C-4A55-A96A-A2813451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点击“保存”。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55B1E-AEF2-4C14-B4B1-3056084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AEC5E-BD7E-4317-A295-067E85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一级分类用于筛选所属二级分类。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4066C-314B-4775-B326-633AEFC0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入库时先选“乳制品”，再选“鲜奶”。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8647B-FB5A-465D-AFDC-2B2E54E84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952ae92e645fd"/>
          <a:stretch xmlns:a="http://schemas.openxmlformats.org/drawingml/2006/main"/>
        </p:blipFill>
        <p:spPr>
          <a:xfrm xmlns:a="http://schemas.openxmlformats.org/drawingml/2006/main">
            <a:off x="7600950" y="2280182"/>
            <a:ext cx="3981450" cy="305963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8F243-7B86-405B-90AF-93F54488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8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51607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D247A-F00C-44B8-8289-B5650A6C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04  二级分类决定默认属性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D645B-5F94-4F8F-8E49-B72C8746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乳制品 → + 新增二级分类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FB87-A44C-4E11-8890-FA7308A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CE50E-C4A3-4B9E-9D32-EFDE1F3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名称“鲜奶”，批次号编码“MLK”。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335A2-9343-497F-9609-B31DEA7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905F9-B8A1-4B2E-90BB-9C075F3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计量选“按体积”，建议储存方式选“冷藏”。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911C9-ADA8-479E-AEA0-69B98AC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56AE1-C75E-4186-8664-E6842D8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临期提醒填 2 天；开封 / 作业后保质填 3 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A88D5-1BA8-40B1-B786-CC6FF811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03211-995A-48BC-BF05-EAB6E9E0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本例不勾选“半成品分类”，启用后保存。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5F6B-0E7A-401F-B3A5-FA4ABDA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按体积的基本单位是 ml。食材还可单独覆盖属性。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2965C-BA56-4937-8AF8-8F285F479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96e4e3fc74dc1"/>
          <a:stretch xmlns:a="http://schemas.openxmlformats.org/drawingml/2006/main"/>
        </p:blipFill>
        <p:spPr>
          <a:xfrm xmlns:a="http://schemas.openxmlformats.org/drawingml/2006/main">
            <a:off x="8132935" y="1476375"/>
            <a:ext cx="2917480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BB75A-5576-4317-90BA-DE142F03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9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37311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8D0B7-72DB-4CFD-BB0C-6181F56F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05  配置未开封的保质期规则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2F2A0-7285-4DAD-926B-DD9EE3C3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鲜奶 → 保质期规则 → + 新增规则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F58B-6E65-4323-99A3-9846B38A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A4512-341E-4F8E-A980-49C354A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储存方式选择“冷藏”。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EDD7-54B7-4EF7-A54E-5DDF723B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07950-203E-47DB-A1B3-1C62048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生产月份分档选“全年”；保质天数填 14，启用后保存。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23BE4-B16D-482D-92ED-110357E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D5745-AC7A-4361-A96B-D94D1E7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同一食材有例外时，可在食材链路页单独维护规则。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AEAEC-BA54-4971-B236-0D33FEF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没有包装到期日时，服务器用生产日期和规则推算。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31EAD-7543-4DA4-B7E5-EC6352F08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e7d3679c5427f"/>
          <a:stretch xmlns:a="http://schemas.openxmlformats.org/drawingml/2006/main"/>
        </p:blipFill>
        <p:spPr>
          <a:xfrm xmlns:a="http://schemas.openxmlformats.org/drawingml/2006/main">
            <a:off x="7600950" y="1912437"/>
            <a:ext cx="3981450" cy="379512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D840C-7559-4AD5-A343-EDB6C63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10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512799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9ABD-9C15-47AE-B7FD-B9B14A9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06  先建最终能出餐的形态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C1901-B89F-4D0C-B719-C319DE85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进货规格与链路 → + 新建食材档案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59FF5-6310-4997-A226-E6ED9FF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EE78-5982-4D93-8ABB-39FA625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食材名称填“鲜牛奶”，二级分类选“鲜奶”。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5E7DB-8C94-4BBD-AC68-DDE4432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4FB19-E034-4241-8CB3-6E3B971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出品态名称填“液体鲜奶”，基本单位选“毫升”。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BF67A-C960-45F9-A93F-46E9BEB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868C-E722-42AA-A542-9578966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储存选“跟随分类建议”，编码用 F，点击“创建食材”。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CE010-012E-48AB-BA76-3F80724E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配方和出餐只使用出品态可用量。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FE154-19E5-49BC-ACFE-EE3CC6527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0483927ff463c"/>
          <a:stretch xmlns:a="http://schemas.openxmlformats.org/drawingml/2006/main"/>
        </p:blipFill>
        <p:spPr>
          <a:xfrm xmlns:a="http://schemas.openxmlformats.org/drawingml/2006/main">
            <a:off x="8019141" y="1476375"/>
            <a:ext cx="314506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A6DB1-FBAB-4481-BB74-7E4A81D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11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567462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948D-B571-4494-94AA-DF0572F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07  往上游加：独立桶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0BF9D-6921-44E1-A2A7-0F11BF1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鲜牛奶链路 → + 在上游加一个形态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9568F-AE7D-445A-A285-06C8EE57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B3F46-E954-4434-B2DB-01F39F7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形态名“独立桶”，单位“桶”，编码 TUB。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23F0A-013C-4A50-9AC3-D76C66B8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75704-ADF7-40BB-9440-A378B4C7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每单位基本量填 2000，代表 1 桶内含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97B1B-13CC-475F-821B-6801F5FF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93770-5174-409B-814D-073E8D1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作业名“开盖”，标准出成率 98%，耗时 0 小时。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02445-1AA8-456E-A00A-B34C2D0A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A7598-B373-4582-AF2B-7F6C3C7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储存冷藏；“作业后保质”填 3 天，点击“加入链路”。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B79B8-7EC4-4CA0-9E35-4953F066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这次开盖的 3 天保质，必须在链路作业里填写。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57627-6F5E-433B-999F-DBDF6A8CB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3ff2867764c49"/>
          <a:stretch xmlns:a="http://schemas.openxmlformats.org/drawingml/2006/main"/>
        </p:blipFill>
        <p:spPr>
          <a:xfrm xmlns:a="http://schemas.openxmlformats.org/drawingml/2006/main">
            <a:off x="8335940" y="1476375"/>
            <a:ext cx="2511469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75CB6-B9DB-4EF7-83B0-09F62FB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12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94662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E14B-DD30-49D9-9773-EECC6498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有整箱采购时，再加一层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BB40-1347-4B0D-B2F0-CC87C78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链路 → + 在上游加一个形态（可选）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411BC-67BE-418E-88F2-3DD4D1B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2A54-A1A2-4C29-BDAD-9784FC2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形态名“整箱”，单位“箱”，编码 BOX。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BE113-D001-45A6-BA95-8780FC2B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B5EC1-DD71-4BED-98B3-05EA5AC5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每单位基本量填 12000，而不是填 6。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FE9BD-0407-4CDE-AFCD-9BD6EEF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B54E3-DF0C-4879-9343-F9B31C2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下游作业“拆箱”，出成率 100%，耗时 0 小时。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062BB-0D39-4261-8C9C-18D2FECA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F7590-366F-4B99-9CE9-AD198D19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保存后，系统显示 1 箱 = 6 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81EA6-B6D4-4752-B6C6-D728BC5A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每单位基本量始终用基本单位；本例是 ml。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22815-54D4-4325-85E0-142DCAF84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598565114720"/>
          <a:stretch xmlns:a="http://schemas.openxmlformats.org/drawingml/2006/main"/>
        </p:blipFill>
        <p:spPr>
          <a:xfrm xmlns:a="http://schemas.openxmlformats.org/drawingml/2006/main">
            <a:off x="8335940" y="1476375"/>
            <a:ext cx="2511469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D378F-338C-46AB-A45D-06D9DA0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13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00042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C1628-09A0-498B-90EC-1D447439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08  核对形态与作业链路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36FBD-4CB2-4D73-9D23-DB4FE23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进货规格与链路 → 鲜牛奶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50512-7125-4DD0-AFD0-CCAA1194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1B096-3B58-49A7-870F-E86483E1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整箱：1 箱含 12000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6041C-4055-4649-AB9E-E81049D0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67A84-5253-4530-98C3-9175646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拆箱后：6 桶，每桶含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83027-E8E0-437E-B42F-FC37706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98706-13B9-41DA-9207-4A977AA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开盖后：液体鲜奶；标准出成率 98%。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F3A85-4A70-472A-87BF-4B80FFD5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本例按桶采购，从“独立桶”这一层入库。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1A76B-0FD6-43FD-B3B2-6AF28C6BB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215bfafd9438f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B899E-AE04-4F0C-B4E2-A7E8DE1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14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773702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94054-51A6-4A44-9068-B0E9266F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09  进货规格指定从哪层入库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600E0-E0A9-4D18-A9F6-27F23A88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鲜牛奶 → + 新增进货规格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0574-4F14-41CF-AB91-4D7A2F5E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E483D-7088-4112-99C1-EC6532A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规格名“单桶 2 L”，包装描述“2 L / 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70FB8-351E-4F60-824C-86F1BD2C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1E55E-2D33-426E-889C-0E785F5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入库形态选择“独立桶”。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FEB79-6D69-4F58-91FF-FF8C7D80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E924D-BFE4-4FE9-93C2-8464529D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条码可填实际包装条码；本例留空，启用后保存。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8190A-529A-4585-815E-B5D47032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选这个规格后，入库数量的单位就是“桶”。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9C8AE-81F9-4FB5-B9F7-EE348333B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46404f1384842"/>
          <a:stretch xmlns:a="http://schemas.openxmlformats.org/drawingml/2006/main"/>
        </p:blipFill>
        <p:spPr>
          <a:xfrm xmlns:a="http://schemas.openxmlformats.org/drawingml/2006/main">
            <a:off x="8078174" y="1476375"/>
            <a:ext cx="3027002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9BD16-AFA5-45B7-86F2-7AA0D8E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15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822218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4673E-1974-4A86-B1F7-DF8FF99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10  入库按一级、二级逐层筛选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3F156-9C74-46A1-872E-75EDD3C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92398-507B-44EA-9BA3-A000D5F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6703-EF7E-4FA2-8FFD-67AD309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一级分类选“乳制品”。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81F39-D66D-4CCD-9D49-07DA43BB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9E6B-D859-41D1-9084-BD2F8A7C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二级分类选“鲜奶”，食材名称选“鲜牛奶”。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628DE-21EE-4E9E-85BB-2F1522AA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AFD5-142D-4D1B-B618-554E274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选择进货规格“单桶 2 L”；有条码时也可扫码查找。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69F9F-135B-4DF4-90E3-D5910C8A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更换分类后，需要重新选食材和规格。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A8EBA-AD36-4B5A-A2E9-755E7919F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9219363a4e46"/>
          <a:stretch xmlns:a="http://schemas.openxmlformats.org/drawingml/2006/main"/>
        </p:blipFill>
        <p:spPr>
          <a:xfrm xmlns:a="http://schemas.openxmlformats.org/drawingml/2006/main">
            <a:off x="7600950" y="1576687"/>
            <a:ext cx="3981450" cy="446662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53F03-EC93-4ABE-B614-BE93BBD0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16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90761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0D5D3-6446-4B21-B30E-309AEFF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11  核对区域、日期与到期预览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9CF6C-1AB5-45C0-9A8B-839295B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照片 / 储存方式 / 日期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81AC9-5E8D-408E-B915-FA30C4F9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78543-D547-4FB5-A902-38ED47BC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拍照 / 上传包装照片；可用“识别”辅助录入日期。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D6084-B5D3-43B0-9CDF-6C3CF349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EBC1C-401F-415E-8030-10FCBCCA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储存方式选冷藏，区域选“吧台 / 冷藏柜”。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EF427-FE27-4AC9-B6D8-078A09CA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FCB04-C045-4C9C-873E-9BE1567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生产日期填 2026-10-06；本例到期日留空，按规则预览。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33E54-EE61-43E8-9617-4B619584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BE749-52B6-42B0-ABA9-124C062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OCR 结果要核对后采用；预览批次号由服务器生成。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CB5AA-1CFC-430F-B413-308C199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本例有效到期 2026-10-20；批次号不能手工修改。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A7BB9-3C57-4352-985E-1393A715A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c993d6cba4b7b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5A28C-AEA6-4814-B064-7116B762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17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706120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65928-BAA2-4DB7-A48D-F082FF3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12  数量按规格单位填写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CCBB-0799-4189-BF2C-B3461E8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数量与金额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87B7-AF63-45D2-996D-07A4F4FE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36888-C004-4991-88AE-87C6E3C6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数量填 2，旁边单位应显示“桶”。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BC274-E5E3-46E8-A397-587BA71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4DAD4-70BA-4B1E-874C-EC813DB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总金额填 40 元，表示这 2 桶的合计采购金额。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A9182-A356-4FC1-A7D2-59A13E03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B14B5-6CEB-45F9-88E0-A16AE8B8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核对规格、数量、金额、区域与日期。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9BF5-12D4-4844-B861-05B31B5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623A4-4E95-47D6-ACA1-650DD76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点击“加入待提交清单”。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815DF-9FCD-42BE-BE15-6B6C373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2 桶对应 4000 ml；此时只是草稿，库存还没增加。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C588E-742E-477B-ADC9-AC231DF63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a6890fcc542fd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D9D5-E0C1-4AE8-AE34-7E8E88C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18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33343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A930F-1B15-422F-B9C2-0D82D1B4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13  确认入库，才真正增加库存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CC7C2-9143-4F3A-9F10-6BE7336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每日入库 → 今日入库单 → 确认入库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EE632-D45C-45B6-8DA1-BE0E0D95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C33E3-4A68-42B3-81B3-AEE4C47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核对待提交条目：鲜牛奶 / 单桶 2 L / 2 桶 / 40 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DA6AD-FA60-49BB-8E91-71D8FF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FB66D-9CF5-4419-8004-EC335A6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错误条目先移除，重新填写后加入清单。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CE8C6-7D42-4FAF-8AE6-F3A71AB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43DCE-20F3-444F-B235-EA12F687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点击“确认入库”，查看“刚才入库的批次”。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CA235-10F2-4116-B6D2-1FA58BB6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确认成功后，再去库存页核对入库结果。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223E2-8F8A-4B01-9042-25AE71C95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8560c045b498f"/>
          <a:stretch xmlns:a="http://schemas.openxmlformats.org/drawingml/2006/main"/>
        </p:blipFill>
        <p:spPr>
          <a:xfrm xmlns:a="http://schemas.openxmlformats.org/drawingml/2006/main">
            <a:off x="7600950" y="2239428"/>
            <a:ext cx="3981450" cy="314114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E60A0-0454-4CA2-B040-130A81C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19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654584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84CE2-6BAC-4E16-A93F-92643DA7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14  入库后还不能直接出餐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2B633-F8F4-40FE-88FF-41BF627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4507D-BCD5-4D5D-8AE8-F92E8F41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43B75-17F7-44EC-8B86-D5C6182A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独立桶应有 2 桶，对应基本量 4000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C8298-C256-4FC2-93C7-BAEE533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F0178-1BDC-4010-9882-BDFA7CAE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出品态“液体鲜奶”可用量仍是 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2ED2B-A482-4CAA-AC23-CDD4792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0533-24BA-45B7-9BDF-5848E0FF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需要先开盖，再把可用出品态用于配方。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DF8F8-2855-418A-85CD-A4AF3954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“有库存”不等于“有可出餐库存”。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2FB60-E239-4BA6-BDD4-9A2D03CA7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f6f8864904803"/>
          <a:stretch xmlns:a="http://schemas.openxmlformats.org/drawingml/2006/main"/>
        </p:blipFill>
        <p:spPr>
          <a:xfrm xmlns:a="http://schemas.openxmlformats.org/drawingml/2006/main">
            <a:off x="7600950" y="2547040"/>
            <a:ext cx="3981450" cy="252592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28318-2368-4829-9E2B-1FFAD0F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20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179738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B1241-3AEB-44C5-9F05-11AFBC3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15  在作业页找到可作业批次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E706F-20F5-4FA5-AED7-B2232E4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作业 → 可作业批次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AFD77-3449-40C1-910E-9109259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4DDCF-28A3-4E76-85EB-00D5A3D5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找到刚入库的鲜牛奶批次。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3445-F289-49A9-937B-8EB79ABA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191C5-7E6B-4322-8B91-BE13BCDC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点击“执行作业”。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5F521-12CA-45B8-8D9D-85A72D2F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960A7-6071-4870-A85C-13022DA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本例采购态是独立桶，所以接下来执行开盖。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9FB4B-51A9-4EE3-8A9C-A67A1A9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建议作业只是提示；点击预览也不会改库存。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18422-9B2D-4883-BB60-8A7EF349D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f2610f1884971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9452A-A0E1-4734-A839-9F5FF90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21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57103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AE06C-76C6-4BA7-809F-95E12068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16  预览并填实际开盖产出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5785A-50CE-42A1-8A47-2D1A12E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执行作业 → 投入与产出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407D-2177-4793-B640-E236C97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175B4-2334-4B14-9E8E-B976E31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投入数量填 1，单位是来源形态的“桶”。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153C5-3106-4C26-82E0-817CED4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DCB72-BAAF-46C0-8E19-3ACF51E2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点击“预览作业”，预计产出应为 1960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295F6-438A-4193-BABD-7CFEC4E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BD38F-B254-4698-BAA4-D612B2A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实际产出按现场测量填；本例填 1960 ml。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4F857-C89F-4DAB-A48A-F3AF193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9B35D-5499-44F8-8BEC-42146B9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存放区域选冷藏柜，点击“确认作业”。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C0C21-D94A-4E57-9959-25F4877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确认后扣 1 桶，新增 1960 ml 出品态。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1D6A1-946D-480E-9896-16A15B1ED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95d08747b414c"/>
          <a:stretch xmlns:a="http://schemas.openxmlformats.org/drawingml/2006/main"/>
        </p:blipFill>
        <p:spPr>
          <a:xfrm xmlns:a="http://schemas.openxmlformats.org/drawingml/2006/main">
            <a:off x="7817496" y="1476375"/>
            <a:ext cx="354835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D30EE-9751-4C6C-8170-F5BE7CC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22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7459853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D9435-FD90-4345-A762-9AE8558F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17  核对作业损耗与到期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41F5-99C8-4803-8E46-91D55FF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作业 → 刚才作业结果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B1A55-A1C9-4C1A-A4BF-E15A0B4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3C330-4C98-44B0-B5D8-A506CF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投入基本量 2000 ml，实际产出 1960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87B9-F6EC-447A-B751-D466F01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ED16A-9959-4EB5-A1C4-0D31355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损耗基本量应为 40 ml，实际出成率 98%。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90B96-4035-463F-B41B-AFA9BC68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68BD-A82D-4CE6-A150-818CFE1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开盖后的有效到期是 2026-10-09。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310AF-2FBB-40ED-837A-7AEDF489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有效到期取原到期与作业后到期中更早的一天。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BD6A-8F75-4762-AB7F-4E108DAAE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9fc7c11484e09"/>
          <a:stretch xmlns:a="http://schemas.openxmlformats.org/drawingml/2006/main"/>
        </p:blipFill>
        <p:spPr>
          <a:xfrm xmlns:a="http://schemas.openxmlformats.org/drawingml/2006/main">
            <a:off x="7600950" y="2779625"/>
            <a:ext cx="3981450" cy="206075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2B43D-0E6B-4A20-95AA-81F7F947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23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931165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DA7D6-E0C3-4E89-B3D6-66AD484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18  库存分成两种形态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FE5E0-C03A-4C68-972F-4C29F7CE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8F739-DB3F-4B86-A74F-6143F1F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82A4-0BC5-40C5-B04B-E46904E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独立桶剩 1 桶，基本量 2000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E8CD0-2214-49C7-B12E-346B5226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7461-A165-49DF-827D-D9DC9A9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液体鲜奶出品态可用量 1960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997B0-40FD-4C71-A625-E0325F13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F59A-E666-4169-83D0-4962987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配方与出餐只扣已经就绪、未过期的出品态。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2F95B-6FA9-4F72-AA36-7D060EB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接下来用 1960 ml 配置并出餐。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0D290-7832-43A3-AD57-521E53C06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b68381d074523"/>
          <a:stretch xmlns:a="http://schemas.openxmlformats.org/drawingml/2006/main"/>
        </p:blipFill>
        <p:spPr>
          <a:xfrm xmlns:a="http://schemas.openxmlformats.org/drawingml/2006/main">
            <a:off x="7600950" y="2371976"/>
            <a:ext cx="3981450" cy="28760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6A25B-01A9-4827-9E2E-E91B7F2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24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1327452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F9738-10F5-4648-87C1-458A438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19  新增菜品：热牛奶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36D0-9CB1-46C6-900B-77CCAA8E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菜品配方 → + 新增菜品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FD536-0860-4743-8DDC-2268164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A0ADA-C239-4BBA-8F2B-D003960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菜品名称“热牛奶”，规格名称“200 ml”。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B0C3-27BB-4205-A1DB-2072DFAA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EFB60-840A-4754-87D7-D618BAD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售价填 12 元（演示价格），保持启用。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52AE1-950C-4EB5-B306-E9A8EC5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8637A-11BD-4021-9816-CD304C08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保存后，在这个规格下点击“编辑用料”。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1A0AA-0330-4792-898A-17D6CE4E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同一菜品的不同规格，分别维护用料。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26BEB-115A-4299-92C8-47E15C1A8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b68c6023141ab"/>
          <a:stretch xmlns:a="http://schemas.openxmlformats.org/drawingml/2006/main"/>
        </p:blipFill>
        <p:spPr>
          <a:xfrm xmlns:a="http://schemas.openxmlformats.org/drawingml/2006/main">
            <a:off x="7600950" y="1902630"/>
            <a:ext cx="3981450" cy="381473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77704-AEAF-46C6-B4D8-B1DA9FC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25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586124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36725-33C9-4AF6-AFF3-20DE42A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20  配方填每一份的用量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85272-325F-4F93-86E6-D31D3817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热牛奶 / 200 ml → 编辑用料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3F8C-E276-494A-A358-518EC9B1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6E064-BE73-4901-93BB-7E2E9C3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点击“+ 添加食材”，用料选“鲜牛奶”。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873F8-698B-4D13-ACAA-ED0CAC0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D1387-8C84-4A20-B724-BC5659C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“每份 / 每批基本量”填 200，单位按食材基本单位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72466-A5BE-4F6A-B70B-4959F4E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E7992-CC4E-4B26-B86D-5A2E258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点击“发布配方新版本”。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07063-68DB-4939-8E7E-004E1B17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这里填每杯 200 ml，不填两杯合计 400 ml。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8FF88-DDC1-4CBC-825F-4208B0142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26a9befa643b1"/>
          <a:stretch xmlns:a="http://schemas.openxmlformats.org/drawingml/2006/main"/>
        </p:blipFill>
        <p:spPr>
          <a:xfrm xmlns:a="http://schemas.openxmlformats.org/drawingml/2006/main">
            <a:off x="7600950" y="2088954"/>
            <a:ext cx="3981450" cy="344209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7C33-DF03-484D-A62C-5A51A9B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26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935001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31253-A98F-44D1-A018-1E6678A4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21  菜品页会显示可出餐份数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E080-43F7-4389-9D44-11BC426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菜品配方 → 热牛奶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32BF2-8F93-46AD-8719-1C42105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0CE8-484A-49E1-9BE9-57B9964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配方显示鲜牛奶 200 ml / 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4770B-400B-4521-A328-5F8BFA2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B124F-EA5A-4340-A366-45BC8F40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1960 ml ÷ 200 ml，完整可出餐 9 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62C8B-EB63-4A4D-9D56-D2B5F69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CEA24-80A3-4F7F-B0F0-B14914F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有多种用料时，可出餐份数由最紧缺原料决定。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FB92-3AD4-4C2D-AD56-3B683D2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发布配方只保存配置，不会提前扣库存。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31B1-727A-409F-9D8F-FD73579E0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c574c12f54320"/>
          <a:stretch xmlns:a="http://schemas.openxmlformats.org/drawingml/2006/main"/>
        </p:blipFill>
        <p:spPr>
          <a:xfrm xmlns:a="http://schemas.openxmlformats.org/drawingml/2006/main">
            <a:off x="7600950" y="2869658"/>
            <a:ext cx="3981450" cy="188068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C7612-250B-47B0-9599-96711F2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27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763003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54B49-691E-4231-9145-50FE23D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22  创建两杯热牛奶的厨房单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7FEB2-BA71-44C1-B220-8101456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出餐 → + 手动创建厨房单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7972-5D09-4531-9DD7-D5E23F6A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509C8-8D64-41D4-9026-6C6FF4E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桌号填 A1，备注填“温热，2 杯”。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49A67-BCE5-4BFE-8EAC-29A8022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68E6-5531-4B6C-84E2-22BA952D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选择热牛奶 / 200 ml，数量填 2。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98D8C-FF9A-4F7B-8B12-468A295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30BCD-2D2F-4794-810F-FFB65B0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提交厨房单。当前系统按手动厨房单开展出餐。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0ADB4-57E3-4CFC-B2BF-D422BC5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建单还没有扣减食材。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A4F9E-27C6-411C-9A07-B2C191AF97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585d02ff9413b"/>
          <a:stretch xmlns:a="http://schemas.openxmlformats.org/drawingml/2006/main"/>
        </p:blipFill>
        <p:spPr>
          <a:xfrm xmlns:a="http://schemas.openxmlformats.org/drawingml/2006/main">
            <a:off x="7911796" y="1476375"/>
            <a:ext cx="335975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526D5-E4E6-4F87-8721-53B80C6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28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1913432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BE9BA-783E-4E85-BB05-57CA603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23  从待出餐订单开始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E8CD7-F1A0-4734-834F-7C350DC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待出餐订单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FE1C0-BF4A-4CCC-9F13-37E345C1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3B9E-9821-4AD6-9E77-3FEA258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确认桌号、备注、菜品规格和份数。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55363-FC22-4035-9140-3C85E69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14E6D-9D88-4A45-981E-825F0FA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点击这张单的“查看并出餐”。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E38E1-0AA9-4E5A-88C9-B789777D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C0CCA-911E-4197-87B0-9756EF8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系统会按配方与份数汇总需要扣减的用料。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DD0AE-E2F2-4951-8B8C-AAFE1C4D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两杯 × 每杯 200 ml = 本单 400 ml。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CEBB1-FCE2-4117-A97E-DB4C7DE35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272ec370c4cec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88497-92D4-4B85-8FEB-0DA6DB9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29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5731860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A687A-783A-45B1-9D9C-DF340FD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24  确认总用料，再出餐扣减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06946-1490-448D-9D2E-8AA5D1C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出餐用料 → 确认出餐并扣减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E1444-1120-44FF-8C2B-B4D015F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5893E-6B60-4B5C-8DEC-50B69511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鲜牛奶应显示：可用 1960 ml，缺口 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74125-06A1-4BFA-98C7-7FB8781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7BA3D-2130-4CAE-BA14-A1A9FD8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本单用料输入框应为 400，代表两杯总用量。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199C-3327-488D-A5C3-61F864B7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E4744-3EC1-43F4-86F6-507217B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现场需要微调时，填本单实际总用量并核对。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B4F6F-ADF8-4028-ABD6-14A2E7F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059A4-79D9-4BCD-904F-AE199D8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本例保持 400，点击“确认出餐并扣减”。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8E9A-6C21-47DC-BA63-E093FB91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“确认出餐并扣减”才真正减少食材库存。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4F51D-6B67-4282-BD51-4FC05889D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9f32afb5c491b"/>
          <a:stretch xmlns:a="http://schemas.openxmlformats.org/drawingml/2006/main"/>
        </p:blipFill>
        <p:spPr>
          <a:xfrm xmlns:a="http://schemas.openxmlformats.org/drawingml/2006/main">
            <a:off x="7600950" y="2694594"/>
            <a:ext cx="3981450" cy="223081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C566C-017B-4BAA-A6D5-C0118785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30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342152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4C4DF-126B-422B-9E7F-2F4E1B3D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25  出餐成功后，核对扣减结果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51CC8-95F7-4634-8D33-C008BFD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刚才出餐结果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81439-4326-4F06-B325-CBC67511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79E82-A396-42AC-887B-9564FDD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结果中应看到鲜牛奶实际扣减 400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A2547-5BD6-4733-8FEC-68FF555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C8714-9EA2-426D-ABE9-FA2772C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短缺应为 0；刚才的订单从待出餐列表移除。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01988-3798-430B-98AE-7D1929F6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73F08-0B1D-43B1-8BDB-9C9885B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查看“出餐扣减流水”，确认本单留下记录。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940A1-5127-4178-834C-1403861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成功后不要重新建同一张单再扣一次。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0B9DB-9714-42FA-BE5C-03133A420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cd9e92bb4f89"/>
          <a:stretch xmlns:a="http://schemas.openxmlformats.org/drawingml/2006/main"/>
        </p:blipFill>
        <p:spPr>
          <a:xfrm xmlns:a="http://schemas.openxmlformats.org/drawingml/2006/main">
            <a:off x="7600950" y="1499158"/>
            <a:ext cx="3981450" cy="462168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43567-741D-45B3-8229-C7BC2D4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31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5509382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04364-33D5-4DFE-82C3-0ACAE87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26  流水能追溯到具体批次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59F01-5A32-4A06-A782-E3D7DC2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出餐扣减流水 → 展开记录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7219F-85D0-4BD0-9055-111A1F30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811F4-E2A3-4FB4-8335-1E19E3E6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展开这次出餐记录。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149F6-F5C7-445B-BCD0-ABA4C5CB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91577-2B7F-433C-9A28-668AE58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核对食材、实际量、短缺量及扣减批次。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BC192-1AE2-475B-A274-1B83B2CE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B1616-0691-4932-AC46-3DF9CAEE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系统优先使用更早有效到期的可用批次。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D7561-84BD-44F4-991B-792668A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本例鲜牛奶合计扣减 400 ml，短缺 0。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359BB-42F3-4FB6-89A7-BBC6BCD73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e4fc6edf54439"/>
          <a:stretch xmlns:a="http://schemas.openxmlformats.org/drawingml/2006/main"/>
        </p:blipFill>
        <p:spPr>
          <a:xfrm xmlns:a="http://schemas.openxmlformats.org/drawingml/2006/main">
            <a:off x="7845843" y="1476375"/>
            <a:ext cx="3491664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C8E1D-4CB7-4CE4-BA79-3EFA87A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32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520189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DF58C-AB06-415C-80F5-FFE4696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27  回库存看最后的余额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4E111-BD19-473B-A50E-F08A804A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鲜牛奶 → 展开形态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78ECF-E331-4132-81B8-C19B016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F58ED-5F8E-4BA7-99C1-39F7E958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出品态剩余可用量应为 1560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436AB-0DD0-4847-A53E-D6BAE199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D601-E286-4111-A327-5F34202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未开盖的独立桶仍有 1 桶，即 2000 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1AE1E-C3B7-429B-A0BD-5E90AF60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1096E-DF5A-4DAD-B5FA-6A192C7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热牛奶每杯 200 ml，现在可再出 7 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10826-0EAD-423D-A14A-99868409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1960 − 400 = 1560 ml；这是本次练习的终点。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EAE02-58C4-4AC7-B527-EB52B711F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97d692cce4401"/>
          <a:stretch xmlns:a="http://schemas.openxmlformats.org/drawingml/2006/main"/>
        </p:blipFill>
        <p:spPr>
          <a:xfrm xmlns:a="http://schemas.openxmlformats.org/drawingml/2006/main">
            <a:off x="7600950" y="2371976"/>
            <a:ext cx="3981450" cy="28760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A8E84-D8B6-40AA-A086-B7162A8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33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878606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3011F-C738-4256-86A5-6000551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把这笔业务完整对上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8E541-52C4-4A44-A31E-4C9AB060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本例只执行一次入库、一次开盖、一次出餐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785E-4AEE-484A-A1C9-95ABD37DA85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095500"/>
                <a:gridCol w="4591050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尚未开盖的独立桶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库存的中间态层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剩余液体鲜奶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库存的出品态层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已经出餐扣减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出餐扣减流水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开盖损耗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作业结果 / 今日记录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4000 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等于采购入库的 2 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BD7C1-8C89-404A-A68C-62ECD09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2000 + 1560 + 400 + 40 = 4000 ml。核对时把未作业、可用、已消耗和损耗一起看。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66157-5CB9-4121-90CD-A2DAD0A5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34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57412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4B590-B5EB-4F91-8C85-2991E32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需要标签时，从批次详情打印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AA771-AEAB-4018-9CF6-234853FD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批次详情 → 打印食材标签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21B4B-AE97-4D05-B80A-C541E646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931F4-FF2E-45F8-AE82-C4CA0D0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打开产出批次，核对批次号、形态和有效到期。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1B88E-B6A7-49B0-9F0C-3B0C5446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B7FBF-9A0F-4991-9283-F791FAE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点击“打印食材标签”，进入标签打印界面。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43FA3-2ADE-488E-8511-7F04D9C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BF486-7B99-4335-9AE7-58DBC7B4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开盖后标签要显示新的有效到期，本例 2026-10-09。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2C668-E2A6-4359-B50C-2C98FC8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标签内容随实际批次生成，不能照抄教程批号。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CBBEE-7BF1-4964-82A0-E4297570C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b4b148f8f44c9"/>
          <a:stretch xmlns:a="http://schemas.openxmlformats.org/drawingml/2006/main"/>
        </p:blipFill>
        <p:spPr>
          <a:xfrm xmlns:a="http://schemas.openxmlformats.org/drawingml/2006/main">
            <a:off x="7600950" y="1569184"/>
            <a:ext cx="3981450" cy="448163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DEB88-A700-45E2-96B1-66B2246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35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005137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64651-2777-4CCB-BA01-79DAACB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蓝牙打印继续用原来的模块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01BB0-AC0A-4C41-8004-2027AFD3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蓝牙打印机 → 搜索并连接 → 打印标签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41886-B194-49DB-9DD3-CE493EB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B6014-32BD-4330-BB4C-BC0F4B6F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在企业微信真机内打开，准备蓝牙标签打印机。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FB689-D2DA-431B-9A57-3B82679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91610-6BBB-43B5-8CEE-754BC9B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开启蓝牙并授权，搜索设备、选择并连接打印机。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4D5A0-FE48-4D7C-AC7F-FD4E937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6983C-8DBA-48D1-BF9A-61368708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纸张用 60 × 40 mm，数量 1～10 张，再打印。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69C58-580E-4C82-A5ED-6444D5E3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请在企业微信真机上完成连接和出纸。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8DF99-04FA-4BFC-BA9F-61E4E27D5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973fdff064caf"/>
          <a:stretch xmlns:a="http://schemas.openxmlformats.org/drawingml/2006/main"/>
        </p:blipFill>
        <p:spPr>
          <a:xfrm xmlns:a="http://schemas.openxmlformats.org/drawingml/2006/main">
            <a:off x="7600950" y="1544943"/>
            <a:ext cx="3981450" cy="453011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703C3-5E37-4933-8E12-7689A22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36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4024240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7285C-61D3-4E2D-A3BD-E238D03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扩展：半成品要用专属分类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7B691-7516-471E-BAD4-7522931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 → 新增二级分类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1F63E-EE9C-443A-BE59-DEDA5DF9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7990A-E9A7-4E49-9479-4C761935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建立“半成品 / 奶制半成品”分类。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90F3-1CB5-4437-BE94-8965E315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561DF-7636-4A2A-B394-6385754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选择按件数，勾选“半成品分类”，启用后保存。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FB97D-A79A-4BEC-9EAF-F06A23C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EC8BA-503F-4749-AA02-7D843443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半成品通过制作产出，不作为普通采购食材入库。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BFDC1-C0DF-448B-944A-D7EAB1F1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以下奶冻示例是可选分支，不计入前面的余额核对。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A115-EBC8-44A8-A8A9-AC103C695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e66fe0f57410f"/>
          <a:stretch xmlns:a="http://schemas.openxmlformats.org/drawingml/2006/main"/>
        </p:blipFill>
        <p:spPr>
          <a:xfrm xmlns:a="http://schemas.openxmlformats.org/drawingml/2006/main">
            <a:off x="8132935" y="1476375"/>
            <a:ext cx="291748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BE02E-D8FD-41B4-A159-6DAF789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37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195073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D6CD4-A38A-46F8-B32D-287B2659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半成品配方按“每批”填写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934C5-2AA9-4C1D-878D-1EADF28E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半成品制作 → + 新建半成品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96A36-22E6-4A93-A5C6-B0FE122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C81FE-A935-40C0-9A60-26DD22E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名称“奶冻”；分类奶制半成品，基本单位“个”。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A929A-965F-47B3-83B2-10C745A7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9B1AB-C4FB-431E-8D0A-801FC46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每批产出基本量填 10。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E0B57-0100-43F6-ADFA-83C97264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60E7-4B6F-4067-9836-185622C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添加鲜牛奶，用量填 500 ml，然后保存。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16F39-FDB7-4427-8667-99B00BD1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本例一批：消耗 500 ml 鲜牛奶，产出 10 个奶冻。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61722-658A-4386-968B-175518F62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46970a6e34831"/>
          <a:stretch xmlns:a="http://schemas.openxmlformats.org/drawingml/2006/main"/>
        </p:blipFill>
        <p:spPr>
          <a:xfrm xmlns:a="http://schemas.openxmlformats.org/drawingml/2006/main">
            <a:off x="8282136" y="1476375"/>
            <a:ext cx="2619079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11808-DEA2-42AB-9E2F-48487E3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38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288709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FB6FC-E7FC-4CEA-89F9-E917D899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半成品确认制作也会改库存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37F1B-75F1-4957-B669-611FA17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奶冻 → 制作 → 预览所需原料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065EC-B677-4F5C-8F53-AAE49879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9AB8-B586-4410-898F-03BF0B27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制作批数填 1，选启用的下级区域。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6810A-9FA3-4B7E-9849-F58D229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E6E8B-C3D0-4F36-BAD4-D0C5F65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点击“预览所需原料”，核对每批用量与产出。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78A46-D2B0-4B11-A351-5137D408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AC7D8-ACA2-42A3-B1D9-2B17587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确认制作才会扣原料并新增半成品库存。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EEE68-50CA-4198-9E7C-7A2C814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570A4-B4FE-4BC9-ABC3-623DE03C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含奶冻的菜品配方，按每份所需的“个”填写。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50848-3F50-4EEC-B003-03DC18D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本教程只预览这条分支，未实际扣掉那 500 ml。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93F9D-BDFD-4108-A832-5DC547A70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4d605a64f41e8"/>
          <a:stretch xmlns:a="http://schemas.openxmlformats.org/drawingml/2006/main"/>
        </p:blipFill>
        <p:spPr>
          <a:xfrm xmlns:a="http://schemas.openxmlformats.org/drawingml/2006/main">
            <a:off x="7660071" y="1476375"/>
            <a:ext cx="38632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E00C9-300B-45B4-BB24-601B895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39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096925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461FA-D7FE-4112-84F9-8E1E7A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扩展：为区域配置检查项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0CF1-5FE3-45E1-B213-6B6BB352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存储区域 → 冷藏柜 → + 检查项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61BC3-1A0D-4F8C-960D-DE6FC42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A2415-4E5B-42DE-84C7-E05B028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名称“冷藏温度”，方法选数值，单位 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75233-B5AC-4702-B6E4-AAAA929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C5710-CD23-4976-93A0-73E234B7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上下限按本店标准填写；本例演示 0～5。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92977-64C9-498F-80DF-7DC17146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A5C50-85FE-459F-85C1-7550DE2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检查项启用并保存后，纳入开门检查。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C0220-1D2D-45F8-9761-171A0FC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数值合格与否由系统按配置阈值判断。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F319C-2F73-4125-8F42-C6548002C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d6e442791496b"/>
          <a:stretch xmlns:a="http://schemas.openxmlformats.org/drawingml/2006/main"/>
        </p:blipFill>
        <p:spPr>
          <a:xfrm xmlns:a="http://schemas.openxmlformats.org/drawingml/2006/main">
            <a:off x="8399162" y="1476375"/>
            <a:ext cx="2385026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82FE4-E06A-4FBC-9863-DB684C39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40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720479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EA642-9981-438F-AEB9-C02937F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开门检查：提交后还需店长确认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2C97B-6166-4391-93FC-7C1E5B8B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底部导航 → 开门检查 → 开始今日检查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35D9-81C0-45A9-88ED-7D7E5F6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D7D4D-2689-48F0-849C-CA88C32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逐项检查，录入实测值；需要照片的项目上传现场照片。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E4EFA-4FD9-49C1-97A9-A2BD10B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EFE6C-094F-460E-B31C-E248D05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本例温度填 4，点击“保存并提交检查”。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35893-A9D5-432B-9540-A5173405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483A4-4C29-4114-9817-9506ABE3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店长核对记录、补充处理并点击“店长确认”。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276F1-BBD6-4731-A8FA-965EDC4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“通过未填项”不会代替数值项目的现场测量。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0044-A337-4A62-93A7-F15AC4F70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0cf62ce844120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94966-C675-4D67-A6E8-8630F559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41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391456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FFBA6-7079-40B6-8098-DBB8AAB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盘点：保存实盘和过账分开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228D0-127C-40A5-B060-7B75EF1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盘点核对 → 生成盘点快照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6F9E8-4F65-440C-AD97-0164B36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CC348-5B3F-4FE9-8C6F-9B2BA70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先生成当前出品态快照，本例系统量 1560 ml。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135E6-A68C-4ADA-9150-A79205BC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E25CF-D62C-422C-AAB2-8C62493B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填实际盘点量；截图示例填 1550，并写说明。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921AA-CBB3-411F-ADE6-46C603F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6984-E924-4AD6-BFCF-0768C43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“保存实盘”只保存记录；店长“过账盘点”才调库存。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A2C3B-49F1-4F8A-8D33-47BF407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9CCE-393E-45D9-8CB1-F80EB534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盘点期间库存有变化，重新生成快照再核对。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44856-F514-4FEC-B43C-4975BB8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这里只演示填写，未过账；主线余额仍是 1560 ml。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B0392-157E-4BE1-9AE2-D2F5DC5FB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762c54cd3437b"/>
          <a:stretch xmlns:a="http://schemas.openxmlformats.org/drawingml/2006/main"/>
        </p:blipFill>
        <p:spPr>
          <a:xfrm xmlns:a="http://schemas.openxmlformats.org/drawingml/2006/main">
            <a:off x="7600950" y="1544943"/>
            <a:ext cx="3981450" cy="453011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419D8-9141-48E1-8BF0-E6804953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42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820110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A50B0-61FD-4AFA-8AD1-E9FD9DA7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看板和 Excel 用于检查链路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F8A99-1304-40E2-8A9B-AD148C20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数据看板 → 出品与配方链路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7668-7EA4-46E0-94F3-61DA0167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E31F9-878B-41A5-9D27-47BC77E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选择日期范围并点击“查询”。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0000C-4536-4F40-8BDD-E8B26AA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37F9B-049A-45CB-A94B-8662BFC9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查看成本、损耗、周转与盘盈，按需核对明细。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FC2C-352B-48D1-9A48-0D5FADC5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EF8CB-51B9-4865-B4C7-99E0916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在“出品与配方链路”点击“导出 Excel”。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7ECDF-DA06-4FFD-BCE5-E60A0D32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此导出是配方与采购作业链路，不是全部库存流水。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E23FB-0F91-4A90-BF24-E6EBA023D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aa82e815244c9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19CA0-BD30-4773-B013-8DE6992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43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57519030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F5EF7-E7C6-4557-99DF-A007E120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卡住时，按现象排查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BF508-F104-4D62-A963-A3F4E015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先定位缺少的是配置、可用量，还是权限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37529-BFA5-4F34-87BC-F9620E330E4D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857625"/>
                <a:gridCol w="4162425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入库没有食材 / 规格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两级分类、食材、规格是否启用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重新进入链路页核对配置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区域无法选择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是否为启用的二级区域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添加下级区域并启用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有库存却无法出餐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是否还是采购态 / 中间态，或未就绪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先作业；同时核对有效到期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用料出现缺口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配方基本单位、本单总量、可用量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按提示先作业或入库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请求结果未确认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原请求是否已成功，页面是否有重试提示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使用“重试原请求”，不要另建重复单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3F41-AB99-46FA-AD2D-0108A287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维护按钮缺失先核对员工角色与当前门店。入库、作业和出餐成功后，分别查看批次、作业记录和扣减流水。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3C39-6094-4FF4-BBF3-1AB2CD8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44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1181438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28781-E06F-4B73-B878-8DC8BC9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每天按这张清单操作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34D84-1800-4872-AA75-DB3EB5F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开门 → 收货 → 备料 → 出餐 → 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C9203-90A4-4925-8FD1-EDB7310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408F-5904-4D3D-8AB0-CB49EDF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开门：检查区域与设备，提交检查并由店长确认。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3C6DF-F20B-4A12-8CA9-8206206C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F20AA-068B-4EAC-BD6B-0EBB4CC0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收货：核对规格、数量、照片与日期，确认入库。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A93FA-B0BA-4B5D-9679-D2C675EB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B9821-2C49-4F40-99AE-E127664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备料：按作业 / 半成品配方填实际产出，等批次就绪。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878B8-762A-4790-B2D3-E842D59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9FDF5-AE48-4833-89DD-13202F0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出餐：核对本单总用料，确认扣减；收尾查临期、流水与盘点。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4BA9E-C307-4368-BCC7-399BE2C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练习终点：剩余 1560 ml；出餐流水扣减 400 ml。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A6073-9784-43FD-8C40-9404FC6B4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4c6c77cc142bd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4D770-5A4D-42B7-A17F-591A2F8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45 / 67  ·  2026-10-06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9117256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42D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DA2B-D972-49C2-A69F-2F74F87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进阶示例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FF178-996A-453A-9CB7-81C982B5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76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帕斯雀牛肉披萨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05204-6932-44CC-B4D6-F8A58B39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6样食材和辅料：入库 → 作业 → 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DF513-3FFB-43AD-A571-124C39A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出餐时按顾客要求微调，再核对扣减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2E78-5068-4E48-A660-A9714835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进阶示例 · 2026-10-18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B7A65-550D-4736-AB7E-3020C960A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2cc652f4a425c"/>
          <a:stretch xmlns:a="http://schemas.openxmlformats.org/drawingml/2006/main"/>
        </p:blipFill>
        <p:spPr>
          <a:xfrm xmlns:a="http://schemas.openxmlformats.org/drawingml/2006/main">
            <a:off x="8248756" y="685800"/>
            <a:ext cx="2666788" cy="558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B1D7E-70E2-43CD-B451-9FDEB87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EDDEC"/>
                </a:solidFill>
                <a:latin typeface="Microsoft YaHei"/>
                <a:ea typeface="Microsoft YaHei"/>
                <a:cs typeface="Microsoft YaHei"/>
              </a:rPr>
              <a:t>46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9517058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43CDE-0A55-4379-97E2-DAEA3F67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这次要准备什么？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213F6-4AE7-4B8E-8122-93BC390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6样东西：4种食材 + 2种辅料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AC02F-2E31-46E3-9B29-816F17837490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4305300"/>
                <a:gridCol w="2095500"/>
              </a:tblGrid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进货规格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 → 出品态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每份用量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高筋面粉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整袋 25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拆袋 → 面粉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马苏里拉奶酪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整块 2.5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刨丝 98% → 马苏里拉碎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帕斯雀牛肉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真空袋 1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开袋切片 97% → 牛肉片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罐装 3 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开罐 99% → 披萨酱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披萨盒 9 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整包 50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拆包 → 披萨盒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一次性刀叉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整箱 200 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拆箱 → 刀叉套装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84352-F547-4F96-9021-1CAC9E95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百分比是标准出成率，数值为教学示例。本例直接用面粉；面团也可先做成半成品（第37–39页）。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82D1E-2636-4BC5-8EC3-4DAA39EE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47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03215525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114A-E27B-4668-A0B0-070C41BE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先建分类和存放区域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75390-519A-4039-AC85-D0EE877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食材分类；更多 → 存储区域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6486D-7F54-4ADA-8F79-2070F50000C6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476500"/>
                <a:gridCol w="1714500"/>
                <a:gridCol w="2247900"/>
                <a:gridCol w="2247900"/>
              </a:tblGrid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一级分类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二级分类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计量方式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建议储存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粮油干货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按重量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乳制品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奶酪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按重量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肉类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熟肉制品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按重量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调味酱料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酱料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按重量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包材辅料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一次性用品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PKG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按件数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1143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1B589-8E21-4C4D-B71F-A0AB6202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作业后保质：奶酪、熟肉3天，酱料5天，面粉和包材留空。区域：后厨下建冷藏柜、干货架。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31447-51A3-42C8-90F1-D81041B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48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72934075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00EFD-50A0-4807-B4E3-1CBF7084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辅料单独建一个分类：按件数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92162-8941-4541-9324-8B381014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食材分类 → 包材辅料 → + 新增二级分类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EC523-11A8-44FE-9001-CF2B222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33595-BF62-4E8B-ABD4-15B7742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「物资」页的纸杯、手套是单独领用的，不会随出餐扣减。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B794A-509A-40BC-9105-5FF17EA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B5727-B6AB-4CB1-9C2B-D1877A5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要按单扣减的披萨盒、刀叉，就建成食材：一级「包材辅料」，二级「一次性用品」。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1819-8C5C-4C3C-908F-1E3C4D0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CBE94-1FB6-4F78-A84A-9E5777B2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计量方式选「按件数」，批次码PKG，常温储存。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3E3F1-A818-4EE0-9175-3CC41C3E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按件数的分类，基本单位是「个」。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9E11F-223F-4A68-A291-71B0EF392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828e64bdf47f8"/>
          <a:stretch xmlns:a="http://schemas.openxmlformats.org/drawingml/2006/main"/>
        </p:blipFill>
        <p:spPr>
          <a:xfrm xmlns:a="http://schemas.openxmlformats.org/drawingml/2006/main">
            <a:off x="8164790" y="1476375"/>
            <a:ext cx="285377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CFC8A-CC9D-46ED-BE7C-FEC8312B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49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7358845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B95D9-2EF1-479F-B6F5-DF01804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新建辅料：先选一级分类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3B5A8-090C-4611-B012-016C7D68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进货规格与链路 → + 新建食材档案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184C9-181F-4D68-A315-AA1E43C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18B4E-48B2-48F0-8628-E4A54035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先选一级「包材辅料」，再选二级「一次性用品」；没选一级时二级不能选。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AACB2-AD5F-4B13-923A-0F5EC68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36A4A-E6FD-4E07-B350-490E52E5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名称「披萨盒9寸」，出品态「披萨盒」，基本单位自动是「个」。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058A-927B-4C90-81E4-BD7B150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55835-F13F-45B7-A4F7-0DAE6C0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点「创建食材」保存；刀叉照此建，出品态叫「刀叉套装」。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64001-EC8A-401A-A6C3-BBEB61C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保存后若链路页没出现新食材，从「更多」重新进入。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33D4C-D5AE-4B78-8B94-EBF86C98C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ff91a5be34f80"/>
          <a:stretch xmlns:a="http://schemas.openxmlformats.org/drawingml/2006/main"/>
        </p:blipFill>
        <p:spPr>
          <a:xfrm xmlns:a="http://schemas.openxmlformats.org/drawingml/2006/main">
            <a:off x="8222525" y="1476375"/>
            <a:ext cx="273830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DCEC2-67A2-4629-8532-DE9195A8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50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2423714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65327-0325-4C50-B66E-0C84829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帕斯雀牛肉：加上游形态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0ACD4-914E-4E9D-9C48-9265C79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帕斯雀牛肉 → + 在上游加一个形态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E6CF0-64AE-4D40-9ECE-6D3F6DF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88E66-B6B1-430E-933A-9C06AD2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先建「帕斯雀牛肉」，出品态「牛肉片」，单位g。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596AA-AAC0-4DB9-8E14-FF350BB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AF285-A837-4C00-ADB8-3BE8239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上游形态「真空袋」：单位「袋」，每袋1000g，编码BAG。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337FD-7EA0-4BCE-8AB3-80055345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3FCB1-6D56-410E-B7A3-C5D29CA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作业「开袋切片」：出成率97%，作业后保质3天。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B378-B9DE-438B-A8A0-C9A0757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其余5样按第47页的表，同样先建出品态、再加上游。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343A7-EA4C-45D8-9E82-60D69880D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2b0cefb394e9c"/>
          <a:stretch xmlns:a="http://schemas.openxmlformats.org/drawingml/2006/main"/>
        </p:blipFill>
        <p:spPr>
          <a:xfrm xmlns:a="http://schemas.openxmlformats.org/drawingml/2006/main">
            <a:off x="8367577" y="1476375"/>
            <a:ext cx="2448196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07DA0-4475-4C1B-BDDD-5BCF20C5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51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995957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840A5-583E-4869-9E78-D1C0742A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链路建好，再加进货规格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E2D12-8AE8-4412-A464-F25D078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链路页 → 进货规格 → + 新增进货规格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47EEA-EC68-406D-9436-BB28F827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017EA-FEF6-43FB-B61C-ED404B0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链路显示「真空袋 → 开袋切片 → 牛肉片」，1袋=1000g。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0E2E4-1358-4AF0-B9D8-E57BE98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D2EE0-46AA-4B7F-B95A-1A884C83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新增进货规格「真空袋1kg」，入口形态默认最上游的「真空袋」。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7F7A8-9825-4FD9-9DA5-BBA3C68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8E98A-E3AA-447A-9279-6A3A121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6样都要建进货规格；有链路的食材，入库时必须选规格。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D6401-6DBB-45A2-AE7D-9D62DE9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本例6样都是「采购态 → 一次作业 → 出品态」。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86F35-0252-4AEF-89D0-0B1FEF5B5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7b67cec864c1d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BAF1C-742B-455A-97AE-7B91A66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52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32875314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ED810-EC48-4E74-B58B-B814E2B3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入库：一行一样，先加入清单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8F11D-549E-400A-BF11-A7E597F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入库 → 一级分类 → 二级分类 → 食材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ABFEC-7925-48BD-A713-81FB87C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91233-163B-4ECB-AFCC-0DB6900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依次选「肉类」「熟肉制品」「帕斯雀牛肉」，规格「真空袋1kg」。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08DBA-37CB-4630-9B97-B219BE5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4AD43-1E5B-4882-8466-AC5C2E5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储存选「冷藏」，区域选「后厨/冷藏柜」。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C910B-8832-4088-941A-1E6B9B5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50B4B-8490-4D89-A23D-2E8877D9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到期日2026-12-08，数量2（袋），金额360元，点「加入待提交清单」。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87393-88D1-47AA-B888-A0A7B90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6样逐一加入清单，最后一次确认入库。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D5065-FBAF-4D6A-9919-02DF55C2A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a726445c149e0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08052-1AEA-4B22-A67C-6547D29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53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472465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C837-2D8C-4006-9AD3-AAF927D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核对清单后，一次确认入库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8C761-2084-4260-A58B-CB7395F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入库 → 今日入库单 → 确认入库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46D66-CAB0-4B8E-8783-79E0B365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10AA4-0232-4E1B-8617-8A0A38C9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逐行核对规格、数量、储存方式和到期日。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3008D-5434-431A-B2CE-39DAB2A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73C2-25BE-4DFB-B9EC-E142A9E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批号只是预览：两种包材都显示PKG-01，确认后依次编成PKG-01、PKG-02。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D3C21-E0F4-4DC9-BA25-03E49AB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D1B36-47AF-4F0F-83AF-783B6F8D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核对无误，点「确认入库」。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8266-84EB-4D32-8DAD-13F1F85D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清单不改库存；确认入库后才写入批次。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39104-5829-4A5A-AC13-BAAB5355D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7c5e142c74521"/>
          <a:stretch xmlns:a="http://schemas.openxmlformats.org/drawingml/2006/main"/>
        </p:blipFill>
        <p:spPr>
          <a:xfrm xmlns:a="http://schemas.openxmlformats.org/drawingml/2006/main">
            <a:off x="8105623" y="1476375"/>
            <a:ext cx="2972105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8A7E9-5961-44AA-BB8D-CB8F4AA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54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48914236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296C6-DE4D-46D0-A2D5-22D50B90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入库后：6个批次都待作业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2301-18E7-4CEE-AB2A-D4D981E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入库 → 刚才入库的批次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AFD4C-A249-4459-89CF-1A3BAFD4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ACFA4-0F64-438D-9346-EC73FA3C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采购态批次还不能直接出餐，要先做作业。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9DA5B-A8B3-411E-8A60-841AF125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82470-DC51-4DFE-B3A7-57FE06BA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奶酪5000g、牛肉2000g、盒50个、刀叉200套。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C792A-0650-444A-8A20-DA3B0CE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16AB3-28C9-462E-ABEF-463510BA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批号按二级分类的批次码生成：FLR、CHZ、MEAT、SAU、PKG。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03062-3D06-4D4E-9803-B057C1D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本次入库金额共1065元。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DF884-5A71-45D2-B5FC-ADA2AA004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956a7735d4d01"/>
          <a:stretch xmlns:a="http://schemas.openxmlformats.org/drawingml/2006/main"/>
        </p:blipFill>
        <p:spPr>
          <a:xfrm xmlns:a="http://schemas.openxmlformats.org/drawingml/2006/main">
            <a:off x="8133617" y="1476375"/>
            <a:ext cx="2916115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73AF-AAFE-4E58-8B7C-88FABBB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55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2927012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C6DD6-71F2-44A0-AEFF-30D2582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作业：马苏里拉刨丝1块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2781C-0EE1-4878-A372-AE3318C3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作业 → 执行作业 → 来源批次261018-CHZ-01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6FCFE-D88B-4D69-ABBD-71AA28F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94A4-E0F7-47F4-BABC-3777110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来源批次选马苏里拉奶酪，投入数量1（块）。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E8DF9-4E5D-4E56-808B-EE6DE42A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A133F-BF65-4AE0-BF5C-AEE32C1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点「预览作业」，页面显示预计产出2450g和新到期日。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B053F-A3E4-447C-B481-8A595EFF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CF7D-3681-478B-9467-0ED5EDCD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按实际称重填产出2450，区域「后厨/冷藏柜」，点「确认作业」。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6C608-1C02-447D-AC27-6FC60723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刨丝后到期2026-10-21；未开的另一块到期日不变。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51F00-F1DB-4DAB-95FA-E405694B6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ac37dd68940fb"/>
          <a:stretch xmlns:a="http://schemas.openxmlformats.org/drawingml/2006/main"/>
        </p:blipFill>
        <p:spPr>
          <a:xfrm xmlns:a="http://schemas.openxmlformats.org/drawingml/2006/main">
            <a:off x="7856795" y="1476375"/>
            <a:ext cx="346976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C3C1-8BF2-4CEC-858B-379BF53C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56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93280442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6581B-EE23-4750-B9C3-2CA4E01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六个作业：投入与实际产出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AA4B-C23A-4F76-AC80-9FF8B08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每样先开一个采购单位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C9D0B-0919-4D4C-996D-E5B016AF8F3D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619250"/>
                <a:gridCol w="1143000"/>
                <a:gridCol w="1809750"/>
                <a:gridCol w="1333500"/>
                <a:gridCol w="2686050"/>
              </a:tblGrid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食材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作业后到期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高筋面粉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25000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2027-04-18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马苏里拉奶酪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刨丝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2450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帕斯雀牛肉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开袋切片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披萨盒 9 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2028-10-18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一次性刀叉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2028-10-18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CB48D-A278-44A7-9407-BCA5997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面粉、包材没填作业后保质，沿用原到期日。实际产出低于标准出成率时，页面会提示，损耗计入报表。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CDC22-0964-41AE-B0AD-6B2690DA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57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06068493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A4D9D-B28C-448D-924E-617221A2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配方：每份披萨6行用料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7A1D8-3E08-4B3A-A590-CD383EE0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更多 → 菜品配方 → + 新增菜品 → 编辑用料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D3D3-05C3-49EF-9714-9C4985F4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C7CB-A752-442B-A357-0187951D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新增菜品「帕斯雀牛肉披萨」，规格填「9寸」。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5825B-E571-4B36-A78D-61F7231F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64A6C-6FB3-46B0-BA4F-BF93F21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编辑用料，按1份填：面粉180、酱80、奶酪120、牛肉70（g）。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6AA3F-427C-4CA2-9E6B-6905AF1D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C3DB8-AF15-4521-8FB0-70AFAD3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辅料也加进来：披萨盒1、刀叉1，然后点「发布配方新版本」。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3DF31-586D-4623-BB17-79316C4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配方按1份填写；发布配方不扣库存。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C4FB4-09E2-4F85-AF9E-19755BCAE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b9ac7b63d4801"/>
          <a:stretch xmlns:a="http://schemas.openxmlformats.org/drawingml/2006/main"/>
        </p:blipFill>
        <p:spPr>
          <a:xfrm xmlns:a="http://schemas.openxmlformats.org/drawingml/2006/main">
            <a:off x="7946793" y="1476375"/>
            <a:ext cx="3289763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C86BE-128F-40D8-8368-CE6E582E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58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6776124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AC42B-1587-40A4-914D-06D86387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发布后：直接算出可出份数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8CE6-9CC6-4C0E-9133-759404D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菜品配方 → 帕斯雀牛肉披萨 / 9寸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336D6-BE83-4626-AB30-451D3C0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531B1-53B1-40F6-ABB9-40B2FD85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规格卡列出6行用料，右上角显示「13份可出餐」。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9F293-D6A0-4BF6-8135-683B814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15BA0-ABDE-4EB7-B5DE-585BD97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可出份数看最紧的那一样：牛肉970g÷70g = 13份。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E968B-4EDB-4B8F-9B07-A19ABFD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93C27-B97F-40EE-92CD-AC1BB3A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要多出餐，就先给另一袋牛肉做「开袋切片」。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0DD43-C849-4E6E-A0F8-2D300A94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只算出品态库存；采购态要先作业才算。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58B57-C9B9-41FD-8CB2-08DF3AF55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5a205f7ef4f93"/>
          <a:stretch xmlns:a="http://schemas.openxmlformats.org/drawingml/2006/main"/>
        </p:blipFill>
        <p:spPr>
          <a:xfrm xmlns:a="http://schemas.openxmlformats.org/drawingml/2006/main">
            <a:off x="7600950" y="2304452"/>
            <a:ext cx="3981450" cy="301109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1E75-F1CA-4B4E-8134-A892757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59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3281134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AB18E-0F16-457E-A2D8-9083F8E5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库存页：每样还能出几份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6D1A0-BA8F-4D02-A48B-747BAA00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展开食材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62287-B486-48E7-BECD-BC8F60C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882CC-AC85-42EF-9B38-567DCE5A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展开食材，看「出品态可用」「待作业」和「可出餐N份」。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C4F1B-6697-4955-8118-32D7032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987EE-A6B0-43BD-A007-1C166B4C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奶酪可用2450g，另1块待作业2500g，可出20份。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F9E7B-DA87-46C2-B080-638E56F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4151F-66D6-4A1B-AD76-FC1F61F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面粉138份、酱37份、披萨盒50份、刀叉200份。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86DC-44CE-4170-9373-39737730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牛肉13份最少，这道菜现在能出13份。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6F44-5B4F-4E64-BE44-07521D37F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f3389e7854523"/>
          <a:stretch xmlns:a="http://schemas.openxmlformats.org/drawingml/2006/main"/>
        </p:blipFill>
        <p:spPr>
          <a:xfrm xmlns:a="http://schemas.openxmlformats.org/drawingml/2006/main">
            <a:off x="7774427" y="1476375"/>
            <a:ext cx="3634497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23568-11F7-4F8C-A192-AF5504F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60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85026711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D8874-0DC5-4CF6-940A-338399BE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新建厨房单：A3桌2份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E164D-606F-497E-A673-C119E33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+ 手动创建厨房单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1E888-567B-4AC9-BC69-A230F52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BB8C-1A79-4A1A-B026-54120FFC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桌号A3，菜品「帕斯雀牛肉披萨 / 9寸」，份数2。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30BC6-B57C-4E19-8AB1-D3E7CA5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50D52-3DFA-48A1-8DA4-1C202EE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备注写顾客要求：3人用餐，加一套刀叉；一份多加芝士、少放酱。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A043-8480-4029-8DEC-302D5F4A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6D3AC-D124-4807-B1CF-D47B4A2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点「创建厨房单」，进入「待出餐订单」，此时还没扣库存。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FCD6E-2221-496B-A5E5-F0E3D86E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一单多道菜时，点「+ 添加菜品」继续加。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91146-3F5F-45B7-95F1-D3FF9C27AA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7abeb9d6485f"/>
          <a:stretch xmlns:a="http://schemas.openxmlformats.org/drawingml/2006/main"/>
        </p:blipFill>
        <p:spPr>
          <a:xfrm xmlns:a="http://schemas.openxmlformats.org/drawingml/2006/main">
            <a:off x="7946793" y="1476375"/>
            <a:ext cx="3289763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7888C-8F72-413F-82B5-7173382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61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63596670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A4ECF-8AC3-4D61-8567-50D3258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出餐预览：按2份自动汇总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14B07-0145-4DE9-BBC2-A27A3A7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待出餐订单 → 查看并出餐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AA721-F9B6-4EE4-8C19-25F531E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7BA92-4B72-4A0B-86DB-28C92BA3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按配方×2自动汇总：披萨盒2个、刀叉2个。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C1EED-52BC-44AB-AE56-369A037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78BA2-E381-4B87-A710-F862215B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面粉360g、奶酪240g、牛肉140g、酱160g。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524E7-A654-46BF-9EED-7EDA7D1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AFB1B-C8FD-4965-AC1B-D844C06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每行显示可用量，不够会提示短缺；改错了点「恢复配方用量」。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C0905-D2DF-47F6-AD54-41ED4624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预览不扣库存。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75F8C-F452-4D82-B590-1002DDBC4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45adba25b4836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F7C6E-6EE7-4680-837E-EF2FC29C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62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11276477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C9A5C-B7AB-4A40-9390-944846C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按顾客要求微调用量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BE48B-A3AA-46D4-ADCE-CDC52F27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本单实际用料 → 逐项修改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F3337-A007-49D9-8C75-080508A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9226E-0473-4B8B-9C95-79366CAA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马苏里拉奶酪240 → 280g：一份多加40g芝士。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FDA4D-875F-47BF-A2DC-08794E7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53D93-7E41-469B-9426-CE91AB39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披萨酱160 → 140g：一份少放20g。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35499-A894-41F1-B2B7-84B805F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3497C-3BDB-4557-B623-B005AE4B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一次性刀叉2 → 3：3人用餐；其他保持配方用量。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72FDD-13E4-4655-BF10-42AA2155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微调只改这一单，不改配方；填0表示不用。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3739C-F343-409F-B8FB-592A11B8A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22c93a9a44626"/>
          <a:stretch xmlns:a="http://schemas.openxmlformats.org/drawingml/2006/main"/>
        </p:blipFill>
        <p:spPr>
          <a:xfrm xmlns:a="http://schemas.openxmlformats.org/drawingml/2006/main">
            <a:off x="8388589" y="1476375"/>
            <a:ext cx="2406173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38F9E-924E-4760-B248-4F72D395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63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87356360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CCA4D-E46D-4F3B-A82F-0ECDBBE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确认出餐，按实际用量扣减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DF188-117F-4EB1-BFB2-C1736EA5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本单实际用料 → 确认出餐并扣减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9ED7-6206-4089-ACDC-0EAAE5E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058AA-BCE6-4AEF-83D0-61C4D9F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点「确认出餐并扣减」，订单离开「待出餐订单」。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2E5B-D749-486A-BE09-85CA78E7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0B0CB-BBE9-4186-9307-F35BF745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按微调后的用量扣：奶酪280、酱140、刀叉3，短缺都是0。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D313A-C39C-43B1-AB42-14815534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2D5D6-C62A-4969-A912-43F96FB5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扣减成本按批次金额计算，本单约53.75元。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03AD8-85B0-4D89-ADFA-28A6733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扣的是出品态批次，未开的奶酪和牛肉不动。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6A085-2C2E-4BBF-96F9-6DD9610B1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62dad953d4b8c"/>
          <a:stretch xmlns:a="http://schemas.openxmlformats.org/drawingml/2006/main"/>
        </p:blipFill>
        <p:spPr>
          <a:xfrm xmlns:a="http://schemas.openxmlformats.org/drawingml/2006/main">
            <a:off x="7960326" y="1476375"/>
            <a:ext cx="326269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A17FE-8ED6-4468-81EB-D53A9FE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64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24683380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4CE77-5AF7-47B1-A490-E4A8609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扣减流水：每样扣了哪个批次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C5D0C-9157-45B3-96F7-77E7671F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出餐 → 出餐扣减流水 → 展开本单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2E60-782E-4FC0-B571-970A64B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7154-9525-4254-8573-E598DE1E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展开「SERVE-20261018-0001」，备注带着顾客要求。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DE2A1-9E56-4876-9570-2C14315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680E0-94BF-4815-948E-9800672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每行列出食材和实际用量，以及扣自哪个批次、数量和金额。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A1546-0E00-4F87-92DF-EFFEE36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56DB-0E56-4E5C-9559-68F9ED4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对账时看这里，不用翻厨房单。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A1CE7-29E8-4839-807F-F25202E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一单一条流水；扣到多个批次时分行列出。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8D5E2-F4C8-403D-96A0-42425494C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50c9c8923481a"/>
          <a:stretch xmlns:a="http://schemas.openxmlformats.org/drawingml/2006/main"/>
        </p:blipFill>
        <p:spPr>
          <a:xfrm xmlns:a="http://schemas.openxmlformats.org/drawingml/2006/main">
            <a:off x="8326921" y="1476375"/>
            <a:ext cx="2529508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0834C-9B47-4754-8F42-CEC0000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65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1161023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80508-233C-4686-A958-541F574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扣减核对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D1DE-ED89-4429-9561-1214B4C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作业后可用 − 本单扣减 = 剩余可用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B84A3-003A-4DA1-B683-5BD36F45FB3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095500"/>
                <a:gridCol w="1905000"/>
                <a:gridCol w="2095500"/>
                <a:gridCol w="2495550"/>
              </a:tblGrid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食材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作业后可用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本单扣减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仍在采购态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T w="9525">
                      <a:solidFill>
                        <a:srgbClr val="DDE5ED"/>
                      </a:solidFill>
                      <a:prstDash val="solid"/>
                    </a:lnT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142D47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高筋面粉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25000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24640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马苏里拉奶酪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2450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块 2500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帕斯雀牛肉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袋 1000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2970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2830 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披萨盒 9 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551089"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一次性刀叉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5ED"/>
                      </a:solidFill>
                      <a:prstDash val="solid"/>
                    </a:lnL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 个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85725" rIns="114300" bIns="571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5ED"/>
                      </a:solidFill>
                      <a:prstDash val="solid"/>
                    </a:lnR>
                    <a:lnB w="9525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2C3B4-2B9A-4357-9C51-1C61697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奶酪2170 + 280 + 损耗50 + 未开2500 = 入库5000g；牛肉830 + 140 + 30 + 1000 = 2000g。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E9618-5486-4CE8-A6A4-6FB32A5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66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125520960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709C3-0764-4496-BE4C-623D3AB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D47"/>
                </a:solidFill>
                <a:latin typeface="Microsoft YaHei"/>
                <a:ea typeface="Microsoft YaHei"/>
                <a:cs typeface="Microsoft YaHei"/>
              </a:rPr>
              <a:t>出餐后：库存和可出份数一起变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5A557-6F96-4054-9017-267A1250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库存 → 马苏里拉奶酪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9F690-7E41-4464-B333-B18257D7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61BC7-D3A2-448C-9FDE-0F5F98A0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奶酪出品态可用2170g，可出餐从20份变成18份。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F80AC-3B3F-4BFE-BBE2-5B2D0A09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061E0-5175-4FDF-BEFF-59054BF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另一块「整块」仍待作业，快用完前再刨丝。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32B9D-4F32-49EC-863F-5B1D137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DE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C53C5-BB35-4078-A05B-4AFC74FD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3C50"/>
                </a:solidFill>
                <a:latin typeface="Microsoft YaHei"/>
                <a:ea typeface="Microsoft YaHei"/>
                <a:cs typeface="Microsoft YaHei"/>
              </a:rPr>
              <a:t>刨丝后的批次2026-10-21到期，会出现在首页的临期提醒里。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AADB1-CA2E-4757-B1E5-88359A9E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446"/>
                </a:solidFill>
                <a:latin typeface="Microsoft YaHei"/>
                <a:ea typeface="Microsoft YaHei"/>
                <a:cs typeface="Microsoft YaHei"/>
              </a:rPr>
              <a:t>每天看库存页决定开不开新的一块，临期的先用。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01BF7-07DE-410E-B7FE-FBA43147D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1741a91154727"/>
          <a:stretch xmlns:a="http://schemas.openxmlformats.org/drawingml/2006/main"/>
        </p:blipFill>
        <p:spPr>
          <a:xfrm xmlns:a="http://schemas.openxmlformats.org/drawingml/2006/main">
            <a:off x="8134155" y="1476375"/>
            <a:ext cx="2915040" cy="4667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062D9-5176-4977-8F3C-C6CE4E3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88A"/>
                </a:solidFill>
                <a:latin typeface="Microsoft YaHei"/>
                <a:ea typeface="Microsoft YaHei"/>
                <a:cs typeface="Microsoft YaHei"/>
              </a:rPr>
              <a:t>67 / 67  ·  2026-10-18  ·  演示数据</a:t>
            </a:r>
          </a:p>
        </p:txBody>
      </p:sp>
    </p:spTree>
    <p:extLst>
      <p:ext uri="{BB962C8B-B14F-4D97-AF65-F5344CB8AC3E}">
        <p14:creationId xmlns:p14="http://schemas.microsoft.com/office/powerpoint/2010/main" val="397654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2026-10-18T05:06:44.4300000Z</dcterms:created>
  <dcterms:modified xsi:type="dcterms:W3CDTF">2026-10-18T05:06:44.4310000Z</dcterms:modified>
</coreProperties>
</file>