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cf144c16b84296" /><Relationship Type="http://schemas.openxmlformats.org/officeDocument/2006/relationships/extended-properties" Target="/docProps/app.xml" Id="R072981092228482b" /><Relationship Type="http://schemas.openxmlformats.org/officeDocument/2006/relationships/officeDocument" Target="/ppt/presentation.xml" Id="R4b2f2ad4ac0649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0d7fb8761a4f02"/>
  </p:sldMasterIdLst>
  <p:notesMasterIdLst>
    <p:notesMasterId xmlns:r="http://schemas.openxmlformats.org/officeDocument/2006/relationships" r:id="Re47c652c69574efe"/>
  </p:notesMasterIdLst>
  <p:sldIdLst>
    <p:sldId xmlns:r="http://schemas.openxmlformats.org/officeDocument/2006/relationships" id="256" r:id="Rc3b9e9fa2f1c47d6"/>
    <p:sldId xmlns:r="http://schemas.openxmlformats.org/officeDocument/2006/relationships" id="257" r:id="R9f2125b1bc454991"/>
    <p:sldId xmlns:r="http://schemas.openxmlformats.org/officeDocument/2006/relationships" id="258" r:id="R9fd8c78388cd4f9d"/>
    <p:sldId xmlns:r="http://schemas.openxmlformats.org/officeDocument/2006/relationships" id="259" r:id="R27326e0f528c4633"/>
    <p:sldId xmlns:r="http://schemas.openxmlformats.org/officeDocument/2006/relationships" id="260" r:id="Ra799e1f7be064c18"/>
    <p:sldId xmlns:r="http://schemas.openxmlformats.org/officeDocument/2006/relationships" id="261" r:id="Rbb9a516f3284410a"/>
    <p:sldId xmlns:r="http://schemas.openxmlformats.org/officeDocument/2006/relationships" id="262" r:id="R7c1f419a6a764369"/>
    <p:sldId xmlns:r="http://schemas.openxmlformats.org/officeDocument/2006/relationships" id="263" r:id="R53cc70d61ebf4e24"/>
    <p:sldId xmlns:r="http://schemas.openxmlformats.org/officeDocument/2006/relationships" id="264" r:id="R2d407c62c74b4c96"/>
    <p:sldId xmlns:r="http://schemas.openxmlformats.org/officeDocument/2006/relationships" id="265" r:id="Re01ff404ea5f4c09"/>
    <p:sldId xmlns:r="http://schemas.openxmlformats.org/officeDocument/2006/relationships" id="266" r:id="Re28b1f5c9f0740ab"/>
    <p:sldId xmlns:r="http://schemas.openxmlformats.org/officeDocument/2006/relationships" id="267" r:id="Rea4724bc99ba42e5"/>
    <p:sldId xmlns:r="http://schemas.openxmlformats.org/officeDocument/2006/relationships" id="268" r:id="R070cea14578a445b"/>
    <p:sldId xmlns:r="http://schemas.openxmlformats.org/officeDocument/2006/relationships" id="269" r:id="Ra3cb9d9837824afc"/>
    <p:sldId xmlns:r="http://schemas.openxmlformats.org/officeDocument/2006/relationships" id="270" r:id="Rb078b5aee9f84847"/>
    <p:sldId xmlns:r="http://schemas.openxmlformats.org/officeDocument/2006/relationships" id="271" r:id="R422ba2b055e447dc"/>
    <p:sldId xmlns:r="http://schemas.openxmlformats.org/officeDocument/2006/relationships" id="272" r:id="R65b6144306e14ddd"/>
    <p:sldId xmlns:r="http://schemas.openxmlformats.org/officeDocument/2006/relationships" id="273" r:id="R6037aff8aa594597"/>
    <p:sldId xmlns:r="http://schemas.openxmlformats.org/officeDocument/2006/relationships" id="274" r:id="R8f6684fcfe63401f"/>
    <p:sldId xmlns:r="http://schemas.openxmlformats.org/officeDocument/2006/relationships" id="275" r:id="R10675be91aa44f81"/>
    <p:sldId xmlns:r="http://schemas.openxmlformats.org/officeDocument/2006/relationships" id="276" r:id="Ra09179f3db87418f"/>
    <p:sldId xmlns:r="http://schemas.openxmlformats.org/officeDocument/2006/relationships" id="277" r:id="R9b5fa7417b324bde"/>
    <p:sldId xmlns:r="http://schemas.openxmlformats.org/officeDocument/2006/relationships" id="278" r:id="R1c8b3c596e374db8"/>
    <p:sldId xmlns:r="http://schemas.openxmlformats.org/officeDocument/2006/relationships" id="279" r:id="Rd4b9f51dd55a4d0b"/>
    <p:sldId xmlns:r="http://schemas.openxmlformats.org/officeDocument/2006/relationships" id="280" r:id="R557645d1a6214236"/>
    <p:sldId xmlns:r="http://schemas.openxmlformats.org/officeDocument/2006/relationships" id="281" r:id="R49f8b6743fdd43a8"/>
    <p:sldId xmlns:r="http://schemas.openxmlformats.org/officeDocument/2006/relationships" id="282" r:id="R6138571d9ed64c66"/>
    <p:sldId xmlns:r="http://schemas.openxmlformats.org/officeDocument/2006/relationships" id="283" r:id="R7f166763427b491a"/>
    <p:sldId xmlns:r="http://schemas.openxmlformats.org/officeDocument/2006/relationships" id="284" r:id="Rcb173851fcfd4600"/>
    <p:sldId xmlns:r="http://schemas.openxmlformats.org/officeDocument/2006/relationships" id="285" r:id="Rde5699a7989b44d2"/>
    <p:sldId xmlns:r="http://schemas.openxmlformats.org/officeDocument/2006/relationships" id="286" r:id="Rdf1c4deabc264730"/>
    <p:sldId xmlns:r="http://schemas.openxmlformats.org/officeDocument/2006/relationships" id="287" r:id="R15b49a87e541499e"/>
    <p:sldId xmlns:r="http://schemas.openxmlformats.org/officeDocument/2006/relationships" id="288" r:id="Rd43d834f91724921"/>
    <p:sldId xmlns:r="http://schemas.openxmlformats.org/officeDocument/2006/relationships" id="289" r:id="R5d8b1f484fed46e4"/>
    <p:sldId xmlns:r="http://schemas.openxmlformats.org/officeDocument/2006/relationships" id="290" r:id="R779d3639b8184a23"/>
    <p:sldId xmlns:r="http://schemas.openxmlformats.org/officeDocument/2006/relationships" id="291" r:id="R97b3019583b04d0a"/>
    <p:sldId xmlns:r="http://schemas.openxmlformats.org/officeDocument/2006/relationships" id="292" r:id="Read45accbc3d46fe"/>
    <p:sldId xmlns:r="http://schemas.openxmlformats.org/officeDocument/2006/relationships" id="293" r:id="R72fe3349c364407a"/>
    <p:sldId xmlns:r="http://schemas.openxmlformats.org/officeDocument/2006/relationships" id="294" r:id="R1d88ab65a97247ea"/>
    <p:sldId xmlns:r="http://schemas.openxmlformats.org/officeDocument/2006/relationships" id="295" r:id="Rbb6cafa95e214d71"/>
    <p:sldId xmlns:r="http://schemas.openxmlformats.org/officeDocument/2006/relationships" id="296" r:id="R3590cbf073de440a"/>
    <p:sldId xmlns:r="http://schemas.openxmlformats.org/officeDocument/2006/relationships" id="297" r:id="Rb742da3bf5d24c1e"/>
    <p:sldId xmlns:r="http://schemas.openxmlformats.org/officeDocument/2006/relationships" id="298" r:id="R89ecbc9d7b00475b"/>
    <p:sldId xmlns:r="http://schemas.openxmlformats.org/officeDocument/2006/relationships" id="299" r:id="Red798b17cc1c4dff"/>
    <p:sldId xmlns:r="http://schemas.openxmlformats.org/officeDocument/2006/relationships" id="300" r:id="R8d0419c186d446c1"/>
    <p:sldId xmlns:r="http://schemas.openxmlformats.org/officeDocument/2006/relationships" id="301" r:id="R97b1042e8d7147a8"/>
    <p:sldId xmlns:r="http://schemas.openxmlformats.org/officeDocument/2006/relationships" id="302" r:id="R60c25f5d21c54bda"/>
    <p:sldId xmlns:r="http://schemas.openxmlformats.org/officeDocument/2006/relationships" id="303" r:id="R68afa491772948d4"/>
    <p:sldId xmlns:r="http://schemas.openxmlformats.org/officeDocument/2006/relationships" id="304" r:id="Rc58ef392657a400f"/>
    <p:sldId xmlns:r="http://schemas.openxmlformats.org/officeDocument/2006/relationships" id="305" r:id="R8e7e977e1c2d4e1e"/>
    <p:sldId xmlns:r="http://schemas.openxmlformats.org/officeDocument/2006/relationships" id="306" r:id="R0b3f1329ebf743f9"/>
    <p:sldId xmlns:r="http://schemas.openxmlformats.org/officeDocument/2006/relationships" id="307" r:id="Rea54973b48634976"/>
    <p:sldId xmlns:r="http://schemas.openxmlformats.org/officeDocument/2006/relationships" id="308" r:id="R26abcf9f0c3744b6"/>
    <p:sldId xmlns:r="http://schemas.openxmlformats.org/officeDocument/2006/relationships" id="309" r:id="Rb2f4ce0093e24549"/>
    <p:sldId xmlns:r="http://schemas.openxmlformats.org/officeDocument/2006/relationships" id="310" r:id="Rda3d16e0da1946f8"/>
    <p:sldId xmlns:r="http://schemas.openxmlformats.org/officeDocument/2006/relationships" id="311" r:id="Rde97ff2dccd349f6"/>
    <p:sldId xmlns:r="http://schemas.openxmlformats.org/officeDocument/2006/relationships" id="312" r:id="Rf63b92acdc2349bb"/>
    <p:sldId xmlns:r="http://schemas.openxmlformats.org/officeDocument/2006/relationships" id="313" r:id="R294ddeab0272415d"/>
    <p:sldId xmlns:r="http://schemas.openxmlformats.org/officeDocument/2006/relationships" id="314" r:id="R4a2ebab05eac4f58"/>
    <p:sldId xmlns:r="http://schemas.openxmlformats.org/officeDocument/2006/relationships" id="315" r:id="R8112d99edbaf49d8"/>
    <p:sldId xmlns:r="http://schemas.openxmlformats.org/officeDocument/2006/relationships" id="316" r:id="Rc248f26dbdcd47cf"/>
    <p:sldId xmlns:r="http://schemas.openxmlformats.org/officeDocument/2006/relationships" id="317" r:id="R49a7d1f11f794737"/>
    <p:sldId xmlns:r="http://schemas.openxmlformats.org/officeDocument/2006/relationships" id="318" r:id="Rc797ccdb055e431e"/>
    <p:sldId xmlns:r="http://schemas.openxmlformats.org/officeDocument/2006/relationships" id="319" r:id="Rd176df707b0b44f2"/>
    <p:sldId xmlns:r="http://schemas.openxmlformats.org/officeDocument/2006/relationships" id="320" r:id="R1ceed66a1a524a5f"/>
    <p:sldId xmlns:r="http://schemas.openxmlformats.org/officeDocument/2006/relationships" id="321" r:id="R8827fb9dfc0a44b2"/>
    <p:sldId xmlns:r="http://schemas.openxmlformats.org/officeDocument/2006/relationships" id="322" r:id="Rc56706cab86742b7"/>
    <p:sldId xmlns:r="http://schemas.openxmlformats.org/officeDocument/2006/relationships" id="323" r:id="Rd60d05fbc1d74884"/>
    <p:sldId xmlns:r="http://schemas.openxmlformats.org/officeDocument/2006/relationships" id="324" r:id="R7c1b2b9ad08a4feb"/>
    <p:sldId xmlns:r="http://schemas.openxmlformats.org/officeDocument/2006/relationships" id="325" r:id="R7f0f9d8eebe64ddc"/>
    <p:sldId xmlns:r="http://schemas.openxmlformats.org/officeDocument/2006/relationships" id="326" r:id="R4900755178034f0c"/>
    <p:sldId xmlns:r="http://schemas.openxmlformats.org/officeDocument/2006/relationships" id="327" r:id="R4f16140b2eb54e70"/>
    <p:sldId xmlns:r="http://schemas.openxmlformats.org/officeDocument/2006/relationships" id="328" r:id="Rf5f949a79a7c40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ea66baed7a44d4" /><Relationship Type="http://schemas.openxmlformats.org/officeDocument/2006/relationships/slideMaster" Target="/ppt/slideMasters/slideMaster1.xml" Id="R000d7fb8761a4f02" /><Relationship Type="http://schemas.openxmlformats.org/officeDocument/2006/relationships/notesMaster" Target="/ppt/notesMasters/notesMaster1.xml" Id="Re47c652c69574efe" /><Relationship Type="http://schemas.openxmlformats.org/officeDocument/2006/relationships/presProps" Target="/ppt/presProps.xml" Id="Rb40c2cf80df14927" /><Relationship Type="http://schemas.openxmlformats.org/officeDocument/2006/relationships/tableStyles" Target="/ppt/tableStyles.xml" Id="Rec23706402ec449e" /><Relationship Type="http://schemas.openxmlformats.org/officeDocument/2006/relationships/slide" Target="/ppt/slides/slide1.xml" Id="Rc3b9e9fa2f1c47d6" /><Relationship Type="http://schemas.openxmlformats.org/officeDocument/2006/relationships/slide" Target="/ppt/slides/slide2.xml" Id="R9f2125b1bc454991" /><Relationship Type="http://schemas.openxmlformats.org/officeDocument/2006/relationships/slide" Target="/ppt/slides/slide3.xml" Id="R9fd8c78388cd4f9d" /><Relationship Type="http://schemas.openxmlformats.org/officeDocument/2006/relationships/slide" Target="/ppt/slides/slide4.xml" Id="R27326e0f528c4633" /><Relationship Type="http://schemas.openxmlformats.org/officeDocument/2006/relationships/slide" Target="/ppt/slides/slide5.xml" Id="Ra799e1f7be064c18" /><Relationship Type="http://schemas.openxmlformats.org/officeDocument/2006/relationships/slide" Target="/ppt/slides/slide6.xml" Id="Rbb9a516f3284410a" /><Relationship Type="http://schemas.openxmlformats.org/officeDocument/2006/relationships/slide" Target="/ppt/slides/slide7.xml" Id="R7c1f419a6a764369" /><Relationship Type="http://schemas.openxmlformats.org/officeDocument/2006/relationships/slide" Target="/ppt/slides/slide8.xml" Id="R53cc70d61ebf4e24" /><Relationship Type="http://schemas.openxmlformats.org/officeDocument/2006/relationships/slide" Target="/ppt/slides/slide9.xml" Id="R2d407c62c74b4c96" /><Relationship Type="http://schemas.openxmlformats.org/officeDocument/2006/relationships/slide" Target="/ppt/slides/slide10.xml" Id="Re01ff404ea5f4c09" /><Relationship Type="http://schemas.openxmlformats.org/officeDocument/2006/relationships/slide" Target="/ppt/slides/slide11.xml" Id="Re28b1f5c9f0740ab" /><Relationship Type="http://schemas.openxmlformats.org/officeDocument/2006/relationships/slide" Target="/ppt/slides/slide12.xml" Id="Rea4724bc99ba42e5" /><Relationship Type="http://schemas.openxmlformats.org/officeDocument/2006/relationships/slide" Target="/ppt/slides/slide13.xml" Id="R070cea14578a445b" /><Relationship Type="http://schemas.openxmlformats.org/officeDocument/2006/relationships/slide" Target="/ppt/slides/slide14.xml" Id="Ra3cb9d9837824afc" /><Relationship Type="http://schemas.openxmlformats.org/officeDocument/2006/relationships/slide" Target="/ppt/slides/slide15.xml" Id="Rb078b5aee9f84847" /><Relationship Type="http://schemas.openxmlformats.org/officeDocument/2006/relationships/slide" Target="/ppt/slides/slide16.xml" Id="R422ba2b055e447dc" /><Relationship Type="http://schemas.openxmlformats.org/officeDocument/2006/relationships/slide" Target="/ppt/slides/slide17.xml" Id="R65b6144306e14ddd" /><Relationship Type="http://schemas.openxmlformats.org/officeDocument/2006/relationships/slide" Target="/ppt/slides/slide18.xml" Id="R6037aff8aa594597" /><Relationship Type="http://schemas.openxmlformats.org/officeDocument/2006/relationships/slide" Target="/ppt/slides/slide19.xml" Id="R8f6684fcfe63401f" /><Relationship Type="http://schemas.openxmlformats.org/officeDocument/2006/relationships/slide" Target="/ppt/slides/slide20.xml" Id="R10675be91aa44f81" /><Relationship Type="http://schemas.openxmlformats.org/officeDocument/2006/relationships/slide" Target="/ppt/slides/slide21.xml" Id="Ra09179f3db87418f" /><Relationship Type="http://schemas.openxmlformats.org/officeDocument/2006/relationships/slide" Target="/ppt/slides/slide22.xml" Id="R9b5fa7417b324bde" /><Relationship Type="http://schemas.openxmlformats.org/officeDocument/2006/relationships/slide" Target="/ppt/slides/slide23.xml" Id="R1c8b3c596e374db8" /><Relationship Type="http://schemas.openxmlformats.org/officeDocument/2006/relationships/slide" Target="/ppt/slides/slide24.xml" Id="Rd4b9f51dd55a4d0b" /><Relationship Type="http://schemas.openxmlformats.org/officeDocument/2006/relationships/slide" Target="/ppt/slides/slide25.xml" Id="R557645d1a6214236" /><Relationship Type="http://schemas.openxmlformats.org/officeDocument/2006/relationships/slide" Target="/ppt/slides/slide26.xml" Id="R49f8b6743fdd43a8" /><Relationship Type="http://schemas.openxmlformats.org/officeDocument/2006/relationships/slide" Target="/ppt/slides/slide27.xml" Id="R6138571d9ed64c66" /><Relationship Type="http://schemas.openxmlformats.org/officeDocument/2006/relationships/slide" Target="/ppt/slides/slide28.xml" Id="R7f166763427b491a" /><Relationship Type="http://schemas.openxmlformats.org/officeDocument/2006/relationships/slide" Target="/ppt/slides/slide29.xml" Id="Rcb173851fcfd4600" /><Relationship Type="http://schemas.openxmlformats.org/officeDocument/2006/relationships/slide" Target="/ppt/slides/slide30.xml" Id="Rde5699a7989b44d2" /><Relationship Type="http://schemas.openxmlformats.org/officeDocument/2006/relationships/slide" Target="/ppt/slides/slide31.xml" Id="Rdf1c4deabc264730" /><Relationship Type="http://schemas.openxmlformats.org/officeDocument/2006/relationships/slide" Target="/ppt/slides/slide32.xml" Id="R15b49a87e541499e" /><Relationship Type="http://schemas.openxmlformats.org/officeDocument/2006/relationships/slide" Target="/ppt/slides/slide33.xml" Id="Rd43d834f91724921" /><Relationship Type="http://schemas.openxmlformats.org/officeDocument/2006/relationships/slide" Target="/ppt/slides/slide34.xml" Id="R5d8b1f484fed46e4" /><Relationship Type="http://schemas.openxmlformats.org/officeDocument/2006/relationships/slide" Target="/ppt/slides/slide35.xml" Id="R779d3639b8184a23" /><Relationship Type="http://schemas.openxmlformats.org/officeDocument/2006/relationships/slide" Target="/ppt/slides/slide36.xml" Id="R97b3019583b04d0a" /><Relationship Type="http://schemas.openxmlformats.org/officeDocument/2006/relationships/slide" Target="/ppt/slides/slide37.xml" Id="Read45accbc3d46fe" /><Relationship Type="http://schemas.openxmlformats.org/officeDocument/2006/relationships/slide" Target="/ppt/slides/slide38.xml" Id="R72fe3349c364407a" /><Relationship Type="http://schemas.openxmlformats.org/officeDocument/2006/relationships/slide" Target="/ppt/slides/slide39.xml" Id="R1d88ab65a97247ea" /><Relationship Type="http://schemas.openxmlformats.org/officeDocument/2006/relationships/slide" Target="/ppt/slides/slide40.xml" Id="Rbb6cafa95e214d71" /><Relationship Type="http://schemas.openxmlformats.org/officeDocument/2006/relationships/slide" Target="/ppt/slides/slide41.xml" Id="R3590cbf073de440a" /><Relationship Type="http://schemas.openxmlformats.org/officeDocument/2006/relationships/slide" Target="/ppt/slides/slide42.xml" Id="Rb742da3bf5d24c1e" /><Relationship Type="http://schemas.openxmlformats.org/officeDocument/2006/relationships/slide" Target="/ppt/slides/slide43.xml" Id="R89ecbc9d7b00475b" /><Relationship Type="http://schemas.openxmlformats.org/officeDocument/2006/relationships/slide" Target="/ppt/slides/slide44.xml" Id="Red798b17cc1c4dff" /><Relationship Type="http://schemas.openxmlformats.org/officeDocument/2006/relationships/slide" Target="/ppt/slides/slide45.xml" Id="R8d0419c186d446c1" /><Relationship Type="http://schemas.openxmlformats.org/officeDocument/2006/relationships/slide" Target="/ppt/slides/slide46.xml" Id="R97b1042e8d7147a8" /><Relationship Type="http://schemas.openxmlformats.org/officeDocument/2006/relationships/slide" Target="/ppt/slides/slide47.xml" Id="R60c25f5d21c54bda" /><Relationship Type="http://schemas.openxmlformats.org/officeDocument/2006/relationships/slide" Target="/ppt/slides/slide48.xml" Id="R68afa491772948d4" /><Relationship Type="http://schemas.openxmlformats.org/officeDocument/2006/relationships/slide" Target="/ppt/slides/slide49.xml" Id="Rc58ef392657a400f" /><Relationship Type="http://schemas.openxmlformats.org/officeDocument/2006/relationships/slide" Target="/ppt/slides/slide50.xml" Id="R8e7e977e1c2d4e1e" /><Relationship Type="http://schemas.openxmlformats.org/officeDocument/2006/relationships/slide" Target="/ppt/slides/slide51.xml" Id="R0b3f1329ebf743f9" /><Relationship Type="http://schemas.openxmlformats.org/officeDocument/2006/relationships/slide" Target="/ppt/slides/slide52.xml" Id="Rea54973b48634976" /><Relationship Type="http://schemas.openxmlformats.org/officeDocument/2006/relationships/slide" Target="/ppt/slides/slide53.xml" Id="R26abcf9f0c3744b6" /><Relationship Type="http://schemas.openxmlformats.org/officeDocument/2006/relationships/slide" Target="/ppt/slides/slide54.xml" Id="Rb2f4ce0093e24549" /><Relationship Type="http://schemas.openxmlformats.org/officeDocument/2006/relationships/slide" Target="/ppt/slides/slide55.xml" Id="Rda3d16e0da1946f8" /><Relationship Type="http://schemas.openxmlformats.org/officeDocument/2006/relationships/slide" Target="/ppt/slides/slide56.xml" Id="Rde97ff2dccd349f6" /><Relationship Type="http://schemas.openxmlformats.org/officeDocument/2006/relationships/slide" Target="/ppt/slides/slide57.xml" Id="Rf63b92acdc2349bb" /><Relationship Type="http://schemas.openxmlformats.org/officeDocument/2006/relationships/slide" Target="/ppt/slides/slide58.xml" Id="R294ddeab0272415d" /><Relationship Type="http://schemas.openxmlformats.org/officeDocument/2006/relationships/slide" Target="/ppt/slides/slide59.xml" Id="R4a2ebab05eac4f58" /><Relationship Type="http://schemas.openxmlformats.org/officeDocument/2006/relationships/slide" Target="/ppt/slides/slide60.xml" Id="R8112d99edbaf49d8" /><Relationship Type="http://schemas.openxmlformats.org/officeDocument/2006/relationships/slide" Target="/ppt/slides/slide61.xml" Id="Rc248f26dbdcd47cf" /><Relationship Type="http://schemas.openxmlformats.org/officeDocument/2006/relationships/slide" Target="/ppt/slides/slide62.xml" Id="R49a7d1f11f794737" /><Relationship Type="http://schemas.openxmlformats.org/officeDocument/2006/relationships/slide" Target="/ppt/slides/slide63.xml" Id="Rc797ccdb055e431e" /><Relationship Type="http://schemas.openxmlformats.org/officeDocument/2006/relationships/slide" Target="/ppt/slides/slide64.xml" Id="Rd176df707b0b44f2" /><Relationship Type="http://schemas.openxmlformats.org/officeDocument/2006/relationships/slide" Target="/ppt/slides/slide65.xml" Id="R1ceed66a1a524a5f" /><Relationship Type="http://schemas.openxmlformats.org/officeDocument/2006/relationships/slide" Target="/ppt/slides/slide66.xml" Id="R8827fb9dfc0a44b2" /><Relationship Type="http://schemas.openxmlformats.org/officeDocument/2006/relationships/slide" Target="/ppt/slides/slide67.xml" Id="Rc56706cab86742b7" /><Relationship Type="http://schemas.openxmlformats.org/officeDocument/2006/relationships/slide" Target="/ppt/slides/slide68.xml" Id="Rd60d05fbc1d74884" /><Relationship Type="http://schemas.openxmlformats.org/officeDocument/2006/relationships/slide" Target="/ppt/slides/slide69.xml" Id="R7c1b2b9ad08a4feb" /><Relationship Type="http://schemas.openxmlformats.org/officeDocument/2006/relationships/slide" Target="/ppt/slides/slide70.xml" Id="R7f0f9d8eebe64ddc" /><Relationship Type="http://schemas.openxmlformats.org/officeDocument/2006/relationships/slide" Target="/ppt/slides/slide71.xml" Id="R4900755178034f0c" /><Relationship Type="http://schemas.openxmlformats.org/officeDocument/2006/relationships/slide" Target="/ppt/slides/slide72.xml" Id="R4f16140b2eb54e70" /><Relationship Type="http://schemas.openxmlformats.org/officeDocument/2006/relationships/slide" Target="/ppt/slides/slide73.xml" Id="Rf5f949a79a7c40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6e0a8f568c489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636eb62ebf4fa1" /><Relationship Type="http://schemas.openxmlformats.org/officeDocument/2006/relationships/notesMaster" Target="/ppt/notesMasters/notesMaster1.xml" Id="R905c350d5dfb4d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98b19e4e4d42f5" /><Relationship Type="http://schemas.openxmlformats.org/officeDocument/2006/relationships/notesMaster" Target="/ppt/notesMasters/notesMaster1.xml" Id="R9db8e2bb437e4d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22075deb854fb9" /><Relationship Type="http://schemas.openxmlformats.org/officeDocument/2006/relationships/notesMaster" Target="/ppt/notesMasters/notesMaster1.xml" Id="R0206fabe361740a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e08213618c41e5" /><Relationship Type="http://schemas.openxmlformats.org/officeDocument/2006/relationships/notesMaster" Target="/ppt/notesMasters/notesMaster1.xml" Id="Ree8bb0b8d4434b8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37be2c34124a1f" /><Relationship Type="http://schemas.openxmlformats.org/officeDocument/2006/relationships/notesMaster" Target="/ppt/notesMasters/notesMaster1.xml" Id="R45f3579f09bd40e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5ef70fa6864987" /><Relationship Type="http://schemas.openxmlformats.org/officeDocument/2006/relationships/notesMaster" Target="/ppt/notesMasters/notesMaster1.xml" Id="R4cfe5e2be56046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9fe9bb20d64ffd" /><Relationship Type="http://schemas.openxmlformats.org/officeDocument/2006/relationships/notesMaster" Target="/ppt/notesMasters/notesMaster1.xml" Id="R996bfcab7cba4e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d9eeaca7f44575" /><Relationship Type="http://schemas.openxmlformats.org/officeDocument/2006/relationships/notesMaster" Target="/ppt/notesMasters/notesMaster1.xml" Id="R5fa4f279a53f44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ecee1a457c54248" /><Relationship Type="http://schemas.openxmlformats.org/officeDocument/2006/relationships/notesMaster" Target="/ppt/notesMasters/notesMaster1.xml" Id="R54bedc638a1c468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718ef501e440ee" /><Relationship Type="http://schemas.openxmlformats.org/officeDocument/2006/relationships/notesMaster" Target="/ppt/notesMasters/notesMaster1.xml" Id="Re4a822c0928140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5e35c4d7fa42a6" /><Relationship Type="http://schemas.openxmlformats.org/officeDocument/2006/relationships/notesMaster" Target="/ppt/notesMasters/notesMaster1.xml" Id="Rc4b288fba604424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7f9939bf3046fd" /><Relationship Type="http://schemas.openxmlformats.org/officeDocument/2006/relationships/notesMaster" Target="/ppt/notesMasters/notesMaster1.xml" Id="R5d62fcf5f35549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41ec2867ca34765" /><Relationship Type="http://schemas.openxmlformats.org/officeDocument/2006/relationships/notesMaster" Target="/ppt/notesMasters/notesMaster1.xml" Id="Rcfddf7cd65bb49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ccf75668cee456d" /><Relationship Type="http://schemas.openxmlformats.org/officeDocument/2006/relationships/notesMaster" Target="/ppt/notesMasters/notesMaster1.xml" Id="R07b3c9f17133492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d5e90c2d1d4325" /><Relationship Type="http://schemas.openxmlformats.org/officeDocument/2006/relationships/notesMaster" Target="/ppt/notesMasters/notesMaster1.xml" Id="R16555852856c459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87248fd01f74107" /><Relationship Type="http://schemas.openxmlformats.org/officeDocument/2006/relationships/notesMaster" Target="/ppt/notesMasters/notesMaster1.xml" Id="R252b7e29d3ec463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e7eaf4d117a4749" /><Relationship Type="http://schemas.openxmlformats.org/officeDocument/2006/relationships/notesMaster" Target="/ppt/notesMasters/notesMaster1.xml" Id="R56e13c00fe40499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57fae157c3046c8" /><Relationship Type="http://schemas.openxmlformats.org/officeDocument/2006/relationships/notesMaster" Target="/ppt/notesMasters/notesMaster1.xml" Id="Rb9f3a64e7efd40e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cebb2e9d03c4218" /><Relationship Type="http://schemas.openxmlformats.org/officeDocument/2006/relationships/notesMaster" Target="/ppt/notesMasters/notesMaster1.xml" Id="Rc0f6814d9b1445b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8c40478c824433c" /><Relationship Type="http://schemas.openxmlformats.org/officeDocument/2006/relationships/notesMaster" Target="/ppt/notesMasters/notesMaster1.xml" Id="R7947ee6136bb4fe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146c3b5ceee4a22" /><Relationship Type="http://schemas.openxmlformats.org/officeDocument/2006/relationships/notesMaster" Target="/ppt/notesMasters/notesMaster1.xml" Id="R034bdfcb0949437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1731a69f0a545be" /><Relationship Type="http://schemas.openxmlformats.org/officeDocument/2006/relationships/notesMaster" Target="/ppt/notesMasters/notesMaster1.xml" Id="Rf4f914c6233a4d3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1aef7d200b0405f" /><Relationship Type="http://schemas.openxmlformats.org/officeDocument/2006/relationships/notesMaster" Target="/ppt/notesMasters/notesMaster1.xml" Id="Rb87d874803ed453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db6cdf2baec4579" /><Relationship Type="http://schemas.openxmlformats.org/officeDocument/2006/relationships/notesMaster" Target="/ppt/notesMasters/notesMaster1.xml" Id="Re346e5ec4ddb473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e470d310f6c428d" /><Relationship Type="http://schemas.openxmlformats.org/officeDocument/2006/relationships/notesMaster" Target="/ppt/notesMasters/notesMaster1.xml" Id="Rba49621d6ee2407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d1c6a0aab854834" /><Relationship Type="http://schemas.openxmlformats.org/officeDocument/2006/relationships/notesMaster" Target="/ppt/notesMasters/notesMaster1.xml" Id="R3d09575a89de45c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1c344dcee1c4570" /><Relationship Type="http://schemas.openxmlformats.org/officeDocument/2006/relationships/notesMaster" Target="/ppt/notesMasters/notesMaster1.xml" Id="R68d7947ad2714f2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748d174adfb44e5" /><Relationship Type="http://schemas.openxmlformats.org/officeDocument/2006/relationships/notesMaster" Target="/ppt/notesMasters/notesMaster1.xml" Id="Rd2ba4b9b05884a7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29d5103dc3f4223" /><Relationship Type="http://schemas.openxmlformats.org/officeDocument/2006/relationships/notesMaster" Target="/ppt/notesMasters/notesMaster1.xml" Id="R6ef8fee9a4274fd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84cda1960e1743ae" /><Relationship Type="http://schemas.openxmlformats.org/officeDocument/2006/relationships/notesMaster" Target="/ppt/notesMasters/notesMaster1.xml" Id="R32bf8c67893841a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d4a03e5bb764406" /><Relationship Type="http://schemas.openxmlformats.org/officeDocument/2006/relationships/notesMaster" Target="/ppt/notesMasters/notesMaster1.xml" Id="R201dd7044ccd467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8ab04f48dae40cd" /><Relationship Type="http://schemas.openxmlformats.org/officeDocument/2006/relationships/notesMaster" Target="/ppt/notesMasters/notesMaster1.xml" Id="Re882a3703a424244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20d9207d9024114" /><Relationship Type="http://schemas.openxmlformats.org/officeDocument/2006/relationships/notesMaster" Target="/ppt/notesMasters/notesMaster1.xml" Id="R09251389360f427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d384c4a536a48d4" /><Relationship Type="http://schemas.openxmlformats.org/officeDocument/2006/relationships/notesMaster" Target="/ppt/notesMasters/notesMaster1.xml" Id="Rff5f026fdda643e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d3351019256644ed" /><Relationship Type="http://schemas.openxmlformats.org/officeDocument/2006/relationships/notesMaster" Target="/ppt/notesMasters/notesMaster1.xml" Id="Rfe6d4186a0614df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390fb00deaf8434f" /><Relationship Type="http://schemas.openxmlformats.org/officeDocument/2006/relationships/notesMaster" Target="/ppt/notesMasters/notesMaster1.xml" Id="R049a5f4c66694b9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d3eada3bb2142a6" /><Relationship Type="http://schemas.openxmlformats.org/officeDocument/2006/relationships/notesMaster" Target="/ppt/notesMasters/notesMaster1.xml" Id="R162db23cc1c345e2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605f9a456bc42ec" /><Relationship Type="http://schemas.openxmlformats.org/officeDocument/2006/relationships/notesMaster" Target="/ppt/notesMasters/notesMaster1.xml" Id="Rbf2c138ab763481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b250501f044c4c1f" /><Relationship Type="http://schemas.openxmlformats.org/officeDocument/2006/relationships/notesMaster" Target="/ppt/notesMasters/notesMaster1.xml" Id="R5dd045599e4743b7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bc824b148e94959" /><Relationship Type="http://schemas.openxmlformats.org/officeDocument/2006/relationships/notesMaster" Target="/ppt/notesMasters/notesMaster1.xml" Id="Rf5b409b3ce99410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77cad7acfc64a36" /><Relationship Type="http://schemas.openxmlformats.org/officeDocument/2006/relationships/notesMaster" Target="/ppt/notesMasters/notesMaster1.xml" Id="R821241c33c88413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3394cfc6a67422b" /><Relationship Type="http://schemas.openxmlformats.org/officeDocument/2006/relationships/notesMaster" Target="/ppt/notesMasters/notesMaster1.xml" Id="R76c910b6d7b5487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ba83db811f524c0e" /><Relationship Type="http://schemas.openxmlformats.org/officeDocument/2006/relationships/notesMaster" Target="/ppt/notesMasters/notesMaster1.xml" Id="Rea1e5143034a43d4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5092f1fb2008451d" /><Relationship Type="http://schemas.openxmlformats.org/officeDocument/2006/relationships/notesMaster" Target="/ppt/notesMasters/notesMaster1.xml" Id="R1b1bd2c969e849a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8b8415ac1e94b95" /><Relationship Type="http://schemas.openxmlformats.org/officeDocument/2006/relationships/notesMaster" Target="/ppt/notesMasters/notesMaster1.xml" Id="R9217c0a2b22f43b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3ab5164c8dff4e21" /><Relationship Type="http://schemas.openxmlformats.org/officeDocument/2006/relationships/notesMaster" Target="/ppt/notesMasters/notesMaster1.xml" Id="R8615cf91ab4e47b7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29ae8b0b26b14d50" /><Relationship Type="http://schemas.openxmlformats.org/officeDocument/2006/relationships/notesMaster" Target="/ppt/notesMasters/notesMaster1.xml" Id="R55a22bc400ad4f78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c411225294d0455c" /><Relationship Type="http://schemas.openxmlformats.org/officeDocument/2006/relationships/notesMaster" Target="/ppt/notesMasters/notesMaster1.xml" Id="Rabcad3b54cc14cba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c19dc61700a84336" /><Relationship Type="http://schemas.openxmlformats.org/officeDocument/2006/relationships/notesMaster" Target="/ppt/notesMasters/notesMaster1.xml" Id="Rcd30a9ea5d6d473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6ed9ec6d64a14506" /><Relationship Type="http://schemas.openxmlformats.org/officeDocument/2006/relationships/notesMaster" Target="/ppt/notesMasters/notesMaster1.xml" Id="R500c7a3e377a483c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9730d9c6cb674582" /><Relationship Type="http://schemas.openxmlformats.org/officeDocument/2006/relationships/notesMaster" Target="/ppt/notesMasters/notesMaster1.xml" Id="R9da328dd84674074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ce91491940140a9" /><Relationship Type="http://schemas.openxmlformats.org/officeDocument/2006/relationships/notesMaster" Target="/ppt/notesMasters/notesMaster1.xml" Id="R61891f2edfd24d80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d193070751554cf9" /><Relationship Type="http://schemas.openxmlformats.org/officeDocument/2006/relationships/notesMaster" Target="/ppt/notesMasters/notesMaster1.xml" Id="R195ad986b7be4701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a99fd6a5a60e4c58" /><Relationship Type="http://schemas.openxmlformats.org/officeDocument/2006/relationships/notesMaster" Target="/ppt/notesMasters/notesMaster1.xml" Id="R78a97bcbabb54f79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32ad92f4b8e947ef" /><Relationship Type="http://schemas.openxmlformats.org/officeDocument/2006/relationships/notesMaster" Target="/ppt/notesMasters/notesMaster1.xml" Id="R8a82547b3942434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949517a3009f452e" /><Relationship Type="http://schemas.openxmlformats.org/officeDocument/2006/relationships/notesMaster" Target="/ppt/notesMasters/notesMaster1.xml" Id="Re7d9d29fe75b4a1d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b70d3aad66624626" /><Relationship Type="http://schemas.openxmlformats.org/officeDocument/2006/relationships/notesMaster" Target="/ppt/notesMasters/notesMaster1.xml" Id="Reef5f1abb91b481a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d8eb639611f14799" /><Relationship Type="http://schemas.openxmlformats.org/officeDocument/2006/relationships/notesMaster" Target="/ppt/notesMasters/notesMaster1.xml" Id="R93248cb8b21f40d0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cf0a0c7effb146cf" /><Relationship Type="http://schemas.openxmlformats.org/officeDocument/2006/relationships/notesMaster" Target="/ppt/notesMasters/notesMaster1.xml" Id="Rd9bc18ed3f214e3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8381fc1dd04f40a1" /><Relationship Type="http://schemas.openxmlformats.org/officeDocument/2006/relationships/notesMaster" Target="/ppt/notesMasters/notesMaster1.xml" Id="R57194863c47d481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a0235c77f8c4cf5" /><Relationship Type="http://schemas.openxmlformats.org/officeDocument/2006/relationships/notesMaster" Target="/ppt/notesMasters/notesMaster1.xml" Id="R81b15ac68cea4379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b6ddd8ce3e5425a" /><Relationship Type="http://schemas.openxmlformats.org/officeDocument/2006/relationships/notesMaster" Target="/ppt/notesMasters/notesMaster1.xml" Id="R490a4c0338b249ad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46358d79e74643f4" /><Relationship Type="http://schemas.openxmlformats.org/officeDocument/2006/relationships/notesMaster" Target="/ppt/notesMasters/notesMaster1.xml" Id="R68fbf076db574158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fe8e322f7a74df8" /><Relationship Type="http://schemas.openxmlformats.org/officeDocument/2006/relationships/notesMaster" Target="/ppt/notesMasters/notesMaster1.xml" Id="R5df1b4b576074e3e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7e3c31262254456b" /><Relationship Type="http://schemas.openxmlformats.org/officeDocument/2006/relationships/notesMaster" Target="/ppt/notesMasters/notesMaster1.xml" Id="Reb8e676228cd4d5f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dd542fe61fea4590" /><Relationship Type="http://schemas.openxmlformats.org/officeDocument/2006/relationships/notesMaster" Target="/ppt/notesMasters/notesMaster1.xml" Id="Ra3142607e65b4e2b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dd2c6ba23eeb4e95" /><Relationship Type="http://schemas.openxmlformats.org/officeDocument/2006/relationships/notesMaster" Target="/ppt/notesMasters/notesMaster1.xml" Id="R58cf76a1c0194d21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7cba95a06fa240d4" /><Relationship Type="http://schemas.openxmlformats.org/officeDocument/2006/relationships/notesMaster" Target="/ppt/notesMasters/notesMaster1.xml" Id="Re37cbb2def1a4e20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dae3efa38bd04a1e" /><Relationship Type="http://schemas.openxmlformats.org/officeDocument/2006/relationships/notesMaster" Target="/ppt/notesMasters/notesMaster1.xml" Id="R932c9949efaa4182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fb5203d65e364e10" /><Relationship Type="http://schemas.openxmlformats.org/officeDocument/2006/relationships/notesMaster" Target="/ppt/notesMasters/notesMaster1.xml" Id="R8e799e4aecb34aba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bbf222a1cde04698" /><Relationship Type="http://schemas.openxmlformats.org/officeDocument/2006/relationships/notesMaster" Target="/ppt/notesMasters/notesMaster1.xml" Id="Rdaa80bcb83584c76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9fd32accd9174cb2" /><Relationship Type="http://schemas.openxmlformats.org/officeDocument/2006/relationships/notesMaster" Target="/ppt/notesMasters/notesMaster1.xml" Id="Rcbedb76c602e405e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8267b29419a24056" /><Relationship Type="http://schemas.openxmlformats.org/officeDocument/2006/relationships/notesMaster" Target="/ppt/notesMasters/notesMaster1.xml" Id="Rebad1a324f064b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食材管理 v4</a:t>
            </a:r>
          </a:p>
          <a:p xmlns:a="http://schemas.openxmlformats.org/drawingml/2006/main">
            <a:r>
              <a:t>从零配置，到出餐扣减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这次要完成什么？</a:t>
            </a:r>
          </a:p>
          <a:p xmlns:a="http://schemas.openxmlformats.org/drawingml/2006/main">
            <a:r>
              <a:t>截图来自当前 v4 页面，使用演示数据。日期、价格、保质期与出成率均为教学示例；实际按本店标准填写。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先确认门店和员工身份</a:t>
            </a:r>
          </a:p>
          <a:p xmlns:a="http://schemas.openxmlformats.org/drawingml/2006/main">
            <a:r>
              <a:t>沿用已有员工认证。实际可操作范围由门店员工权限与店长权限共同决定；不要共享他人的登录身份。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从“更多”开始初始化</a:t>
            </a:r>
          </a:p>
          <a:p xmlns:a="http://schemas.openxmlformats.org/drawingml/2006/main">
            <a:r>
              <a:t>先建档，后入库；先得到出品态，后出餐。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01  新增一级区域：吧台</a:t>
            </a:r>
          </a:p>
          <a:p xmlns:a="http://schemas.openxmlformats.org/drawingml/2006/main">
            <a:r>
              <a:t>保存后，应在区域树中看到“吧台”。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02  新增二级区域：冷藏柜</a:t>
            </a:r>
          </a:p>
          <a:p xmlns:a="http://schemas.openxmlformats.org/drawingml/2006/main">
            <a:r>
              <a:t>采购入库要选启用的二级区域。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一级区域可以收起下级区域</a:t>
            </a:r>
          </a:p>
          <a:p xmlns:a="http://schemas.openxmlformats.org/drawingml/2006/main">
            <a:r>
              <a:t>区域最多两级。已有绑定时，应停用并保留历史。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03  新增一级分类：乳制品</a:t>
            </a:r>
          </a:p>
          <a:p xmlns:a="http://schemas.openxmlformats.org/drawingml/2006/main">
            <a:r>
              <a:t>入库时先选“乳制品”，再选“鲜奶”。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  二级分类决定默认属性</a:t>
            </a:r>
          </a:p>
          <a:p xmlns:a="http://schemas.openxmlformats.org/drawingml/2006/main">
            <a:r>
              <a:t>2 天与 3 天仅为示例。分类默认属性及食材覆盖遵循当前 v4 后端；保质期应按产品标签与本店标准配置。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05  配置未开封的保质期规则</a:t>
            </a:r>
          </a:p>
          <a:p xmlns:a="http://schemas.openxmlformats.org/drawingml/2006/main">
            <a:r>
              <a:t>14 天为演示规则，不能替代商品包装标识。生产日期 2026-10-06 的本例，到期预览为 2026-10-20。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06  先建最终能出餐的形态</a:t>
            </a:r>
          </a:p>
          <a:p xmlns:a="http://schemas.openxmlformats.org/drawingml/2006/main">
            <a:r>
              <a:t>当前新建档案页面保存后若列表未及时显示，重新进入进货规格与链路页即可；教程截图重新进入后继续。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07  往上游加：独立桶</a:t>
            </a:r>
          </a:p>
          <a:p xmlns:a="http://schemas.openxmlformats.org/drawingml/2006/main">
            <a:r>
              <a:t>分类的开封默认值用于封装开封等流程；链路作业按目标形态的作业后保质字段计算。新加上游时填写 shelfAfterOpDays，服务器写到转换目标形态。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有整箱采购时，再加一层</a:t>
            </a:r>
          </a:p>
          <a:p xmlns:a="http://schemas.openxmlformats.org/drawingml/2006/main">
            <a:r>
              <a:t>每单位基本量始终用基本单位；本例是 ml。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08  核对形态与作业链路</a:t>
            </a:r>
          </a:p>
          <a:p xmlns:a="http://schemas.openxmlformats.org/drawingml/2006/main">
            <a:r>
              <a:t>本例按桶采购，从“独立桶”这一层入库。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09  进货规格指定从哪层入库</a:t>
            </a:r>
          </a:p>
          <a:p xmlns:a="http://schemas.openxmlformats.org/drawingml/2006/main">
            <a:r>
              <a:t>选这个规格后，入库数量的单位就是“桶”。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  入库按一级、二级逐层筛选</a:t>
            </a:r>
          </a:p>
          <a:p xmlns:a="http://schemas.openxmlformats.org/drawingml/2006/main">
            <a:r>
              <a:t>更换分类后，需要重新选食材和规格。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11  核对区域、日期与到期预览</a:t>
            </a:r>
          </a:p>
          <a:p xmlns:a="http://schemas.openxmlformats.org/drawingml/2006/main">
            <a:r>
              <a:t>截图使用演示数据，未实际上传或识别照片。包装有明确到期日时按包装填写。预览批号不占号，正式提交时服务器重新生成。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12  数量按规格单位填写</a:t>
            </a:r>
          </a:p>
          <a:p xmlns:a="http://schemas.openxmlformats.org/drawingml/2006/main">
            <a:r>
              <a:t>2 桶对应 4000 ml；此时只是草稿，库存还没增加。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13  确认入库，才真正增加库存</a:t>
            </a:r>
          </a:p>
          <a:p xmlns:a="http://schemas.openxmlformats.org/drawingml/2006/main">
            <a:r>
              <a:t>当前页面的入库草稿刷新后会消失。已正式入库的批次在 10 分钟窗口内可撤销；存在后续业务时由服务端判断是否允许撤销。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14  入库后还不能直接出餐</a:t>
            </a:r>
          </a:p>
          <a:p xmlns:a="http://schemas.openxmlformats.org/drawingml/2006/main">
            <a:r>
              <a:t>“有库存”不等于“有可出餐库存”。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  在作业页找到可作业批次</a:t>
            </a:r>
          </a:p>
          <a:p xmlns:a="http://schemas.openxmlformats.org/drawingml/2006/main">
            <a:r>
              <a:t>建议作业只是提示；点击预览也不会改库存。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16  预览并填实际开盖产出</a:t>
            </a:r>
          </a:p>
          <a:p xmlns:a="http://schemas.openxmlformats.org/drawingml/2006/main">
            <a:r>
              <a:t>实际产出不能照抄预测，必须根据现场实测。1 桶 = 2000 ml，98% 仅为本例标准出成率。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17  核对作业损耗与到期</a:t>
            </a:r>
          </a:p>
          <a:p xmlns:a="http://schemas.openxmlformats.org/drawingml/2006/main">
            <a:r>
              <a:t>本例开盖时间为 2026-10-06、作业后保质 3 天。耗时 0 小时则立即就绪；有耗时的作业要等就绪，店长才可提前完成。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18  库存分成两种形态</a:t>
            </a:r>
          </a:p>
          <a:p xmlns:a="http://schemas.openxmlformats.org/drawingml/2006/main">
            <a:r>
              <a:t>接下来用 1960 ml 配置并出餐。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  新增菜品：热牛奶</a:t>
            </a:r>
          </a:p>
          <a:p xmlns:a="http://schemas.openxmlformats.org/drawingml/2006/main">
            <a:r>
              <a:t>同一菜品的不同规格，分别维护用料。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  配方填每一份的用量</a:t>
            </a:r>
          </a:p>
          <a:p xmlns:a="http://schemas.openxmlformats.org/drawingml/2006/main">
            <a:r>
              <a:t>这里填每杯 200 ml，不填两杯合计 400 ml。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21  菜品页会显示可出餐份数</a:t>
            </a:r>
          </a:p>
          <a:p xmlns:a="http://schemas.openxmlformats.org/drawingml/2006/main">
            <a:r>
              <a:t>发布配方只保存配置，不会提前扣库存。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22  创建两杯热牛奶的厨房单</a:t>
            </a:r>
          </a:p>
          <a:p xmlns:a="http://schemas.openxmlformats.org/drawingml/2006/main">
            <a:r>
              <a:t>当前 v4 未接入美团自动订单导入。不要按旧教程等待外部平台订单自动出现。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23  从待出餐订单开始</a:t>
            </a:r>
          </a:p>
          <a:p xmlns:a="http://schemas.openxmlformats.org/drawingml/2006/main">
            <a:r>
              <a:t>两杯 × 每杯 200 ml = 本单 400 ml。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24  确认总用料，再出餐扣减</a:t>
            </a:r>
          </a:p>
          <a:p xmlns:a="http://schemas.openxmlformats.org/drawingml/2006/main">
            <a:r>
              <a:t>“确认出餐并扣减”才真正减少食材库存。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25  出餐成功后，核对扣减结果</a:t>
            </a:r>
          </a:p>
          <a:p xmlns:a="http://schemas.openxmlformats.org/drawingml/2006/main">
            <a:r>
              <a:t>成功后不要重新建同一张单再扣一次。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26  流水能追溯到具体批次</a:t>
            </a:r>
          </a:p>
          <a:p xmlns:a="http://schemas.openxmlformats.org/drawingml/2006/main">
            <a:r>
              <a:t>本例鲜牛奶合计扣减 400 ml，短缺 0。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27  回库存看最后的余额</a:t>
            </a:r>
          </a:p>
          <a:p xmlns:a="http://schemas.openxmlformats.org/drawingml/2006/main">
            <a:r>
              <a:t>1960 − 400 = 1560 ml；这是本次练习的终点。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把这笔业务完整对上</a:t>
            </a:r>
          </a:p>
          <a:p xmlns:a="http://schemas.openxmlformats.org/drawingml/2006/main">
            <a:r>
              <a:t>2000 + 1560 + 400 + 40 = 4000 ml。核对时把未作业、可用、已消耗和损耗一起看。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需要标签时，从批次详情打印</a:t>
            </a:r>
          </a:p>
          <a:p xmlns:a="http://schemas.openxmlformats.org/drawingml/2006/main">
            <a:r>
              <a:t>标签内容随实际批次生成，不能照抄教程批号。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蓝牙打印继续用原来的模块</a:t>
            </a:r>
          </a:p>
          <a:p xmlns:a="http://schemas.openxmlformats.org/drawingml/2006/main">
            <a:r>
              <a:t>复用既有蓝牙打印模块。截图没有真实硬件连接或打印，不能作为打印机真机验收结果。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扩展：半成品要用专属分类</a:t>
            </a:r>
          </a:p>
          <a:p xmlns:a="http://schemas.openxmlformats.org/drawingml/2006/main">
            <a:r>
              <a:t>以下奶冻示例是可选分支，不计入前面的余额核对。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半成品配方按“每批”填写</a:t>
            </a:r>
          </a:p>
          <a:p xmlns:a="http://schemas.openxmlformats.org/drawingml/2006/main">
            <a:r>
              <a:t>仅用于解释数量录入，奶冻配方并非完整食品制作配方。实际配方需要填写所有原料与本店的储存、保质期规则。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半成品确认制作也会改库存</a:t>
            </a:r>
          </a:p>
          <a:p xmlns:a="http://schemas.openxmlformats.org/drawingml/2006/main">
            <a:r>
              <a:t>本教程只预览这条分支，未实际扣掉那 500 ml。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扩展：为区域配置检查项</a:t>
            </a:r>
          </a:p>
          <a:p xmlns:a="http://schemas.openxmlformats.org/drawingml/2006/main">
            <a:r>
              <a:t>0～5 为界面示例，不是食品安全法规或通用冷藏建议。实际阈值应按产品及本店制度设置。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开门检查：提交后还需店长确认</a:t>
            </a:r>
          </a:p>
          <a:p xmlns:a="http://schemas.openxmlformats.org/drawingml/2006/main">
            <a:r>
              <a:t>检查可先保存草稿。提交后的原始检查结果保留；店长追加处理与确认不会改写原始填报。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盘点：保存实盘和过账分开</a:t>
            </a:r>
          </a:p>
          <a:p xmlns:a="http://schemas.openxmlformats.org/drawingml/2006/main">
            <a:r>
              <a:t>这里只演示填写，未过账；主线余额仍是 1560 ml。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看板和 Excel 用于检查链路</a:t>
            </a:r>
          </a:p>
          <a:p xmlns:a="http://schemas.openxmlformats.org/drawingml/2006/main">
            <a:r>
              <a:t>此导出是配方与采购作业链路，不是全部库存流水。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卡住时，按现象排查</a:t>
            </a:r>
          </a:p>
          <a:p xmlns:a="http://schemas.openxmlformats.org/drawingml/2006/main">
            <a:r>
              <a:t>维护按钮缺失先核对员工角色与当前门店。入库、作业和出餐成功后，分别查看批次、作业记录和扣减流水。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每天按这张清单操作</a:t>
            </a:r>
          </a:p>
          <a:p xmlns:a="http://schemas.openxmlformats.org/drawingml/2006/main">
            <a:r>
              <a:t>练习终点：剩余 1560 ml；出餐流水扣减 400 ml。</a:t>
            </a:r>
          </a:p>
          <a:p xmlns:a="http://schemas.openxmlformats.org/drawingml/2006/main">
            <a:r>
              <a:t>适用版本：SnowmeetApi ai@9c5d46c98df1dcad795966713b00c014b3d8954e，2026-10-06 已记录部署版本。</a:t>
            </a:r>
          </a:p>
          <a:p xmlns:a="http://schemas.openxmlformats.org/drawingml/2006/main">
            <a:r>
              <a:t>画面：当前 wwwroot/fnb/v4 前端在隔离环境使用演示数据生成；未连接生产库、未提交生产业务。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进阶示例</a:t>
            </a:r>
          </a:p>
          <a:p xmlns:a="http://schemas.openxmlformats.org/drawingml/2006/main">
            <a:r>
              <a:t>帕斯雀牛肉披萨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这次要准备什么？</a:t>
            </a:r>
          </a:p>
          <a:p xmlns:a="http://schemas.openxmlformats.org/drawingml/2006/main">
            <a:r>
              <a:t>百分比是标准出成率，数值为教学示例。本例直接用面粉；面团也可先做成半成品（第37–39页）。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操作顺序：10步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第1步：建存储区域</a:t>
            </a:r>
          </a:p>
          <a:p xmlns:a="http://schemas.openxmlformats.org/drawingml/2006/main">
            <a:r>
              <a:t>入库和作业时选「后厨/冷藏柜」或「后厨/干货架」。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第2步：建5组分类</a:t>
            </a:r>
          </a:p>
          <a:p xmlns:a="http://schemas.openxmlformats.org/drawingml/2006/main">
            <a:r>
              <a:t>一级分类只填分类名称。二级分类按表填写，空白表示不填，「半成品分类」不勾，点「保存」。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辅料分类：计量方式选按件数</a:t>
            </a:r>
          </a:p>
          <a:p xmlns:a="http://schemas.openxmlformats.org/drawingml/2006/main">
            <a:r>
              <a:t>按件数的分类，基本单位是「个」。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第3步：建6个食材档案</a:t>
            </a:r>
          </a:p>
          <a:p xmlns:a="http://schemas.openxmlformats.org/drawingml/2006/main">
            <a:r>
              <a:t>基本单位随二级分类自动给出，出品态编码保持F；储存方式选「跟随分类建议」，照片可不传。点「创建食材」。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新建档案：先选一级分类</a:t>
            </a:r>
          </a:p>
          <a:p xmlns:a="http://schemas.openxmlformats.org/drawingml/2006/main">
            <a:r>
              <a:t>保存后若列表里没有新食材，从「更多」重新进入。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第4步：每样加一个上游形态</a:t>
            </a:r>
          </a:p>
          <a:p xmlns:a="http://schemas.openxmlformats.org/drawingml/2006/main">
            <a:r>
              <a:t>出成率即「标准出成率（%）」，98即98%；耗时（h）填0；储存方式不用改。点「加入链路」。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上游形态：以帕斯雀牛肉为例</a:t>
            </a:r>
          </a:p>
          <a:p xmlns:a="http://schemas.openxmlformats.org/drawingml/2006/main">
            <a:r>
              <a:t>6样都按第54页的表填写。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第5步：每样加一个进货规格</a:t>
            </a:r>
          </a:p>
          <a:p xmlns:a="http://schemas.openxmlformats.org/drawingml/2006/main">
            <a:r>
              <a:t>入口形态默认是最上游的形态，不用改；品牌、商品条码选填。点「完成」保存。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链路建好：真空袋 → 牛肉片</a:t>
            </a:r>
          </a:p>
          <a:p xmlns:a="http://schemas.openxmlformats.org/drawingml/2006/main">
            <a:r>
              <a:t>本例6样都是「采购态 → 一次作业 → 出品态」。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第6步：入库，一张单录6行</a:t>
            </a:r>
          </a:p>
          <a:p xmlns:a="http://schemas.openxmlformats.org/drawingml/2006/main">
            <a:r>
              <a:t>数量按规格的单位填（袋、块、罐、包、箱），生产日期可不填。6行都加入清单后点「确认入库」。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入库一行：以帕斯雀牛肉为例</a:t>
            </a:r>
          </a:p>
          <a:p xmlns:a="http://schemas.openxmlformats.org/drawingml/2006/main">
            <a:r>
              <a:t>6样逐一加入清单，最后一次确认入库。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核对清单后，一次确认入库</a:t>
            </a:r>
          </a:p>
          <a:p xmlns:a="http://schemas.openxmlformats.org/drawingml/2006/main">
            <a:r>
              <a:t>清单不改库存；确认入库后才写入批次。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入库后：6个批次都待作业</a:t>
            </a:r>
          </a:p>
          <a:p xmlns:a="http://schemas.openxmlformats.org/drawingml/2006/main">
            <a:r>
              <a:t>本次入库金额共1065元。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第7步：每样做一次作业</a:t>
            </a:r>
          </a:p>
          <a:p xmlns:a="http://schemas.openxmlformats.org/drawingml/2006/main">
            <a:r>
              <a:t>投入数量填1，点「预览作业」，按实际称重或点数填实际产出，选存放区域后点「确认作业」。批号和到期日按当天日期生成，以页面为准。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作业：以马苏里拉刨丝为例</a:t>
            </a:r>
          </a:p>
          <a:p xmlns:a="http://schemas.openxmlformats.org/drawingml/2006/main">
            <a:r>
              <a:t>刨丝后到期2026-10-21；未开的另一块到期日不变。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第8步：配方，每份6行用料</a:t>
            </a:r>
          </a:p>
          <a:p xmlns:a="http://schemas.openxmlformats.org/drawingml/2006/main">
            <a:r>
              <a:t>配方按1份填写；发布配方不扣库存。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发布后：直接算出可出份数</a:t>
            </a:r>
          </a:p>
          <a:p xmlns:a="http://schemas.openxmlformats.org/drawingml/2006/main">
            <a:r>
              <a:t>只算出品态库存；采购态要先作业才算。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库存页：每样还能出几份</a:t>
            </a:r>
          </a:p>
          <a:p xmlns:a="http://schemas.openxmlformats.org/drawingml/2006/main">
            <a:r>
              <a:t>牛肉13份最少，这道菜现在能出13份。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第9步：新建厨房单，A3桌2份</a:t>
            </a:r>
          </a:p>
          <a:p xmlns:a="http://schemas.openxmlformats.org/drawingml/2006/main">
            <a:r>
              <a:t>一单多道菜时，点「+ 添加菜品」继续加。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出餐预览：按2份自动汇总</a:t>
            </a:r>
          </a:p>
          <a:p xmlns:a="http://schemas.openxmlformats.org/drawingml/2006/main">
            <a:r>
              <a:t>预览不扣库存。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按顾客要求微调用量</a:t>
            </a:r>
          </a:p>
          <a:p xmlns:a="http://schemas.openxmlformats.org/drawingml/2006/main">
            <a:r>
              <a:t>微调只改这一单，不改配方；填0表示不用。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确认出餐，按实际用量扣减</a:t>
            </a:r>
          </a:p>
          <a:p xmlns:a="http://schemas.openxmlformats.org/drawingml/2006/main">
            <a:r>
              <a:t>扣的是出品态批次，未开的奶酪和牛肉不动。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扣减流水：每样扣了哪个批次</a:t>
            </a:r>
          </a:p>
          <a:p xmlns:a="http://schemas.openxmlformats.org/drawingml/2006/main">
            <a:r>
              <a:t>一单一条流水；扣到多个批次时分行列出。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第10步：扣减核对</a:t>
            </a:r>
          </a:p>
          <a:p xmlns:a="http://schemas.openxmlformats.org/drawingml/2006/main">
            <a:r>
              <a:t>奶酪2170 + 280 + 损耗50 + 未开2500 = 入库5000g；牛肉830 + 140 + 30 + 1000 = 2000g。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出餐后：库存和可出份数一起变</a:t>
            </a:r>
          </a:p>
          <a:p xmlns:a="http://schemas.openxmlformats.org/drawingml/2006/main">
            <a:r>
              <a:t>每天看库存页决定开不开新的一块，临期的先用。</a:t>
            </a:r>
          </a:p>
          <a:p xmlns:a="http://schemas.openxmlformats.org/drawingml/2006/main">
            <a:r>
              <a:t>适用版本：SnowmeetApi ai@7a9cc267（2026-10-16 已部署），含新建食材先选一级分类。</a:t>
            </a:r>
          </a:p>
          <a:p xmlns:a="http://schemas.openxmlformats.org/drawingml/2006/main">
            <a:r>
              <a:t>画面：当前 wwwroot/fnb/v4 页面 + 本机运行的 SnowmeetApi + 本机 LocalDB 演示库，入库、作业、出餐由真实接口计算；未连接生产库。</a:t>
            </a:r>
          </a:p>
          <a:p xmlns:a="http://schemas.openxmlformats.org/drawingml/2006/main">
            <a:r>
              <a:t>依据：snowmeet_ai_doc/docs/fnb/2026-10-06-fnb-v4-h5.md、2026-10-06-fnb-v4-api-contract.md、2026-10-06-fnb-v4-operations-api.md；SnowmeetApi/wwwroot/fnb/v4/app.js、operations.js；Services/Fnb/FnbV4CatalogService.cs、FnbV4Service.cs、FnbV4OperationService.cs、FnbV4KitchenService.cs。</a:t>
            </a:r>
          </a:p>
          <a:p xmlns:a="http://schemas.openxmlformats.org/drawingml/2006/main">
            <a:r>
              <a:t>原资料：D:/Downloads/食材管理-从零上手操作说明.pptx，仅作为主题参考；本页入口和按钮以当前界面为准。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c551280237499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39cec3bd4849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5c496bfc9742f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d781598af349b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3e90d4a4db44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b40f0501947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2FAD7FA-4CEE-4FEB-ABEB-E764605DFA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A8E24FD-B5E0-4E8A-A1B2-8B216FA4780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901A2C9-F55C-4CCD-B909-B8048EEFC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8ACEC1-DAB4-466B-A94A-8A6A1D1FF3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843AF70-C2B5-4C27-B000-2E8DAAB2CD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96F93A-ED73-4033-80D3-1F527710BB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0940F5-A38E-4EF4-B72A-FE7FE0E2262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86691F2-C624-45A0-8258-B4BA6160BE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B1C2E4-95D1-4C15-8919-C8502F2BF0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C1721B7-DD09-4C17-ADAC-F134BED7FB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8aadbf010a4389" /><Relationship Type="http://schemas.openxmlformats.org/officeDocument/2006/relationships/slideLayout" Target="/ppt/slideLayouts/slideLayout1.xml" Id="R13e0933d2cde4717" /><Relationship Type="http://schemas.openxmlformats.org/officeDocument/2006/relationships/slideLayout" Target="/ppt/slideLayouts/slideLayout2.xml" Id="Rd69711ac74a74701" /><Relationship Type="http://schemas.openxmlformats.org/officeDocument/2006/relationships/slideLayout" Target="/ppt/slideLayouts/slideLayout3.xml" Id="Rae29ae6386254811" /><Relationship Type="http://schemas.openxmlformats.org/officeDocument/2006/relationships/slideLayout" Target="/ppt/slideLayouts/slideLayout4.xml" Id="Ra1dc9fee1be2463b" /><Relationship Type="http://schemas.openxmlformats.org/officeDocument/2006/relationships/slideLayout" Target="/ppt/slideLayouts/slideLayout5.xml" Id="R70d5ce4895b14545" /><Relationship Type="http://schemas.openxmlformats.org/officeDocument/2006/relationships/slideLayout" Target="/ppt/slideLayouts/slideLayout6.xml" Id="Rb2ca6c171b9541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e0933d2cde4717"/>
    <p:sldLayoutId xmlns:r="http://schemas.openxmlformats.org/officeDocument/2006/relationships" id="2147483650" r:id="Rd69711ac74a74701"/>
    <p:sldLayoutId xmlns:r="http://schemas.openxmlformats.org/officeDocument/2006/relationships" id="2147483651" r:id="Rae29ae6386254811"/>
    <p:sldLayoutId xmlns:r="http://schemas.openxmlformats.org/officeDocument/2006/relationships" id="2147483652" r:id="Ra1dc9fee1be2463b"/>
    <p:sldLayoutId xmlns:r="http://schemas.openxmlformats.org/officeDocument/2006/relationships" id="2147483653" r:id="R70d5ce4895b14545"/>
    <p:sldLayoutId xmlns:r="http://schemas.openxmlformats.org/officeDocument/2006/relationships" id="2147483654" r:id="Rb2ca6c171b9541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f4b72d35db424c" /><Relationship Type="http://schemas.openxmlformats.org/officeDocument/2006/relationships/image" Target="/ppt/media/image.png" Id="Ra69f469ff4044d9e" /><Relationship Type="http://schemas.openxmlformats.org/officeDocument/2006/relationships/notesSlide" Target="/ppt/notesSlides/notesSlide1.xml" Id="Rad79f3ba522a4e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6e186883da4b54" /><Relationship Type="http://schemas.openxmlformats.org/officeDocument/2006/relationships/notesSlide" Target="/ppt/notesSlides/notesSlide2.xml" Id="R61fb42415dc245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88e5e07e7a440c" /><Relationship Type="http://schemas.openxmlformats.org/officeDocument/2006/relationships/image" Target="/ppt/media/image2.png" Id="Rdc4e12fe52234861" /><Relationship Type="http://schemas.openxmlformats.org/officeDocument/2006/relationships/notesSlide" Target="/ppt/notesSlides/notesSlide3.xml" Id="R17a2e3de1bbd4f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a6f861445946d6" /><Relationship Type="http://schemas.openxmlformats.org/officeDocument/2006/relationships/image" Target="/ppt/media/image3.png" Id="R0fa300f17d484f93" /><Relationship Type="http://schemas.openxmlformats.org/officeDocument/2006/relationships/notesSlide" Target="/ppt/notesSlides/notesSlide4.xml" Id="R5ec55541bbc240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a9e98124214015" /><Relationship Type="http://schemas.openxmlformats.org/officeDocument/2006/relationships/image" Target="/ppt/media/image4.png" Id="R196d489c1b854d0d" /><Relationship Type="http://schemas.openxmlformats.org/officeDocument/2006/relationships/notesSlide" Target="/ppt/notesSlides/notesSlide5.xml" Id="R391c55d7cfa249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abe8080ecf4aba" /><Relationship Type="http://schemas.openxmlformats.org/officeDocument/2006/relationships/image" Target="/ppt/media/image5.png" Id="R5bdfbf3f03ae4db6" /><Relationship Type="http://schemas.openxmlformats.org/officeDocument/2006/relationships/notesSlide" Target="/ppt/notesSlides/notesSlide6.xml" Id="Ra9ae61a0f4a147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39941e97e84838" /><Relationship Type="http://schemas.openxmlformats.org/officeDocument/2006/relationships/image" Target="/ppt/media/image6.png" Id="Recbae09e4b044f33" /><Relationship Type="http://schemas.openxmlformats.org/officeDocument/2006/relationships/notesSlide" Target="/ppt/notesSlides/notesSlide7.xml" Id="R3626958959d841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1b2bd3705d44d8" /><Relationship Type="http://schemas.openxmlformats.org/officeDocument/2006/relationships/image" Target="/ppt/media/image7.png" Id="R1a51ad00a6ec4c44" /><Relationship Type="http://schemas.openxmlformats.org/officeDocument/2006/relationships/notesSlide" Target="/ppt/notesSlides/notesSlide8.xml" Id="Rccb521f790464aa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07c4e911454999" /><Relationship Type="http://schemas.openxmlformats.org/officeDocument/2006/relationships/image" Target="/ppt/media/image8.png" Id="Rdbf0f73ab9ce4876" /><Relationship Type="http://schemas.openxmlformats.org/officeDocument/2006/relationships/notesSlide" Target="/ppt/notesSlides/notesSlide9.xml" Id="R9ef2349879ec4c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733a07de2242a7" /><Relationship Type="http://schemas.openxmlformats.org/officeDocument/2006/relationships/image" Target="/ppt/media/image9.png" Id="Rb3e8088f9d66434e" /><Relationship Type="http://schemas.openxmlformats.org/officeDocument/2006/relationships/notesSlide" Target="/ppt/notesSlides/notesSlide10.xml" Id="Rdcbbc573492c403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45ada0bfa04cb9" /><Relationship Type="http://schemas.openxmlformats.org/officeDocument/2006/relationships/image" Target="/ppt/media/image10.png" Id="Rd175bbaacb674ad0" /><Relationship Type="http://schemas.openxmlformats.org/officeDocument/2006/relationships/notesSlide" Target="/ppt/notesSlides/notesSlide11.xml" Id="R61a4fa80b65a4b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35fbb87d4c41cd" /><Relationship Type="http://schemas.openxmlformats.org/officeDocument/2006/relationships/image" Target="/ppt/media/image11.png" Id="R9f27c01000fa4dc2" /><Relationship Type="http://schemas.openxmlformats.org/officeDocument/2006/relationships/notesSlide" Target="/ppt/notesSlides/notesSlide12.xml" Id="Rc3143e84e016445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2e7af7cf2f4c9c" /><Relationship Type="http://schemas.openxmlformats.org/officeDocument/2006/relationships/image" Target="/ppt/media/image12.png" Id="R71c5f0e415874b91" /><Relationship Type="http://schemas.openxmlformats.org/officeDocument/2006/relationships/notesSlide" Target="/ppt/notesSlides/notesSlide13.xml" Id="Ra6c0c4acd6b24d1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5ae1efc8a04972" /><Relationship Type="http://schemas.openxmlformats.org/officeDocument/2006/relationships/image" Target="/ppt/media/image13.png" Id="Rd366ef4395f94afa" /><Relationship Type="http://schemas.openxmlformats.org/officeDocument/2006/relationships/notesSlide" Target="/ppt/notesSlides/notesSlide14.xml" Id="R1186f8baf6904a9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c3bc883d8c4ae8" /><Relationship Type="http://schemas.openxmlformats.org/officeDocument/2006/relationships/image" Target="/ppt/media/image14.png" Id="R38a24e8063db420d" /><Relationship Type="http://schemas.openxmlformats.org/officeDocument/2006/relationships/notesSlide" Target="/ppt/notesSlides/notesSlide15.xml" Id="R69a30b32d2cc4f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d91f4aece14204" /><Relationship Type="http://schemas.openxmlformats.org/officeDocument/2006/relationships/image" Target="/ppt/media/image15.png" Id="Ra065fee33025448a" /><Relationship Type="http://schemas.openxmlformats.org/officeDocument/2006/relationships/notesSlide" Target="/ppt/notesSlides/notesSlide16.xml" Id="R9ce3a1eb2db74fd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ed5be761b847c5" /><Relationship Type="http://schemas.openxmlformats.org/officeDocument/2006/relationships/image" Target="/ppt/media/image16.png" Id="R7ad74d91a18441e4" /><Relationship Type="http://schemas.openxmlformats.org/officeDocument/2006/relationships/notesSlide" Target="/ppt/notesSlides/notesSlide17.xml" Id="Rf81ea564bb50414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d31699da1f4698" /><Relationship Type="http://schemas.openxmlformats.org/officeDocument/2006/relationships/image" Target="/ppt/media/image17.png" Id="R534e3aeaaa4a4dbc" /><Relationship Type="http://schemas.openxmlformats.org/officeDocument/2006/relationships/notesSlide" Target="/ppt/notesSlides/notesSlide18.xml" Id="Ra745a24e769147c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a49d6018f64ab1" /><Relationship Type="http://schemas.openxmlformats.org/officeDocument/2006/relationships/image" Target="/ppt/media/image18.png" Id="R20a132ed70ae42cb" /><Relationship Type="http://schemas.openxmlformats.org/officeDocument/2006/relationships/notesSlide" Target="/ppt/notesSlides/notesSlide19.xml" Id="R22e2ad513f1e457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aaf32bfd0a4948" /><Relationship Type="http://schemas.openxmlformats.org/officeDocument/2006/relationships/image" Target="/ppt/media/image19.png" Id="Rd9b0df37630e4b5b" /><Relationship Type="http://schemas.openxmlformats.org/officeDocument/2006/relationships/notesSlide" Target="/ppt/notesSlides/notesSlide20.xml" Id="R07310cb677894ba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08cced8c34793" /><Relationship Type="http://schemas.openxmlformats.org/officeDocument/2006/relationships/image" Target="/ppt/media/image20.png" Id="Rffa7af7ca5e74bc5" /><Relationship Type="http://schemas.openxmlformats.org/officeDocument/2006/relationships/notesSlide" Target="/ppt/notesSlides/notesSlide21.xml" Id="Rc257537ba4154b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1b8bae232843ff" /><Relationship Type="http://schemas.openxmlformats.org/officeDocument/2006/relationships/image" Target="/ppt/media/image21.png" Id="R552afba9714a444c" /><Relationship Type="http://schemas.openxmlformats.org/officeDocument/2006/relationships/notesSlide" Target="/ppt/notesSlides/notesSlide22.xml" Id="Rcd223b8b801246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2b389404954a09" /><Relationship Type="http://schemas.openxmlformats.org/officeDocument/2006/relationships/image" Target="/ppt/media/image22.png" Id="Rf4cfd42eb96342ac" /><Relationship Type="http://schemas.openxmlformats.org/officeDocument/2006/relationships/notesSlide" Target="/ppt/notesSlides/notesSlide23.xml" Id="R4257325ec42841a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d7caa9dc39416d" /><Relationship Type="http://schemas.openxmlformats.org/officeDocument/2006/relationships/image" Target="/ppt/media/image23.png" Id="Rc4d40b57110d42fe" /><Relationship Type="http://schemas.openxmlformats.org/officeDocument/2006/relationships/notesSlide" Target="/ppt/notesSlides/notesSlide24.xml" Id="R64c37d4adc8d4ad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58c02725c4a59" /><Relationship Type="http://schemas.openxmlformats.org/officeDocument/2006/relationships/image" Target="/ppt/media/image24.png" Id="R17bdbeda2b1b4637" /><Relationship Type="http://schemas.openxmlformats.org/officeDocument/2006/relationships/notesSlide" Target="/ppt/notesSlides/notesSlide25.xml" Id="Rce40a37d32124c5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0cf3e79af7449e" /><Relationship Type="http://schemas.openxmlformats.org/officeDocument/2006/relationships/image" Target="/ppt/media/image25.png" Id="R12d600f741624f2b" /><Relationship Type="http://schemas.openxmlformats.org/officeDocument/2006/relationships/notesSlide" Target="/ppt/notesSlides/notesSlide26.xml" Id="Re59c6f3832db455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e9c7b5a36d4de5" /><Relationship Type="http://schemas.openxmlformats.org/officeDocument/2006/relationships/image" Target="/ppt/media/image26.png" Id="R6fcdb2a3587a4157" /><Relationship Type="http://schemas.openxmlformats.org/officeDocument/2006/relationships/notesSlide" Target="/ppt/notesSlides/notesSlide27.xml" Id="R6444176dcfc4445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9ff94dfd074ba0" /><Relationship Type="http://schemas.openxmlformats.org/officeDocument/2006/relationships/image" Target="/ppt/media/image27.png" Id="Rb3e46c991a4e4a0e" /><Relationship Type="http://schemas.openxmlformats.org/officeDocument/2006/relationships/notesSlide" Target="/ppt/notesSlides/notesSlide28.xml" Id="R0bd9834ec7e04ef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366d69efe84530" /><Relationship Type="http://schemas.openxmlformats.org/officeDocument/2006/relationships/image" Target="/ppt/media/image28.png" Id="R911d5b80818f4742" /><Relationship Type="http://schemas.openxmlformats.org/officeDocument/2006/relationships/notesSlide" Target="/ppt/notesSlides/notesSlide29.xml" Id="Rf77f1f58c5c94fa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27985f52584d7f" /><Relationship Type="http://schemas.openxmlformats.org/officeDocument/2006/relationships/image" Target="/ppt/media/image29.png" Id="Reff878b12578494c" /><Relationship Type="http://schemas.openxmlformats.org/officeDocument/2006/relationships/notesSlide" Target="/ppt/notesSlides/notesSlide30.xml" Id="Rc680e1612177451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e75662cd6644b8" /><Relationship Type="http://schemas.openxmlformats.org/officeDocument/2006/relationships/image" Target="/ppt/media/image30.png" Id="Rff9350bca0df4d9d" /><Relationship Type="http://schemas.openxmlformats.org/officeDocument/2006/relationships/notesSlide" Target="/ppt/notesSlides/notesSlide31.xml" Id="R1a3a9116913e480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df5523754f4d63" /><Relationship Type="http://schemas.openxmlformats.org/officeDocument/2006/relationships/image" Target="/ppt/media/image31.png" Id="R0815cf63ae8c47a2" /><Relationship Type="http://schemas.openxmlformats.org/officeDocument/2006/relationships/notesSlide" Target="/ppt/notesSlides/notesSlide32.xml" Id="Rc371e3040bdd492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daea9abc094b1f" /><Relationship Type="http://schemas.openxmlformats.org/officeDocument/2006/relationships/image" Target="/ppt/media/image32.png" Id="Ra531e010f19147b5" /><Relationship Type="http://schemas.openxmlformats.org/officeDocument/2006/relationships/notesSlide" Target="/ppt/notesSlides/notesSlide33.xml" Id="R58fadd64dd3549e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4708b159d3d4570" /><Relationship Type="http://schemas.openxmlformats.org/officeDocument/2006/relationships/notesSlide" Target="/ppt/notesSlides/notesSlide34.xml" Id="R2b7ecf6f10bc491e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5a527f7ebb4815" /><Relationship Type="http://schemas.openxmlformats.org/officeDocument/2006/relationships/image" Target="/ppt/media/image33.png" Id="R0c0af200592144da" /><Relationship Type="http://schemas.openxmlformats.org/officeDocument/2006/relationships/notesSlide" Target="/ppt/notesSlides/notesSlide35.xml" Id="R15f43b9a2dee498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98f357519d48cc" /><Relationship Type="http://schemas.openxmlformats.org/officeDocument/2006/relationships/image" Target="/ppt/media/image34.png" Id="Rd68ffb68c5654c9e" /><Relationship Type="http://schemas.openxmlformats.org/officeDocument/2006/relationships/notesSlide" Target="/ppt/notesSlides/notesSlide36.xml" Id="Rb5f2cddd30a64679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9f4e6d80874410" /><Relationship Type="http://schemas.openxmlformats.org/officeDocument/2006/relationships/image" Target="/ppt/media/image35.png" Id="R5c97be84b9614615" /><Relationship Type="http://schemas.openxmlformats.org/officeDocument/2006/relationships/notesSlide" Target="/ppt/notesSlides/notesSlide37.xml" Id="Re3dbaeaa9cac4f9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6a39e5e41a4aef" /><Relationship Type="http://schemas.openxmlformats.org/officeDocument/2006/relationships/image" Target="/ppt/media/image36.png" Id="R6076b98132ea4b74" /><Relationship Type="http://schemas.openxmlformats.org/officeDocument/2006/relationships/notesSlide" Target="/ppt/notesSlides/notesSlide38.xml" Id="R93fefea32e7740e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ff844c7a1d48f2" /><Relationship Type="http://schemas.openxmlformats.org/officeDocument/2006/relationships/image" Target="/ppt/media/image37.png" Id="R023341b42d414683" /><Relationship Type="http://schemas.openxmlformats.org/officeDocument/2006/relationships/notesSlide" Target="/ppt/notesSlides/notesSlide39.xml" Id="Rf32cc0f73f9d4dd3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cf3203896b4bff" /><Relationship Type="http://schemas.openxmlformats.org/officeDocument/2006/relationships/image" Target="/ppt/media/image38.png" Id="R5197bd34a5624974" /><Relationship Type="http://schemas.openxmlformats.org/officeDocument/2006/relationships/notesSlide" Target="/ppt/notesSlides/notesSlide40.xml" Id="R45eedc61e50f40e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bf4a77ff124a36" /><Relationship Type="http://schemas.openxmlformats.org/officeDocument/2006/relationships/image" Target="/ppt/media/image39.png" Id="R279aa11b97ae4ed4" /><Relationship Type="http://schemas.openxmlformats.org/officeDocument/2006/relationships/notesSlide" Target="/ppt/notesSlides/notesSlide41.xml" Id="Ra4e2b87f6e2e4dc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c5b18536014914" /><Relationship Type="http://schemas.openxmlformats.org/officeDocument/2006/relationships/image" Target="/ppt/media/image40.png" Id="R20b7868a52c245e1" /><Relationship Type="http://schemas.openxmlformats.org/officeDocument/2006/relationships/notesSlide" Target="/ppt/notesSlides/notesSlide42.xml" Id="Ra51ecc78d52848d3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3e1b71e1df4288" /><Relationship Type="http://schemas.openxmlformats.org/officeDocument/2006/relationships/image" Target="/ppt/media/image41.png" Id="R1332e018eaff4a87" /><Relationship Type="http://schemas.openxmlformats.org/officeDocument/2006/relationships/notesSlide" Target="/ppt/notesSlides/notesSlide43.xml" Id="R1512e59153bc437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f18cbd535d49e4" /><Relationship Type="http://schemas.openxmlformats.org/officeDocument/2006/relationships/notesSlide" Target="/ppt/notesSlides/notesSlide44.xml" Id="Rf059a6f00e554e19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e21569df014eae" /><Relationship Type="http://schemas.openxmlformats.org/officeDocument/2006/relationships/image" Target="/ppt/media/image42.png" Id="R0fddece31ea04672" /><Relationship Type="http://schemas.openxmlformats.org/officeDocument/2006/relationships/notesSlide" Target="/ppt/notesSlides/notesSlide45.xml" Id="R60890bf6f4f14082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c7feb51fce446e" /><Relationship Type="http://schemas.openxmlformats.org/officeDocument/2006/relationships/image" Target="/ppt/media/image43.png" Id="Rdc15a99b45e149e7" /><Relationship Type="http://schemas.openxmlformats.org/officeDocument/2006/relationships/notesSlide" Target="/ppt/notesSlides/notesSlide46.xml" Id="R8ede8604173b4e57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3cea6267ba4ad7" /><Relationship Type="http://schemas.openxmlformats.org/officeDocument/2006/relationships/notesSlide" Target="/ppt/notesSlides/notesSlide47.xml" Id="R534d7a17c92d45f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e32f5cce74de0" /><Relationship Type="http://schemas.openxmlformats.org/officeDocument/2006/relationships/notesSlide" Target="/ppt/notesSlides/notesSlide48.xml" Id="Rc5f6b8b7a66f497f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08b44529b046ca" /><Relationship Type="http://schemas.openxmlformats.org/officeDocument/2006/relationships/image" Target="/ppt/media/image44.png" Id="R6827361e3e70481e" /><Relationship Type="http://schemas.openxmlformats.org/officeDocument/2006/relationships/notesSlide" Target="/ppt/notesSlides/notesSlide49.xml" Id="R821fdb9f02904a6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41233c9f345c3" /><Relationship Type="http://schemas.openxmlformats.org/officeDocument/2006/relationships/notesSlide" Target="/ppt/notesSlides/notesSlide50.xml" Id="R6137183a3fe44f4c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21c96d2f854f95" /><Relationship Type="http://schemas.openxmlformats.org/officeDocument/2006/relationships/image" Target="/ppt/media/image45.png" Id="R36bd9eff92a84c94" /><Relationship Type="http://schemas.openxmlformats.org/officeDocument/2006/relationships/notesSlide" Target="/ppt/notesSlides/notesSlide51.xml" Id="R7dd23c9023294a6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ad1afe879040c1" /><Relationship Type="http://schemas.openxmlformats.org/officeDocument/2006/relationships/notesSlide" Target="/ppt/notesSlides/notesSlide52.xml" Id="R4f708a9455dd4c06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a708a12f664b8d" /><Relationship Type="http://schemas.openxmlformats.org/officeDocument/2006/relationships/image" Target="/ppt/media/image46.png" Id="R8e85676e52534215" /><Relationship Type="http://schemas.openxmlformats.org/officeDocument/2006/relationships/notesSlide" Target="/ppt/notesSlides/notesSlide53.xml" Id="R7a5637f0676f4c1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265a6a40484d3d" /><Relationship Type="http://schemas.openxmlformats.org/officeDocument/2006/relationships/notesSlide" Target="/ppt/notesSlides/notesSlide54.xml" Id="Rc9ef99094b4d4ad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a2cba5e4f94529" /><Relationship Type="http://schemas.openxmlformats.org/officeDocument/2006/relationships/image" Target="/ppt/media/image47.png" Id="R4484fbaccf8445ab" /><Relationship Type="http://schemas.openxmlformats.org/officeDocument/2006/relationships/notesSlide" Target="/ppt/notesSlides/notesSlide55.xml" Id="Rb3fba33f523649e7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ddc0a37b3d44d2" /><Relationship Type="http://schemas.openxmlformats.org/officeDocument/2006/relationships/notesSlide" Target="/ppt/notesSlides/notesSlide56.xml" Id="Rb45c1bbe7a284009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1fd91ad3cf42d2" /><Relationship Type="http://schemas.openxmlformats.org/officeDocument/2006/relationships/image" Target="/ppt/media/image48.png" Id="R56353f5908254dac" /><Relationship Type="http://schemas.openxmlformats.org/officeDocument/2006/relationships/notesSlide" Target="/ppt/notesSlides/notesSlide57.xml" Id="R9ad4f9c11d4c47be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fe3e841ffe4dbb" /><Relationship Type="http://schemas.openxmlformats.org/officeDocument/2006/relationships/notesSlide" Target="/ppt/notesSlides/notesSlide58.xml" Id="R76497a9ebc4f4133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6717d2139046d9" /><Relationship Type="http://schemas.openxmlformats.org/officeDocument/2006/relationships/image" Target="/ppt/media/image49.png" Id="R3d8842f46a844a45" /><Relationship Type="http://schemas.openxmlformats.org/officeDocument/2006/relationships/notesSlide" Target="/ppt/notesSlides/notesSlide59.xml" Id="Ra6adc9e18d014b9a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f1b1c7775d4946" /><Relationship Type="http://schemas.openxmlformats.org/officeDocument/2006/relationships/image" Target="/ppt/media/image50.png" Id="R790ebdfd32884c50" /><Relationship Type="http://schemas.openxmlformats.org/officeDocument/2006/relationships/notesSlide" Target="/ppt/notesSlides/notesSlide60.xml" Id="Rbb8d9a2c16c540a7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c0d98da82d4589" /><Relationship Type="http://schemas.openxmlformats.org/officeDocument/2006/relationships/image" Target="/ppt/media/image51.png" Id="Rd7e362470fd346de" /><Relationship Type="http://schemas.openxmlformats.org/officeDocument/2006/relationships/notesSlide" Target="/ppt/notesSlides/notesSlide61.xml" Id="R1570770a01fa4395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13f6eb56a34061" /><Relationship Type="http://schemas.openxmlformats.org/officeDocument/2006/relationships/notesSlide" Target="/ppt/notesSlides/notesSlide62.xml" Id="R3e88b5cdc1d8455c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29eef542a9403a" /><Relationship Type="http://schemas.openxmlformats.org/officeDocument/2006/relationships/image" Target="/ppt/media/image52.png" Id="Ree42991c05074358" /><Relationship Type="http://schemas.openxmlformats.org/officeDocument/2006/relationships/notesSlide" Target="/ppt/notesSlides/notesSlide63.xml" Id="R423f470000244e44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41c7817c1b42af" /><Relationship Type="http://schemas.openxmlformats.org/officeDocument/2006/relationships/image" Target="/ppt/media/image53.png" Id="R449b8310d4bb48c5" /><Relationship Type="http://schemas.openxmlformats.org/officeDocument/2006/relationships/notesSlide" Target="/ppt/notesSlides/notesSlide64.xml" Id="R210ad288cd2545f6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1f1b2a62a6432d" /><Relationship Type="http://schemas.openxmlformats.org/officeDocument/2006/relationships/image" Target="/ppt/media/image54.png" Id="R3a80adbd4d6e4385" /><Relationship Type="http://schemas.openxmlformats.org/officeDocument/2006/relationships/notesSlide" Target="/ppt/notesSlides/notesSlide65.xml" Id="R985d90bf390d4d68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96b3c2ab4147ef" /><Relationship Type="http://schemas.openxmlformats.org/officeDocument/2006/relationships/image" Target="/ppt/media/image55.png" Id="Ref474a460c144aae" /><Relationship Type="http://schemas.openxmlformats.org/officeDocument/2006/relationships/notesSlide" Target="/ppt/notesSlides/notesSlide66.xml" Id="Reca172928d294dfa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07e28ac3af4f6f" /><Relationship Type="http://schemas.openxmlformats.org/officeDocument/2006/relationships/image" Target="/ppt/media/image56.png" Id="R43fa3018bbee40f1" /><Relationship Type="http://schemas.openxmlformats.org/officeDocument/2006/relationships/notesSlide" Target="/ppt/notesSlides/notesSlide67.xml" Id="R324e6bd42f9b4aa1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f8b6bad6f24e5b" /><Relationship Type="http://schemas.openxmlformats.org/officeDocument/2006/relationships/image" Target="/ppt/media/image57.png" Id="R69462469efee4915" /><Relationship Type="http://schemas.openxmlformats.org/officeDocument/2006/relationships/notesSlide" Target="/ppt/notesSlides/notesSlide68.xml" Id="R86ec5ed6f9c84d39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889e507ec8148c6" /><Relationship Type="http://schemas.openxmlformats.org/officeDocument/2006/relationships/image" Target="/ppt/media/image58.png" Id="R20b64e2d720c46a0" /><Relationship Type="http://schemas.openxmlformats.org/officeDocument/2006/relationships/notesSlide" Target="/ppt/notesSlides/notesSlide69.xml" Id="R17cd7df31e954c09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8f348f3b844f77" /><Relationship Type="http://schemas.openxmlformats.org/officeDocument/2006/relationships/image" Target="/ppt/media/image59.png" Id="R6c0e90e4a13b46b5" /><Relationship Type="http://schemas.openxmlformats.org/officeDocument/2006/relationships/notesSlide" Target="/ppt/notesSlides/notesSlide70.xml" Id="R3ce25caca55449ad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9d2ba6b65f4e22" /><Relationship Type="http://schemas.openxmlformats.org/officeDocument/2006/relationships/image" Target="/ppt/media/image60.png" Id="Rf085e29380284661" /><Relationship Type="http://schemas.openxmlformats.org/officeDocument/2006/relationships/notesSlide" Target="/ppt/notesSlides/notesSlide71.xml" Id="R646af141979d47aa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ae06476f544771" /><Relationship Type="http://schemas.openxmlformats.org/officeDocument/2006/relationships/notesSlide" Target="/ppt/notesSlides/notesSlide72.xml" Id="Rf47e10fe6d984ff9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285e3a404d4675" /><Relationship Type="http://schemas.openxmlformats.org/officeDocument/2006/relationships/image" Target="/ppt/media/image61.png" Id="R8cc2822698984dd9" /><Relationship Type="http://schemas.openxmlformats.org/officeDocument/2006/relationships/notesSlide" Target="/ppt/notesSlides/notesSlide73.xml" Id="Re8fb8b0e96e747a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D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CD884-AA6C-4338-B76B-76C061DB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食材管理 v4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2A52A-358F-4FD7-BB52-C50E39DF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67627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从零配置，到出餐扣减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8C2EEC-3D16-4286-A375-B997CCD5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766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跟着当前界面，完整做完一笔业务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7A9AA-9F64-4136-B98E-AB661A86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8147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鲜牛奶 → 开盖 → 热牛奶 → 扣减库存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15FA95-ED27-459B-954F-6BF770FD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当前界面带图操作教程 · 2026-10-06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BB0DB9-EBD1-4025-98C7-584F1DE425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f469ff4044d9e"/>
          <a:stretch xmlns:a="http://schemas.openxmlformats.org/drawingml/2006/main"/>
        </p:blipFill>
        <p:spPr>
          <a:xfrm xmlns:a="http://schemas.openxmlformats.org/drawingml/2006/main">
            <a:off x="8248756" y="685800"/>
            <a:ext cx="2666788" cy="55816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52C8E-9A25-415A-9F8A-A3412A81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1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9733286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0F58F-F258-4159-984B-CE4BA569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这次要完成什么？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3AE91-2A87-4CCE-90E2-3433C87B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一个完整示例，先看清目标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FA8D9-2D52-4EBD-9BE4-FFC4A0C15EC8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4114800"/>
              </a:tblGrid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本教程的示例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完成后核对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存储区域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吧台 / 冷藏柜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启用的二级区域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分类与链路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乳制品 / 鲜奶；桶 →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桶 = 2000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采购入库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桶鲜牛奶，总金额 40 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中间态 4000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开盖作业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投入 1 桶，实际产出 1960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出品态可用 1960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菜品与出餐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热牛奶，每杯 200 ml；出 2 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扣减 400 ml，剩余 1560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24E6CD-D9F6-498A-99C0-52FA2A9F5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截图来自当前 v4 页面，使用演示数据。日期、价格、保质期与出成率均为教学示例；实际按本店标准填写。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5813F7-94F3-4C9C-829D-D321D1A6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6797689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49985-8382-4328-93BF-C9E35677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先确认门店和员工身份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47C3E-CFCB-4356-9756-66644885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企业微信 → 食材管理 → 右上角身份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E70658-AF48-4889-84FA-F94C3FB74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77F22-3A59-4551-BF3B-505BC02B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从企业微信应用进入，确认当前门店和姓名。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E5163-79B5-4789-A647-BBB94BD5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0DDCD8-30C5-40EB-8FD6-E7466523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本教程先用店长完成基础配置；日常入库、作业和出餐由有权限的员工操作。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C805C8-E8EA-4550-9763-AF8E2B29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878F80-A24F-46E8-ACC1-0CB6805A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看不到维护按钮时，先核对员工身份与门店权限。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13F27C-F139-4688-BB0C-457B8BDC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首页：mini.snowmeet.top/fnb/v4/index.html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D6E96-4005-4E59-8E0A-529283DCCA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4e12fe52234861"/>
          <a:stretch xmlns:a="http://schemas.openxmlformats.org/drawingml/2006/main"/>
        </p:blipFill>
        <p:spPr>
          <a:xfrm xmlns:a="http://schemas.openxmlformats.org/drawingml/2006/main">
            <a:off x="7600950" y="3049994"/>
            <a:ext cx="3981450" cy="1520012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3F229-DE03-44AD-8AD8-57FD6366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9359437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259D0C-766E-4499-BE3A-7F6AA775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从“更多”开始初始化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5BD01-21B7-4F5B-B529-3597CD20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底部导航 → 更多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8ABE5-60B5-49B3-9D4C-972F734A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3C525D-CCAE-49A1-BE49-0FD200A7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先配置：存储区域 → 食材分类 → 进货规格与链路。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D54D3-C89A-4915-95FD-AB0FA9199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D1A1D-D631-4665-8F40-507BEC85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再配置：菜品配方；需要半成品时再建半成品配方。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0475B-3931-4DCD-AC94-63BF7383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286A46-07F5-471F-9C8C-242F4A4F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日常业务在底部导航完成：入库 → 作业 → 出餐。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77FFD-5CE7-4246-A865-18A140FD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先建档，后入库；先得到出品态，后出餐。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D0D0A-D19E-49A2-A63C-CC20EE10FD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300f17d484f93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C950EC-22A0-4871-8947-C15404538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21428821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2F125-9B12-44ED-AF6A-88093429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01  新增一级区域：吧台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2E715-7C53-4A30-988C-2A498A9A4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存储区域 → + 新增一级区域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E68BC-66F5-4497-980D-D59D38A4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6754E-5865-45CA-B67C-9C1F7F67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区域名称填写“吧台”。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A4C61-7EF4-4801-A207-4220B6BB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61EA7-071F-41EE-B66C-E6005B7E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区域类型选择“前台”，保留“启用”。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26187-FFB6-4A4A-8079-56A1EAF6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716735-88EB-4856-9C3D-83F74D998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点击“保存”。一级区域用于组织下级区域。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F7AE16-F374-4F19-9F77-1E21E51B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保存后，应在区域树中看到“吧台”。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6231A2-40B1-4F94-935B-A29DE94314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6d489c1b854d0d"/>
          <a:stretch xmlns:a="http://schemas.openxmlformats.org/drawingml/2006/main"/>
        </p:blipFill>
        <p:spPr>
          <a:xfrm xmlns:a="http://schemas.openxmlformats.org/drawingml/2006/main">
            <a:off x="7600950" y="1706500"/>
            <a:ext cx="3981450" cy="4207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248F43-724D-446C-AA90-EEE1CCE1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569642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A94AC0-E216-44D7-AF01-612B72B4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02  新增二级区域：冷藏柜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B47861-3589-4B38-9393-CAE00DCA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吧台 → + 下级区域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E864A4-D751-48F9-ACFA-9C40E82D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4EFBF-53A7-43F8-B3A3-93D84E64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在“吧台”下点击“+ 下级区域”。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DCAC0-52F3-439F-A686-8B9A1B8A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FE048D-3C60-4C31-8017-12991780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名称填“冷藏柜”，类型选“冷藏冷冻”，保持启用。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E448B-CB8A-41AC-8408-1FEC658A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F4EE83-5902-41DF-8E14-C5DECDA1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保存后，入库和作业选择“吧台 / 冷藏柜”。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C5600-E72B-49EC-8D01-C27AA492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采购入库要选启用的二级区域。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A6FF6-5064-40EC-8CF0-AB4DB2D8AA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fbf3f03ae4db6"/>
          <a:stretch xmlns:a="http://schemas.openxmlformats.org/drawingml/2006/main"/>
        </p:blipFill>
        <p:spPr>
          <a:xfrm xmlns:a="http://schemas.openxmlformats.org/drawingml/2006/main">
            <a:off x="7600950" y="1706500"/>
            <a:ext cx="3981450" cy="42070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40719B-3DF9-4CD5-9A76-F93153F9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1432699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FDAC1-1CF8-411E-932A-5F5B8AC7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一级区域可以收起下级区域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C74CC-01AF-4CCF-9FC9-E347CEDE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存储区域 → 一级区域标题旁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FA70DB-AF39-406D-B3A5-FDFFD41C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F139D-6CD5-427D-880B-C4E1A3A05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点击“收起下级区域（1）”，隐藏冷藏柜。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9A4E6-1C38-4BAD-BBD1-ACE618FC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DF62CA-F2C4-4869-BC25-7FDDE4F9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点击“展开下级区域（1）”，再次显示冷藏柜。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C3F9BC-E079-4BF3-AE56-BBD16825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E70B4-036A-4C26-B02F-6B47C3C1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折叠不会停用区域；照片、检查项仍可维护。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5EB1B-DAF1-424E-A82D-1A937CB3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区域最多两级。已有绑定时，应停用并保留历史。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AC03E-6DBF-4BE3-BC1F-4E70FD32CFE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ae09e4b044f33"/>
          <a:stretch xmlns:a="http://schemas.openxmlformats.org/drawingml/2006/main"/>
        </p:blipFill>
        <p:spPr>
          <a:xfrm xmlns:a="http://schemas.openxmlformats.org/drawingml/2006/main">
            <a:off x="7600950" y="1849286"/>
            <a:ext cx="3981450" cy="3921428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EC6AB-F510-423C-B879-BF478ECC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7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53784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9775A2-6FB4-447B-9289-BE42837B5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03  新增一级分类：乳制品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6784A6-C97C-472B-81A2-D16F13CF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食材分类 → + 新增一级分类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90A77-F008-4693-9967-0544FF67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B4331-AD2B-4E40-A953-1AE957848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名称填写“乳制品”，保留启用。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C4087-54DE-4C6E-A4D2-0453118B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E3258D-15F5-43DA-9D6F-FFD28771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点击“保存”。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20E1C-221D-44BA-BF85-15BB7513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00B4B5-FEB4-413F-9062-54833BE9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一级分类用于筛选所属二级分类。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5202B8-6783-490B-8FC0-FE9291182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入库时先选“乳制品”，再选“鲜奶”。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A1640E-FF00-41E3-8184-A1AA07B779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1ad00a6ec4c44"/>
          <a:stretch xmlns:a="http://schemas.openxmlformats.org/drawingml/2006/main"/>
        </p:blipFill>
        <p:spPr>
          <a:xfrm xmlns:a="http://schemas.openxmlformats.org/drawingml/2006/main">
            <a:off x="7600950" y="2280182"/>
            <a:ext cx="3981450" cy="3059636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DD7FC-7E91-4AE5-8B35-1078DDAD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8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224624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CA13F-1C30-4010-9F1F-75EE9E7D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04  二级分类决定默认属性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1749C-23F3-4BFD-891B-A7339750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乳制品 → + 新增二级分类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67FE97-7F93-4960-ADE7-A6AAE2B1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2B3FF6-FC1F-411B-B790-E2275794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名称“鲜奶”，批次号编码“MLK”。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027E62-7B20-4F2C-8660-1632D1CC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E8880-7BF5-4984-A2C8-08E1ECBD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计量选“按体积”，建议储存方式选“冷藏”。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DFB3FF-7B1D-47E7-81C2-E8F2C830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08A076-E7D2-4279-A37F-14F5E675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临期提醒填 2 天；开封 / 作业后保质填 3 天。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E54BF-B58E-4BFB-A720-BEA51F91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FE498C-BD90-40EA-86BC-AD0300AD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本例不勾选“半成品分类”，启用后保存。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27935-950A-47FB-85E4-BEED84E9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按体积的基本单位是 ml。食材还可单独覆盖属性。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0A7E8-0536-484A-89D3-A7C30441F2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0f73ab9ce4876"/>
          <a:stretch xmlns:a="http://schemas.openxmlformats.org/drawingml/2006/main"/>
        </p:blipFill>
        <p:spPr>
          <a:xfrm xmlns:a="http://schemas.openxmlformats.org/drawingml/2006/main">
            <a:off x="8132935" y="1476375"/>
            <a:ext cx="2917480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E8CD55-A76A-4CDD-B3AC-DDFAF94F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9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4173614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DAFE5B-3255-4128-BEE8-565CA249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05  配置未开封的保质期规则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093A1D-2997-4399-804E-C95B26F9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鲜奶 → 保质期规则 → + 新增规则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239AA0-263A-46C6-8842-962C8520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43567-D798-4470-A4DB-1438C310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储存方式选择“冷藏”。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F84F79-1DAC-447D-A075-FADF83FE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AD9D4-DAD3-46C8-8668-817009AA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生产月份分档选“全年”；保质天数填 14，启用后保存。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671454-EC19-46B1-AF0B-40D538D4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9EDCC8-24FD-429A-A36F-942D9D32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同一食材有例外时，可在食材链路页单独维护规则。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18D8A1-228F-45B5-B499-77C07219D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没有包装到期日时，服务器用生产日期和规则推算。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73F797-752A-44E9-A4D2-D5D3EDF3B5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8088f9d66434e"/>
          <a:stretch xmlns:a="http://schemas.openxmlformats.org/drawingml/2006/main"/>
        </p:blipFill>
        <p:spPr>
          <a:xfrm xmlns:a="http://schemas.openxmlformats.org/drawingml/2006/main">
            <a:off x="7600950" y="1912437"/>
            <a:ext cx="3981450" cy="3795126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621EFF-90D1-4333-84E2-13E2EE9C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10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21363538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6295D-B34D-4B5A-BC21-0CF16455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06  先建最终能出餐的形态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2B555-2B99-440B-B13C-7F372D96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进货规格与链路 → + 新建食材档案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1BB80-9927-48B4-A38A-89F54231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664A8-8CA1-48FE-888C-A77EC01F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食材名称填“鲜牛奶”，二级分类选“鲜奶”。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0E55E-14C8-4FFC-B3C5-EBF866237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41099-D422-4E51-ABF8-C68AB762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出品态名称填“液体鲜奶”，基本单位选“毫升”。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ABE25F-96A8-4051-9FF5-98CCC083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7EFE9-A58E-416E-AB9F-A8D21A41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储存选“跟随分类建议”，编码用 F，点击“创建食材”。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1536B0-CA8B-4759-B98D-190D2CD2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配方和出餐只使用出品态可用量。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4A126E-E123-451F-84AE-F04C82E538A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75bbaacb674ad0"/>
          <a:stretch xmlns:a="http://schemas.openxmlformats.org/drawingml/2006/main"/>
        </p:blipFill>
        <p:spPr>
          <a:xfrm xmlns:a="http://schemas.openxmlformats.org/drawingml/2006/main">
            <a:off x="8019141" y="1476375"/>
            <a:ext cx="314506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691523-2DDC-457A-9FD8-92306069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11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6618745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65EDF2-46B9-44C2-A217-6017E776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07  往上游加：独立桶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88E4FD-6FFE-4746-BE37-EBD223EB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鲜牛奶链路 → + 在上游加一个形态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872E4-6CA8-4951-AB83-A0D2DD1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E47FE-AC0D-46D3-86B2-26C848B9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形态名“独立桶”，单位“桶”，编码 TUB。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E8E0D4-C533-4C77-87B3-31283E8F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D099E-A76B-4CDB-BAF3-7586D270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每单位基本量填 2000，代表 1 桶内含 2000 ml。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5A61F-06C3-4B58-9657-85C89B4D0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012152-A678-4368-9583-AF2E23F3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作业名“开盖”，标准出成率 98%，耗时 0 小时。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01857-5C35-4B78-8D94-80A30814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DD9D69-B73D-4924-9440-FA003BE9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储存冷藏；“作业后保质”填 3 天，点击“加入链路”。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5F8176-B37A-41F9-9ED9-DDF3EEC1B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这次开盖的 3 天保质，必须在链路作业里填写。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020E38-1A8E-4063-B454-3746AECC05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27c01000fa4dc2"/>
          <a:stretch xmlns:a="http://schemas.openxmlformats.org/drawingml/2006/main"/>
        </p:blipFill>
        <p:spPr>
          <a:xfrm xmlns:a="http://schemas.openxmlformats.org/drawingml/2006/main">
            <a:off x="8335940" y="1476375"/>
            <a:ext cx="2511469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A9F5F-B1FD-4113-8F42-A5F905C3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12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2191560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DE303F-7175-4E13-AA34-7820056B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有整箱采购时，再加一层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EFEF1C-FD2A-4851-9857-9D5FFD27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链路 → + 在上游加一个形态（可选）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F066B-08EA-467A-99AB-7CC8B4DE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E7E3B-7DED-49D5-869B-10358CC3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形态名“整箱”，单位“箱”，编码 BOX。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3210E-52AE-49AA-8357-A44A09C0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9E7A8-BEB7-4217-966D-0266E72BF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每单位基本量填 12000，而不是填 6。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E56DCE-0121-4608-8729-51AE7956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75E43-34B4-4F3A-86EC-545E172C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下游作业“拆箱”，出成率 100%，耗时 0 小时。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1984A-65EE-4205-BD24-BBBFC4F1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4C92E-5F7C-4148-A547-40B2249A4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保存后，系统显示 1 箱 = 6 桶。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EF7B48-7A18-474A-B549-DDF400F2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每单位基本量始终用基本单位；本例是 ml。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33F415-FA4C-4E0A-80FD-4A79E0C8CA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c5f0e415874b91"/>
          <a:stretch xmlns:a="http://schemas.openxmlformats.org/drawingml/2006/main"/>
        </p:blipFill>
        <p:spPr>
          <a:xfrm xmlns:a="http://schemas.openxmlformats.org/drawingml/2006/main">
            <a:off x="8335940" y="1476375"/>
            <a:ext cx="2511469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0B073D-0D08-44A7-88FD-2FD2F6520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13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1767620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43ADAA-739F-4DDE-9940-584B93F6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08  核对形态与作业链路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5AD06-DDF5-43D2-8DCE-B44AFA2D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进货规格与链路 → 鲜牛奶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ADCB7A-4610-4EC5-B973-4020C7CF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E4E6A-39B2-42F1-BCBF-5D9BBE272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整箱：1 箱含 12000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824C2E-E048-46CD-B8BB-00F2509D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D188E-F6AE-4230-9FF2-DDCBDA0C6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拆箱后：6 桶，每桶含 2000 ml。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12881-A631-49B2-B7EB-D0C18DD8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9962C4-DDA9-4F80-9300-C9A46686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开盖后：液体鲜奶；标准出成率 98%。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CABEF-5191-411E-BA8E-6039D9F2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本例按桶采购，从“独立桶”这一层入库。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EDAAB-92CA-4D8A-BB91-7E4554E4A8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66ef4395f94afa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3FC2A-E9AF-4E70-A2CC-2F34AF6E3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14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761041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25B33A-25AE-41D3-BA15-7D92C332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09  进货规格指定从哪层入库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03611-0D8E-4186-AF2E-647845B9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鲜牛奶 → + 新增进货规格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2107D5-8971-4F5F-9954-B673E76E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C27BCD-7846-44F0-B315-0B0B04FA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规格名“单桶 2 L”，包装描述“2 L / 桶”。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FD00D3-BAC8-4711-AAED-55D42DD5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9BC12E-973A-4C2E-A518-9F5158D2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入库形态选择“独立桶”。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2CB8A-6E84-4EBC-B3E0-DC06827E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B8D60-55C0-48FC-8A66-91E56A1A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条码可填实际包装条码；本例留空，启用后保存。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E379E-1D4E-46B4-801A-EEA360AD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选这个规格后，入库数量的单位就是“桶”。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4C317E-1664-4177-A924-21BC2027CB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a24e8063db420d"/>
          <a:stretch xmlns:a="http://schemas.openxmlformats.org/drawingml/2006/main"/>
        </p:blipFill>
        <p:spPr>
          <a:xfrm xmlns:a="http://schemas.openxmlformats.org/drawingml/2006/main">
            <a:off x="8078174" y="1476375"/>
            <a:ext cx="3027002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A0776-C6CD-4085-BE34-3DA410AC1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15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6423317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73B4A-7161-4B33-9EBC-FF994F70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10  入库按一级、二级逐层筛选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9A167E-FBEC-4862-8175-723BBA18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底部导航 → 入库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15C0A-C6EF-4FAD-B18D-28A9BC96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291B41-311E-4BA1-96C3-AC749620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一级分类选“乳制品”。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07E085-513F-43B5-AA81-7A22D12F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338D7D-6934-41DA-911A-6B9158D1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二级分类选“鲜奶”，食材名称选“鲜牛奶”。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58114D-84A9-4D86-8AB6-6A2B47E5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F92660-091A-40A6-A673-52BEB3AB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选择进货规格“单桶 2 L”；有条码时也可扫码查找。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F19B6-34C7-491C-96D5-0AC2C457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更换分类后，需要重新选食材和规格。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A6CA13-E9E7-4223-9D84-6E029A9C7A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5fee33025448a"/>
          <a:stretch xmlns:a="http://schemas.openxmlformats.org/drawingml/2006/main"/>
        </p:blipFill>
        <p:spPr>
          <a:xfrm xmlns:a="http://schemas.openxmlformats.org/drawingml/2006/main">
            <a:off x="7600950" y="1576687"/>
            <a:ext cx="3981450" cy="4466627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CAD19-95DC-4C40-841C-1898F030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16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96738984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8C42CF-EE1F-40FC-A4C4-6A3334BE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11  核对区域、日期与到期预览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C3CE14-B408-411D-9FF1-F4CCCFF9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每日入库 → 照片 / 储存方式 / 日期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58322-F4A9-427D-8920-E1886381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EBE5C-5A8A-46E4-8173-46C9C2A1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拍照 / 上传包装照片；可用“识别”辅助录入日期。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7A4E5-DEBD-4727-82C9-BC6981EF8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D88E0A-133B-4624-9F06-6FE170B4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储存方式选冷藏，区域选“吧台 / 冷藏柜”。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CA42D-B89E-4B32-B27B-5D758644D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63665-8072-4532-A9B5-C377B00F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生产日期填 2026-10-06；本例到期日留空，按规则预览。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2E3C2-74F0-46E7-8A75-2F834FD0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000C3E-BD84-41A0-886B-80F7DFDC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OCR 结果要核对后采用；预览批次号由服务器生成。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86EAC-2494-4D65-A405-B270BEF1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本例有效到期 2026-10-20；批次号不能手工修改。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38D7F-3BF4-4157-9A96-4342D6D624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74d91a18441e4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8DEA8-1B3E-45CB-B83D-4048EDC2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17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6366743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F3BF6E-5922-4F07-957C-8E6897F8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12  数量按规格单位填写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391206-EEB6-47D7-8121-25F9180A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每日入库 → 数量与金额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9CAD59-4D0D-4B34-9398-C0651520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B3622-388D-4DE7-A8C4-C92F095D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数量填 2，旁边单位应显示“桶”。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C23F2-F8DC-46D4-9CE6-EF7889F7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D9957-4DB6-49C9-A1A6-89A8C4806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总金额填 40 元，表示这 2 桶的合计采购金额。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8D7100-97E6-40B3-B7AA-01C339259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D12BD-CD46-4F89-B33C-B8037DF4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核对规格、数量、金额、区域与日期。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A89B5-429E-497C-80BC-1B0979AFB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88605B-E807-4C81-B974-AD45FAA1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点击“加入待提交清单”。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8085D5-7B69-4C8C-8BA1-2981DF8F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2 桶对应 4000 ml；此时只是草稿，库存还没增加。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BFD134-A0DD-45BD-8E99-162450B32B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4e3aeaaa4a4dbc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B72F5-912C-483C-919A-060B2D91D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18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213142846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821B1-880C-4278-89F3-1A0E6651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13  确认入库，才真正增加库存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94EFB-06C3-4CE3-897D-D4603024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每日入库 → 今日入库单 → 确认入库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35E7F7-3345-43D0-B92D-5022D96C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156728-88F8-45A3-B569-80E4D3D7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核对待提交条目：鲜牛奶 / 单桶 2 L / 2 桶 / 40 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D5583-5C9A-4B68-B09D-5A3319A0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97D60-3D49-49B4-B202-93DAFC66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错误条目先移除，重新填写后加入清单。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AB01F-2AFD-4F4A-9033-C3EDE0F2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1EA02-0F0B-425F-BA3E-FC2B31E3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点击“确认入库”，查看“刚才入库的批次”。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F4720-5150-4536-A628-0A96BC67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确认成功后，再去库存页核对入库结果。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969C4-DBFE-42A3-A1B2-620E7250D7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132ed70ae42cb"/>
          <a:stretch xmlns:a="http://schemas.openxmlformats.org/drawingml/2006/main"/>
        </p:blipFill>
        <p:spPr>
          <a:xfrm xmlns:a="http://schemas.openxmlformats.org/drawingml/2006/main">
            <a:off x="7600950" y="2239428"/>
            <a:ext cx="3981450" cy="3141144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494E5-0E14-4ACD-A888-C4018FBA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19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82116409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B1A0E4-750D-456A-8CD5-213CE32F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14  入库后还不能直接出餐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4C5D9D-B6A4-43F3-8440-DABB5FA4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 → 鲜牛奶 → 展开形态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EC9DED-4C65-42F0-889D-A5A8F09C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D77584-9261-49D1-B3FD-988041F9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独立桶应有 2 桶，对应基本量 4000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66881-9745-4C55-A8E0-9E7271DD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52A91-397E-42D9-8BFC-E9B8AC37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出品态“液体鲜奶”可用量仍是 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E6E38-94BB-41BE-A7B4-5E3D37F1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7B2AB-A221-4854-8C61-ABCC2EF8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需要先开盖，再把可用出品态用于配方。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72C1E-FF98-453C-962C-05DB5A34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“有库存”不等于“有可出餐库存”。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154C8-F989-4F7D-9C7D-CD85333FCD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b0df37630e4b5b"/>
          <a:stretch xmlns:a="http://schemas.openxmlformats.org/drawingml/2006/main"/>
        </p:blipFill>
        <p:spPr>
          <a:xfrm xmlns:a="http://schemas.openxmlformats.org/drawingml/2006/main">
            <a:off x="7600950" y="2547040"/>
            <a:ext cx="3981450" cy="252592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12498F-6344-43D0-9B76-3C38F664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20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57856322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D3279-71DF-42EE-A3BE-8C7792F75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15  在作业页找到可作业批次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5336C3-E301-4858-A598-C1B9B135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底部导航 → 作业 → 可作业批次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DF034-27FC-4E42-A025-16706609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6A0E7-5A0A-491B-A7D3-E82CEA10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找到刚入库的鲜牛奶批次。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C11A64-11D3-470D-B2AC-52AFF324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041CA-1790-40DA-A99C-9011E14E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点击“执行作业”。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0C060-163B-48F6-A6A0-B0A6DB7DF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B6E02-BDEC-470A-9D46-434D1684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本例采购态是独立桶，所以接下来执行开盖。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51D33-81D4-437F-9D60-83E31AA5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建议作业只是提示；点击预览也不会改库存。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0ACC35-607E-4FCE-9A2A-1C69B3F6A0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a7af7ca5e74bc5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D6BED3-E132-47CD-BA38-137F854FD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21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4988948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0B32E9-C636-4AE0-85B0-9B10B8FD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16  预览并填实际开盖产出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BC0B1-3B3F-4924-B046-3B03C596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执行作业 → 投入与产出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F2E555-43B2-4F1F-9007-FEB28537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A088E-4036-41B8-8576-964F0A3B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投入数量填 1，单位是来源形态的“桶”。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CF565-CEE9-4774-8162-1F12760B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19C4C-00BA-4966-A64C-1D109B19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点击“预览作业”，预计产出应为 1960 ml。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2433E-E676-42CE-8650-56D09712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80456-1DF9-4BDC-AEC3-4F29944EE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实际产出按现场测量填；本例填 1960 ml。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7AE586-9190-4ACA-8D9C-E0AA0F77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8E3969-7301-40A3-B4AD-0D76C53E2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存放区域选冷藏柜，点击“确认作业”。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90C275-A9A7-4606-A5F6-779DE609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确认后扣 1 桶，新增 1960 ml 出品态。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2A51A-41BD-4B85-82D5-731E67EB8F3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2afba9714a444c"/>
          <a:stretch xmlns:a="http://schemas.openxmlformats.org/drawingml/2006/main"/>
        </p:blipFill>
        <p:spPr>
          <a:xfrm xmlns:a="http://schemas.openxmlformats.org/drawingml/2006/main">
            <a:off x="7817496" y="1476375"/>
            <a:ext cx="3548358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FF400-BA7B-4ECF-8EDE-48A84290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22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201778223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767A8-33B7-4B63-8339-2F562800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17  核对作业损耗与到期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1F065-2D3C-4E63-98F1-BBBB97BC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作业 → 刚才作业结果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6353DF-35A5-4745-B711-DDF795AA1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4277E-9258-4F91-8058-48585CB1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投入基本量 2000 ml，实际产出 1960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40A477-7379-4670-B85E-38E52D4B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122A7-4F73-4D14-95FB-45467864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损耗基本量应为 40 ml，实际出成率 98%。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A612CA-3840-4849-9109-5B6C8D79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0781F-A743-4028-A6A8-6488664A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开盖后的有效到期是 2026-10-09。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B6E214-2A84-4DC1-997C-D340838E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有效到期取原到期与作业后到期中更早的一天。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3C11F-CB06-4D5D-B33E-EB272BDC4C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fd42eb96342ac"/>
          <a:stretch xmlns:a="http://schemas.openxmlformats.org/drawingml/2006/main"/>
        </p:blipFill>
        <p:spPr>
          <a:xfrm xmlns:a="http://schemas.openxmlformats.org/drawingml/2006/main">
            <a:off x="7600950" y="2779625"/>
            <a:ext cx="3981450" cy="2060751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8BAEF-E873-48F7-8D50-77219E10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23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3256099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11645B-6686-40B3-92E1-B6014854C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18  库存分成两种形态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D9459D-73FE-40E2-BABF-448E7E55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 → 鲜牛奶 → 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ACC7E-0FF8-4779-BB8A-3E535F38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030BCD-85CC-4E4C-BF48-5601E9F3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独立桶剩 1 桶，基本量 2000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F277C-1564-4E63-97A0-633B5971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85E4FE-458D-4D4E-9A38-7A8BF69F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液体鲜奶出品态可用量 1960 ml。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13A78-3B3E-42B5-99AD-33751C4A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8256AE-D7C7-4D3F-8C5B-4DDC7A53D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配方与出餐只扣已经就绪、未过期的出品态。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5614C-6725-477B-852A-F0711AC5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接下来用 1960 ml 配置并出餐。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090098-DE79-4BA1-B350-585502D731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d40b57110d42fe"/>
          <a:stretch xmlns:a="http://schemas.openxmlformats.org/drawingml/2006/main"/>
        </p:blipFill>
        <p:spPr>
          <a:xfrm xmlns:a="http://schemas.openxmlformats.org/drawingml/2006/main">
            <a:off x="7600950" y="2371976"/>
            <a:ext cx="3981450" cy="2876047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69B979-5009-4A2B-8525-D617F92B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24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05547086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C93AED-722C-49CD-B049-DDAE99AC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19  新增菜品：热牛奶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6E54C-EC64-48EE-A27D-93689360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菜品配方 → + 新增菜品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9C724-20D4-4A17-B705-EFB2333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0363B-4846-478B-A2AB-63CAD596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菜品名称“热牛奶”，规格名称“200 ml”。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51BEA-D7E3-4433-A70C-0A16158D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30A2ED-55B8-45E9-96D2-CEF1B731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售价填 12 元（演示价格），保持启用。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9EF41E-3EC4-43FB-9239-CF4394E3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6C7FB9-B316-428D-91D8-E4F2C069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保存后，在这个规格下点击“编辑用料”。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71C1AA-0AB4-444A-840F-24D7D62A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同一菜品的不同规格，分别维护用料。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D7410-2909-4E50-8EBB-364809CE0E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dbeda2b1b4637"/>
          <a:stretch xmlns:a="http://schemas.openxmlformats.org/drawingml/2006/main"/>
        </p:blipFill>
        <p:spPr>
          <a:xfrm xmlns:a="http://schemas.openxmlformats.org/drawingml/2006/main">
            <a:off x="7600950" y="1902630"/>
            <a:ext cx="3981450" cy="3814739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746A9-310E-4C43-84D2-E399DF1C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25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88867507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4F1EF-E724-4AB5-80BD-AF6F36B9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20  配方填每一份的用量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F2C421-EC3C-4D29-8B6D-B44B627F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热牛奶 / 200 ml → 编辑用料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F2A563-ABAF-48E2-9334-662F25A3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2522A2-394A-4DBF-837E-4F9633BA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点击“+ 添加食材”，用料选“鲜牛奶”。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B46F43-A4B3-4C79-B8DD-19888E23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9E59FE-7BBD-402B-97A7-9A12AA166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“每份 / 每批基本量”填 200，单位按食材基本单位 ml。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54A0C-A0AF-428E-85FE-8A68ED5E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3A636-5C4D-4122-86C8-6D43771A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点击“发布配方新版本”。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9B2081-B49C-4465-B6B4-840748D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这里填每杯 200 ml，不填两杯合计 400 ml。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0DAD9-5EB3-4F46-94D4-745ABE9311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600f741624f2b"/>
          <a:stretch xmlns:a="http://schemas.openxmlformats.org/drawingml/2006/main"/>
        </p:blipFill>
        <p:spPr>
          <a:xfrm xmlns:a="http://schemas.openxmlformats.org/drawingml/2006/main">
            <a:off x="7600950" y="2088954"/>
            <a:ext cx="3981450" cy="3442091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6288B-7B84-4306-96C4-22187590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26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54359606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0FAA6-4342-4113-A202-653D7505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21  菜品页会显示可出餐份数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5BB179-F93E-448C-90E8-1BEF1260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菜品配方 → 热牛奶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36DDCD-D378-4791-BF21-BE73F008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B0A26-6358-4A20-8FAA-244B7E30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配方显示鲜牛奶 200 ml / 份。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75FF1A-1748-462C-9EA0-9E76F54CB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3369D9-29DC-472A-BE74-0EB76DF9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1960 ml ÷ 200 ml，完整可出餐 9 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FA7D04-BC0A-4598-802B-CEBE0BD45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D06BE-5C88-449B-9284-D6FE9A2E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有多种用料时，可出餐份数由最紧缺原料决定。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B87A8A-3A89-4C95-ACF2-D7EB2D660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发布配方只保存配置，不会提前扣库存。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31A512-1E74-444C-920E-B8792ACA14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db2a3587a4157"/>
          <a:stretch xmlns:a="http://schemas.openxmlformats.org/drawingml/2006/main"/>
        </p:blipFill>
        <p:spPr>
          <a:xfrm xmlns:a="http://schemas.openxmlformats.org/drawingml/2006/main">
            <a:off x="7600950" y="2869658"/>
            <a:ext cx="3981450" cy="188068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122094-B3C4-44AA-96FA-CD0DD4EF7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27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36059864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A820D-8649-4F49-80A8-F62E379E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22  创建两杯热牛奶的厨房单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0354F-22D7-4516-817B-A20DF360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底部导航 → 出餐 → + 手动创建厨房单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613E4-67C1-4AEE-B7C0-864BD125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F1504-AEAB-4037-ACA8-D4BFD601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桌号填 A1，备注填“温热，2 杯”。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BF9A7C-6D56-4337-868F-BF696544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2376A7-E234-4346-8F81-EC5D7ED8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选择热牛奶 / 200 ml，数量填 2。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DBFD41-D949-4231-B3F6-39BD8FE7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927504-71A2-4DDA-8B3A-7574712E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提交厨房单。当前系统按手动厨房单开展出餐。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77191-1B7A-4830-999C-32DDE75D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建单还没有扣减食材。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1D79A-D9DD-4FE3-AD69-06A43515BA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e46c991a4e4a0e"/>
          <a:stretch xmlns:a="http://schemas.openxmlformats.org/drawingml/2006/main"/>
        </p:blipFill>
        <p:spPr>
          <a:xfrm xmlns:a="http://schemas.openxmlformats.org/drawingml/2006/main">
            <a:off x="7911796" y="1476375"/>
            <a:ext cx="335975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951D6-15C6-4243-8369-9C9D4F2B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28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23096115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E94973-2CC7-4E12-8192-73B9D3AF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23  从待出餐订单开始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0FA5C-F53C-45AE-A692-23DF9C1B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出餐 → 待出餐订单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6A6303-B66B-4A96-B6E0-545CFA76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D7FC6C-9D3E-4142-91AC-0B67D102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确认桌号、备注、菜品规格和份数。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75DE9-F2BA-4FF4-B891-371AF05E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D1F72-A322-491C-B40D-B65AFD6F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点击这张单的“查看并出餐”。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24B819-180B-4909-A649-6FB2B66C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343F16-B085-41C5-9D76-CF785B3C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系统会按配方与份数汇总需要扣减的用料。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80E45-314F-4C21-9D64-704F41E73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两杯 × 每杯 200 ml = 本单 400 ml。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5682FE-45DB-452D-ABB0-D4CE549AC9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1d5b80818f4742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5E3A7-3DBF-43A4-AE24-88828FD5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29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30995895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40F47F-2DD5-4315-B7A4-B45E32F7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24  确认总用料，再出餐扣减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69C23D-C80F-4EDA-9F4C-236C309C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出餐用料 → 确认出餐并扣减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210EE-F14F-4E25-970A-755B19F4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3AEF5-04C0-442F-B0EE-A4B08279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鲜牛奶应显示：可用 1960 ml，缺口 0。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8ECA15-9EBA-4407-AB33-BD25A232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5426D6-8D0C-46EA-ACE7-3366CEB3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本单用料输入框应为 400，代表两杯总用量。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AC90E4-F919-434A-ABF9-A6A58D361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674FF5-6A44-4AE3-9E17-5F8D3E10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现场需要微调时，填本单实际总用量并核对。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F6421-A43A-40E6-8A49-56361111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F9C5A-7A1E-4CBB-9ACF-21FA592EC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本例保持 400，点击“确认出餐并扣减”。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70ABFA-5B91-4D86-BA3C-852D707C1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“确认出餐并扣减”才真正减少食材库存。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48EC60-E7A9-46D9-A730-EA75AFCEEB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878b12578494c"/>
          <a:stretch xmlns:a="http://schemas.openxmlformats.org/drawingml/2006/main"/>
        </p:blipFill>
        <p:spPr>
          <a:xfrm xmlns:a="http://schemas.openxmlformats.org/drawingml/2006/main">
            <a:off x="7600950" y="2694594"/>
            <a:ext cx="3981450" cy="2230812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D08DD7-7069-4A7C-91B2-4F2CD99B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30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3433948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A3101-EE1E-4A44-B13C-2F5C3A7B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25  出餐成功后，核对扣减结果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7E0B69-FFE9-4A19-AF16-B6D5D6C86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出餐 → 刚才出餐结果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6AD1F3-5101-476F-95F7-A609492A9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ADBDE3-1250-47A8-8E6E-998E8CED8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结果中应看到鲜牛奶实际扣减 400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ACE67-0522-4EC3-8EC9-387A47484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7B6DE-95AF-4CDA-B77D-11ABDB04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短缺应为 0；刚才的订单从待出餐列表移除。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DB3F4-B156-4DEE-9A98-8415D646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5569EC-0BE4-4F1D-AB19-7315F74B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查看“出餐扣减流水”，确认本单留下记录。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7C1E3-2A72-44EE-A4BA-51371898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成功后不要重新建同一张单再扣一次。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FC5812-003C-46ED-8DC2-629895AAA6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350bca0df4d9d"/>
          <a:stretch xmlns:a="http://schemas.openxmlformats.org/drawingml/2006/main"/>
        </p:blipFill>
        <p:spPr>
          <a:xfrm xmlns:a="http://schemas.openxmlformats.org/drawingml/2006/main">
            <a:off x="7600950" y="1499158"/>
            <a:ext cx="3981450" cy="4621683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99CFCC-F999-4D79-A23D-8593FEE58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31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9156121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55AD5-71D0-493D-A023-132EC39F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26  流水能追溯到具体批次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1CD77-5243-453B-B5AC-D3FB104E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出餐 → 出餐扣减流水 → 展开记录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845AFF-56F8-4484-9E49-DA0D40437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FDDB1-2423-4DE8-BB2A-1AFB7FBC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展开这次出餐记录。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8222C8-7D64-48BC-A30B-431E433E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51861-F933-4A63-BBD6-89E499B7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核对食材、实际量、短缺量及扣减批次。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9AFC6-CE89-4083-B16F-9070B613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328BDD-13F5-41C8-B942-82ACC87B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系统优先使用更早有效到期的可用批次。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A3C837-DDCB-493F-A7C6-CC3280AF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本例鲜牛奶合计扣减 400 ml，短缺 0。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5E7B0-BE9A-4CD3-9D7D-3240E6F333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15cf63ae8c47a2"/>
          <a:stretch xmlns:a="http://schemas.openxmlformats.org/drawingml/2006/main"/>
        </p:blipFill>
        <p:spPr>
          <a:xfrm xmlns:a="http://schemas.openxmlformats.org/drawingml/2006/main">
            <a:off x="7845843" y="1476375"/>
            <a:ext cx="3491664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97DBC-E4E1-4E11-A534-60F3B790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32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580108977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5E537-A547-4FAD-9652-F89070CB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27  回库存看最后的余额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6B9DE-9378-42CD-BE16-8FD69097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 → 鲜牛奶 → 展开形态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70766B-DC95-4D0C-999E-A0D85090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A17B26-2D1C-4FF4-B460-452C7AC63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出品态剩余可用量应为 1560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E8735C-4C1A-4775-94E2-E75BA262E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8D8D77-2FC0-44A6-9BC9-48ABB2A1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未开盖的独立桶仍有 1 桶，即 2000 ml。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44F755-D9C5-4A7E-9A7F-935194AB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61E1E-F119-4D32-8387-A9A234DC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热牛奶每杯 200 ml，现在可再出 7 份。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7B0D54-BB2A-4574-AD0D-73C38DCA1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1960 − 400 = 1560 ml；这是本次练习的终点。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0F78B5-33A7-4968-9BE6-8F083D6BF9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31e010f19147b5"/>
          <a:stretch xmlns:a="http://schemas.openxmlformats.org/drawingml/2006/main"/>
        </p:blipFill>
        <p:spPr>
          <a:xfrm xmlns:a="http://schemas.openxmlformats.org/drawingml/2006/main">
            <a:off x="7600950" y="2371976"/>
            <a:ext cx="3981450" cy="2876047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50184A-F41E-4AC9-B8F1-47E869010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33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79983523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24C8F-4DE4-4086-8FCB-74BCCEC0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把这笔业务完整对上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AEFAF6-F604-4BA3-9193-E714EAFFC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本例只执行一次入库、一次开盖、一次出餐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C5CD05-3772-44A8-9113-660C6277B4CB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286250"/>
                <a:gridCol w="2095500"/>
                <a:gridCol w="4591050"/>
              </a:tblGrid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去向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基本量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核对方式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尚未开盖的独立桶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库存的中间态层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剩余液体鲜奶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1560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库存的出品态层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已经出餐扣减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出餐扣减流水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开盖损耗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作业结果 / 今日记录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4000 ml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等于采购入库的 2 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F5BAC-3419-4D2B-BB37-2410EA7B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2000 + 1560 + 400 + 40 = 4000 ml。核对时把未作业、可用、已消耗和损耗一起看。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B0E3AD-D03B-45E9-9BB7-66079F8F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34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463654558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2B1079-9701-459A-B008-6382CAF79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需要标签时，从批次详情打印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21B53-FBA6-448E-A1E2-BE6ABBB2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 → 批次详情 → 打印食材标签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37FA93-5845-4A05-A270-6B454873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235259-6910-4865-BDBD-F684129C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打开产出批次，核对批次号、形态和有效到期。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64928-0E05-4997-B3CE-EF0FCC4C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3D3019-04E3-42EA-A375-9581DE2B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点击“打印食材标签”，进入标签打印界面。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5D1A3-4E1B-4F6E-B2F2-2B118CC1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1E06A-1F3D-4528-99EE-24946A14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开盖后标签要显示新的有效到期，本例 2026-10-09。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6DBAC-9EAC-46CC-A478-96BA72DA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标签内容随实际批次生成，不能照抄教程批号。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E4D3C5-14A8-4E69-AD97-531A368D73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0af200592144da"/>
          <a:stretch xmlns:a="http://schemas.openxmlformats.org/drawingml/2006/main"/>
        </p:blipFill>
        <p:spPr>
          <a:xfrm xmlns:a="http://schemas.openxmlformats.org/drawingml/2006/main">
            <a:off x="7600950" y="1569184"/>
            <a:ext cx="3981450" cy="4481632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76FA06-8B2A-4566-BF49-02A74347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35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95391968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7F752-00DF-45B3-A8C0-74CD9730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蓝牙打印继续用原来的模块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358DD6-F336-48EF-960F-EAD6558F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蓝牙打印机 → 搜索并连接 → 打印标签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78659F-0FF9-4DFE-B90E-A86313B96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F0C5DE-4027-42F1-8D7A-D6869C11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在企业微信真机内打开，准备蓝牙标签打印机。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E0F0A-8068-477E-B130-4E043D0C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6123D-FAC1-4163-B791-4B45EAB1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开启蓝牙并授权，搜索设备、选择并连接打印机。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B9D68-9C1B-46DF-8012-8F00E2D8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242F9-E333-4A23-A32C-DB4C3A85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纸张用 60 × 40 mm，数量 1～10 张，再打印。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2C7909-2561-4239-B4E8-A0292B0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请在企业微信真机上完成连接和出纸。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ABE1C-FC95-4050-8897-87000545FDF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8ffb68c5654c9e"/>
          <a:stretch xmlns:a="http://schemas.openxmlformats.org/drawingml/2006/main"/>
        </p:blipFill>
        <p:spPr>
          <a:xfrm xmlns:a="http://schemas.openxmlformats.org/drawingml/2006/main">
            <a:off x="7600950" y="1544943"/>
            <a:ext cx="3981450" cy="4530113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0D6346-E196-4F8F-B6DA-F91EA18F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36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5082565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214D38-37A3-468F-B891-AFE2031D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扩展：半成品要用专属分类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7AF00-5EBE-48AE-84A2-8DD0CEDE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食材分类 → 新增二级分类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FA308E-18E2-4140-96B4-40B8A751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41C0A-58D7-4F7E-AE63-0EEAA2973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建立“半成品 / 奶制半成品”分类。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53F03-958F-4263-B002-A8468695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0C4531-1784-4EDD-97A6-FDE5916E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选择按件数，勾选“半成品分类”，启用后保存。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A6E0F5-D762-483C-9EDD-CC895AFD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B7D4F1-F029-4380-AC33-BBE5C261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半成品通过制作产出，不作为普通采购食材入库。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47CCB7-74D0-4B22-A0DE-D0375866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以下奶冻示例是可选分支，不计入前面的余额核对。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76924B-CC35-416A-A0BC-2F63C9D463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7be84b9614615"/>
          <a:stretch xmlns:a="http://schemas.openxmlformats.org/drawingml/2006/main"/>
        </p:blipFill>
        <p:spPr>
          <a:xfrm xmlns:a="http://schemas.openxmlformats.org/drawingml/2006/main">
            <a:off x="8132935" y="1476375"/>
            <a:ext cx="2917480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DA4FDE-C4F7-40D7-A43C-DBE12EC0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37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207947762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B1B69-9F16-4F1B-A7B2-33347DF8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半成品配方按“每批”填写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CF76C-195E-4907-BCC9-4DFFB5A2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半成品制作 → + 新建半成品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BD4B85-C158-41F5-B1BF-D13DC9DE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37135-ED81-4929-A770-F48CF8A4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名称“奶冻”；分类奶制半成品，基本单位“个”。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2EF01-9AD2-4F73-919F-898340C2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F383B-60FF-48C0-A02E-81A65A46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每批产出基本量填 10。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E1D82F-D054-4C61-AD9F-8BF13B9C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E4FDC-522B-4B54-AF1B-89A5C312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添加鲜牛奶，用量填 500 ml，然后保存。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84A79-9E5D-4704-A534-323FBAD64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本例一批：消耗 500 ml 鲜牛奶，产出 10 个奶冻。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1BA4E-4759-423D-9762-B953D9922E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6b98132ea4b74"/>
          <a:stretch xmlns:a="http://schemas.openxmlformats.org/drawingml/2006/main"/>
        </p:blipFill>
        <p:spPr>
          <a:xfrm xmlns:a="http://schemas.openxmlformats.org/drawingml/2006/main">
            <a:off x="8282136" y="1476375"/>
            <a:ext cx="2619079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28ED8-8A0D-4FCB-9CFB-06B69E63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38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99276234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7E2263-77BF-44DB-98C9-0F7743C9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半成品确认制作也会改库存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31065-5039-41C7-B3F0-BFCE1931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奶冻 → 制作 → 预览所需原料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2E3F77-A11F-40E6-BE09-61707CE1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32C573-B8FD-4227-8B11-7E00A1D27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制作批数填 1，选启用的下级区域。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281F4-BEAE-4CEC-9FA5-96749665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CF01D-4778-4056-AC71-7D095676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点击“预览所需原料”，核对每批用量与产出。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ED2B6F-69D1-4246-BC84-5FEF16C4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A470EA-8C5A-4BEC-AC29-F8DE7049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确认制作才会扣原料并新增半成品库存。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B66A23-A122-441E-9445-370D99D9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C6B43-B401-4561-AEDE-50E85399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含奶冻的菜品配方，按每份所需的“个”填写。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7FD74-C513-49CD-A50B-A35B7EEE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本教程只预览这条分支，未实际扣掉那 500 ml。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E8AC9A-506C-4124-AE38-427983C120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3341b42d414683"/>
          <a:stretch xmlns:a="http://schemas.openxmlformats.org/drawingml/2006/main"/>
        </p:blipFill>
        <p:spPr>
          <a:xfrm xmlns:a="http://schemas.openxmlformats.org/drawingml/2006/main">
            <a:off x="7660071" y="1476375"/>
            <a:ext cx="3863208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10C4B7-ADD5-4D88-9D76-1084D5D3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39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4773654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C28C14-3F9E-473D-910F-5E32420FD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扩展：为区域配置检查项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EE6D3-F318-45AD-9176-908B2D19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存储区域 → 冷藏柜 → + 检查项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395B8-C869-40CF-BA76-36405516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73C74-3D59-4FD3-9DBC-221A9161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名称“冷藏温度”，方法选数值，单位 ℃。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4AFDF-7D2C-48BD-88B7-F419C88A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97284-5E1C-4932-B4E4-AB9005DB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上下限按本店标准填写；本例演示 0～5。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750E91-4449-4C03-A65F-8DDBAA84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AB863-EB23-4C17-A4E2-02040BB8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检查项启用并保存后，纳入开门检查。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3DC04-F1F6-4C9C-9126-F0A046C1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数值合格与否由系统按配置阈值判断。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8891EB-753A-49D2-BF2A-141E5D55C1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7bd34a5624974"/>
          <a:stretch xmlns:a="http://schemas.openxmlformats.org/drawingml/2006/main"/>
        </p:blipFill>
        <p:spPr>
          <a:xfrm xmlns:a="http://schemas.openxmlformats.org/drawingml/2006/main">
            <a:off x="8399162" y="1476375"/>
            <a:ext cx="2385026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7DD3D-D6D7-45B3-B8A2-A8E6C6C0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40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638290383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53967-8959-419F-A89B-3206D87F7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开门检查：提交后还需店长确认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510F03-6EF2-4FDF-BDBD-838D5A82B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底部导航 → 开门检查 → 开始今日检查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00F05-F6E9-4F09-AE39-E6B5A079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AA1C8D-EEB9-45D3-99F1-6D640171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逐项检查，录入实测值；需要照片的项目上传现场照片。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4D3F6-6CC1-4C0F-85AC-766B8B58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BF56E-AD5D-4424-93F0-9559313C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本例温度填 4，点击“保存并提交检查”。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EBC27-5995-435C-B172-B7080687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FA2BB2-9D98-4D3B-9549-74783038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店长核对记录、补充处理并点击“店长确认”。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FEF72-1613-4033-9889-96C712FB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“通过未填项”不会代替数值项目的现场测量。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CDCE1-C460-4E04-ABE0-6FE41CE4A2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aa11b97ae4ed4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FF2FD-1501-48E2-8569-92B1A3CE9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41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0910176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5D9BB1-2D0B-4949-86BB-4DA6BD555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盘点：保存实盘和过账分开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77256-8DC8-4D5B-B5FF-9E2B4868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盘点核对 → 生成盘点快照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24F22-9150-4E2A-8D22-9C2CD032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9A04BA-EECA-48F5-B0CE-3464D159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先生成当前出品态快照，本例系统量 1560 ml。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B9186-8959-46F8-A6CB-941F3D34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C47F4-30CA-4594-B8F4-D2B03109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填实际盘点量；截图示例填 1550，并写说明。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A2671-773B-4CB5-83DC-5CBD11A5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2E58E-6E10-4C75-8994-3D8E1B37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“保存实盘”只保存记录；店长“过账盘点”才调库存。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882DA-BBE5-4D59-AE21-CC881294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D8F239-9C91-48A0-8332-FA20B28A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盘点期间库存有变化，重新生成快照再核对。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A744AF-2B47-451A-A0AB-105F2D0B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这里只演示填写，未过账；主线余额仍是 1560 ml。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468ABF-DF43-4402-B114-A87770FEF4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7868a52c245e1"/>
          <a:stretch xmlns:a="http://schemas.openxmlformats.org/drawingml/2006/main"/>
        </p:blipFill>
        <p:spPr>
          <a:xfrm xmlns:a="http://schemas.openxmlformats.org/drawingml/2006/main">
            <a:off x="7600950" y="1544943"/>
            <a:ext cx="3981450" cy="4530113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829CC8-8100-4B0D-8A77-4A4E3DA1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42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58840880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EF960-428C-4CDF-A54B-08AB3695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看板和 Excel 用于检查链路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1667EC-EB78-4C3E-911A-951AF1E4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数据看板 → 出品与配方链路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4427F1-ECD8-4F6D-AFB1-B9FE1B65E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0ADD4-BAEC-4732-BDF3-30C9A76C4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选择日期范围并点击“查询”。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42812-BAD7-44F0-8C83-8ABE5D07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453FF-77DB-4C67-8FBA-9DEFD7D2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查看成本、损耗、周转与盘盈，按需核对明细。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125324-F5A2-4B6E-923A-A81769E3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F6FE98-D597-4B54-BC55-5B642071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在“出品与配方链路”点击“导出 Excel”。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52BCD-F4F2-476C-9006-973EA92E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此导出是配方与采购作业链路，不是全部库存流水。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D1BD96-A4F0-4836-A248-33D38C42C7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2e018eaff4a87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8DCD3D-1F1E-4B75-9131-F993117BB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43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384156290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8DF10C-E807-4A7F-BB7E-91A2D7C5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卡住时，按现象排查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732BB-789D-4BB6-986B-3C6CFC85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先定位缺少的是配置、可用量，还是权限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B8812-2B1A-4B81-BFBE-E1C1036B3995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857625"/>
                <a:gridCol w="4162425"/>
              </a:tblGrid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先检查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下一步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入库没有食材 / 规格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两级分类、食材、规格是否启用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重新进入链路页核对配置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区域无法选择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是否为启用的二级区域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添加下级区域并启用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有库存却无法出餐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是否还是采购态 / 中间态，或未就绪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先作业；同时核对有效到期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用料出现缺口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配方基本单位、本单总量、可用量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按提示先作业或入库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请求结果未确认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原请求是否已成功，页面是否有重试提示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使用“重试原请求”，不要另建重复单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DDB5A-028B-4027-AD9E-EC2DCDFD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维护按钮缺失先核对员工角色与当前门店。入库、作业和出餐成功后，分别查看批次、作业记录和扣减流水。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8A610-AF37-432B-BF77-E5B51AF9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44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30432941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9BCAB5-72BD-4AE1-BE9E-252704F2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每天按这张清单操作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6F477-C947-4023-809F-882AB6B9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开门 → 收货 → 备料 → 出餐 → 收尾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5DC976-28DB-4F43-B356-5578AF82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D6F6A9-834A-4C6B-8355-6978F810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开门：检查区域与设备，提交检查并由店长确认。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70BB8-D7FD-40ED-9C18-F4B1AB7F8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E6E2A1-ECBE-4937-8FF3-158200EF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1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收货：核对规格、数量、照片与日期，确认入库。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8EF16-6C21-4F02-9EDB-CB3C2D70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A1156-8DB0-4929-BF65-25B9927D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290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备料：按作业 / 半成品配方填实际产出，等批次就绪。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19CEE-59E6-4439-BD6B-CA6715DA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FDB618-4255-4FF8-AC56-51A6C9D25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出餐：核对本单总用料，确认扣减；收尾查临期、流水与盘点。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92E4BE-4CC0-4048-8880-9262B25D8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练习终点：剩余 1560 ml；出餐流水扣减 400 ml。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42A1A-36D0-4452-88AF-4B4C4B0FAE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ddece31ea04672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A5D1CD-C6F4-4EDD-9DA8-53779D2A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45 / 73  ·  2026-10-06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65913555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142D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F3597-6590-44FA-8A0B-F2F003E04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进阶示例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9FA1D-908E-46F5-B35E-7BA61CBE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67627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帕斯雀牛肉披萨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30076-24EA-474B-9ECB-B077AA13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7665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照着这一节在系统里做一遍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09F19F-3615-45D4-AC84-D130A1B1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8147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入库食材和辅料 → 作业 → 配方 → 出餐微调扣减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C59DA-DBB9-4239-AC94-1FD9DE6D6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进阶示例 · 2026-10-18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ECC68-DDDE-4D90-91DA-844A76C1E8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15a99b45e149e7"/>
          <a:stretch xmlns:a="http://schemas.openxmlformats.org/drawingml/2006/main"/>
        </p:blipFill>
        <p:spPr>
          <a:xfrm xmlns:a="http://schemas.openxmlformats.org/drawingml/2006/main">
            <a:off x="8248756" y="685800"/>
            <a:ext cx="2666788" cy="55816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ADA75-3A93-4487-AF35-247766AA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EDDEC"/>
                </a:solidFill>
                <a:latin typeface="Microsoft YaHei"/>
                <a:ea typeface="Microsoft YaHei"/>
                <a:cs typeface="Microsoft YaHei"/>
              </a:rPr>
              <a:t>46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74651985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3B16A1-5233-4D40-9009-8DC4EB1D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这次要准备什么？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40E31-FEB5-4B3A-8F41-21FB43EF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6样东西：4种食材 + 2种辅料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C6878-2C42-45B1-9647-D06C308F45E4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190750"/>
                <a:gridCol w="4305300"/>
                <a:gridCol w="2095500"/>
              </a:tblGrid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名称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进货规格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 → 出品态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每份用量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整袋 25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拆袋 → 面粉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整块 2.5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刨丝 98% → 马苏里拉碎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真空袋 1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开袋切片 97% → 牛肉片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罐装 3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开罐 99% → 披萨酱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整包 50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拆包 → 披萨盒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整箱 200 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拆箱 → 刀叉套装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04086-901B-4433-A94F-E0E5B6C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百分比是标准出成率，数值为教学示例。本例直接用面粉；面团也可先做成半成品（第37–39页）。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4AA88-A2D7-43D4-9246-F2C477B7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47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6079566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328849-D87B-476D-83DD-7B209314D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操作顺序：10步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0706E1-0D3D-41C5-BF03-717E3583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按顺序做；每一步后面都有填写表和截图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1FA196-3D3E-4B4C-8A8E-988DDBDCF103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4476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143250"/>
                <a:gridCol w="4286250"/>
                <a:gridCol w="1543050"/>
              </a:tblGrid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在哪里操作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做什么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存储区域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 → 存储区域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后厨下建冷藏柜、干货架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食材分类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 → 食材分类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组一级 / 二级分类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50–51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食材档案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 → 进货规格与链路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个档案，含 2 个辅料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52–53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 上游形态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食材的链路页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每样加 1 个采购形态和作业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54–55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进货规格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食材的链路页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每样加 1 个进货规格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56–57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入库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底部「入库」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张单录 6 行，确认入库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58–61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作业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底部「作业」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每样开 1 个采购单位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62–63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配方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 → 菜品配方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 9 寸，每份 6 行用料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64–66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 出餐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底部「出餐」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厨房单 2 份 → 微调 → 确认扣减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67–71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406977"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核对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库存、出餐扣减流水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按核对表逐项对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57150" rIns="114300" bIns="38100"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72–73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680A3-9094-494A-9B7F-629C2B9E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48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50203197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51A383-BB3B-443A-9EF7-18E568257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第1步：建存储区域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293DE-2503-4771-9E41-2680CC77A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存储区域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BDC2D-7899-4232-AE1D-239A43B1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3C5E7-72B9-4EBD-BC54-2E6134B8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点「+新增一级区域」：区域名称「后厨」，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区域类型选「后厨」，保存。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28264C-E0BA-4B4E-B9F5-D0480C3F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55A49-6873-4EC2-BCDD-AB2465FD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在「后厨」上点「+下级区域」：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名称「冷藏柜」，类型选「冷藏冷冻」。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FE70D-BC32-42BD-A84A-6BAEF7CE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28B28C-EE4B-4DC8-8B84-EE6AE252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再点「+下级区域」：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名称「干货架」，类型选「仓库」，保存。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034ACB-3F56-4E08-8E8C-BAF91A4A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入库和作业时选「后厨/冷藏柜」或「后厨/干货架」。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6979D7-4B64-4CF9-8206-A3F9573DD2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7361e3e70481e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01DF5-430C-48BA-962A-A6A1F5E4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49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912903640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47969-61D1-4F09-BDCA-C2DE4272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第2步：建5组分类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85539-DC3C-4766-A494-38DFBCD0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食材分类 → + 新增一级分类，再在它下面 + 新增二级分类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0D36C-E3F8-4A9A-A79B-C156D09425CA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524000"/>
                <a:gridCol w="1428750"/>
                <a:gridCol w="1333500"/>
                <a:gridCol w="1333500"/>
                <a:gridCol w="1428750"/>
                <a:gridCol w="2495550"/>
              </a:tblGrid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一级分类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二级分类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批次号编码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计量方式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建议储存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临期提醒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开封/作业后保质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粮油干货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FLR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按重量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乳制品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奶酪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CHZ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按重量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冷藏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肉类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熟肉制品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MEAT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按重量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冷藏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调味酱料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酱料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SAU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按重量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包材辅料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一次性用品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按件数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114300" rIns="114300" bIns="7620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BB86E-B4DF-441F-9335-2DE75062B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一级分类只填分类名称。二级分类按表填写，空白表示不填，「半成品分类」不勾，点「保存」。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48D764-50E9-4DBD-8918-3AC22BE1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50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255567433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BB733E-55B1-46E1-885E-730886E4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辅料分类：计量方式选按件数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24DECC-1BED-4649-B99D-925C9B5C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包材辅料 → + 新增二级分类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DEE60-1D55-40D0-94D4-5C99362B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0BF31-A3D6-4F22-982B-5E1C695DF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「物资」页的纸杯、手套是单独领用的，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不会随出餐扣减。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774A5-EF0B-4AD3-8C06-69660D97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4BBE01-8A7C-4315-AC3A-824F8A1C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要按单扣减的披萨盒、刀叉，就建成食材：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一级「包材辅料」，二级「一次性用品」。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7B07B-EFBE-4A5F-A004-B8F0F3CD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B7454-3E1F-4159-8424-3F71D1C7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计量方式选「按件数」，批次码PKG，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建议储存选「常温」。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DF1D5-188A-493F-B5BC-1FC19851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按件数的分类，基本单位是「个」。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8DF03-1292-4C4F-A477-31C60EDBDB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d9eff92a84c94"/>
          <a:stretch xmlns:a="http://schemas.openxmlformats.org/drawingml/2006/main"/>
        </p:blipFill>
        <p:spPr>
          <a:xfrm xmlns:a="http://schemas.openxmlformats.org/drawingml/2006/main">
            <a:off x="8164790" y="1476375"/>
            <a:ext cx="2853770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7E7850-9AC6-4781-9AD4-3DE644F0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51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925703062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3B411-E88F-4F39-8337-7F73D44D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第3步：建6个食材档案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39832F-6E47-4937-9D41-904E2852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进货规格与链路 → + 新建食材档案（每样建一次）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18F8E-B491-4077-9075-41181D6B8C58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1714500"/>
                <a:gridCol w="2381250"/>
                <a:gridCol w="2381250"/>
                <a:gridCol w="1333500"/>
                <a:gridCol w="1543050"/>
              </a:tblGrid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一级分类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二级分类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食材名称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出品态名称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基本单位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出品态编码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粮油干货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面粉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乳制品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奶酪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肉类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熟肉制品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牛肉片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调味酱料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酱料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包材辅料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一次性用品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包材辅料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一次性用品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刀叉套装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D46C8F-F61C-4192-B665-8E8E9363D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基本单位随二级分类自动给出，出品态编码保持F；储存方式选「跟随分类建议」，照片可不传。点「创建食材」。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CBC9A-E9A5-40AB-843E-B2EDDA08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52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5904418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5DCB41-C741-4157-BF27-331BB5EA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新建档案：先选一级分类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9618C7-FD94-4963-858A-4B46D501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+ 新建食材档案 → 以披萨盒为例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215E66-4BAE-433F-AFB2-AD4529F8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59D26A-FFA9-4AFB-A345-17C98DB1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先选一级「包材辅料」，再选二级「一次性用品」；没选一级时二级不能选。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73A3C-B46F-43F3-8542-6DE33FB4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7108F-C0AE-4AA2-A6D3-C48E9C41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食材名称「披萨盒9寸」，出品态名称「披萨盒」，基本单位自动是「个」。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42468-3CCE-41F7-97F3-CA4E3F2A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3513BA-AECC-423E-96DA-4F3A7B7A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点「创建食材」保存，再进入它的链路页。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35FDAD-1FD6-4DBC-A7E9-3AFF51EA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保存后若列表里没有新食材，从「更多」重新进入。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B3230-6226-4126-87B5-49525823C5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85676e52534215"/>
          <a:stretch xmlns:a="http://schemas.openxmlformats.org/drawingml/2006/main"/>
        </p:blipFill>
        <p:spPr>
          <a:xfrm xmlns:a="http://schemas.openxmlformats.org/drawingml/2006/main">
            <a:off x="8222525" y="1476375"/>
            <a:ext cx="2738300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D68F22-69BF-4EEC-9838-987624BB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53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55048179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0128A-714A-49D2-9A01-E6CD600D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第4步：每样加一个上游形态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86657-AE56-4E0E-AD7C-DDD75CD5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食材的链路页 → + 在上游加一个形态（每样加一次）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2B5E37-8560-4803-B652-1615AAFF90AB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1143000"/>
                <a:gridCol w="1047750"/>
                <a:gridCol w="1238250"/>
                <a:gridCol w="1143000"/>
                <a:gridCol w="1333500"/>
                <a:gridCol w="1428750"/>
                <a:gridCol w="952500"/>
                <a:gridCol w="876300"/>
              </a:tblGrid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形态名称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计量单位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每1单位含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形态编码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作业后保质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作业名称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出成率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耗时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25000 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拆袋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 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BLK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刨丝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真空袋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 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BAG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开袋切片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罐装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3000 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 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PACK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拆包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空白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拆箱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85725" rIns="76200" bIns="57150"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2777E-C541-4D4C-B17D-E162FF8D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出成率即「标准出成率（%）」，98即98%；耗时（h）填0；储存方式不用改。点「加入链路」。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0A71C7-2DD8-4280-A1CE-97FC4730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54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79945701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4B6EB0-E971-4D4B-AC03-9A2E1C16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上游形态：以帕斯雀牛肉为例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00C1B5-4B70-4990-AF04-EDE68D9B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帕斯雀牛肉 → + 在上游加一个形态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614C26-9869-4A76-958E-A7A77F21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18FAAC-643F-43C5-80C6-A466AAB0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形态名称「真空袋」，计量单位「袋」，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每1单位含基本量1000（克）。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0DBE1-1973-458B-B7BC-60B266F8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6E44F3-2CFB-4395-9C1D-F6E74F1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形态编码BAG，作业后保质3（天）。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7CDE60-797E-419B-997A-B3B958D7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352BC-9621-424B-8719-E52B0595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作业名称「开袋切片」，标准出成率97，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耗时0，点「加入链路」。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2E1A2C-81F4-42C1-8A55-C9D32653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6样都按第54页的表填写。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101293-A0F2-4B2A-9983-51FF255C50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84fbaccf8445ab"/>
          <a:stretch xmlns:a="http://schemas.openxmlformats.org/drawingml/2006/main"/>
        </p:blipFill>
        <p:spPr>
          <a:xfrm xmlns:a="http://schemas.openxmlformats.org/drawingml/2006/main">
            <a:off x="8367577" y="1476375"/>
            <a:ext cx="2448196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7A863-3466-436C-9C9C-4F9111A2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55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05219230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517A89-794F-4F52-9C6B-77BCBA1E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第5步：每样加一个进货规格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246098-D90B-4F2B-BEAA-47799D4F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食材的链路页 → + 新增进货规格（每样加一次）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5AEDEC-E6B3-434B-A799-877B1F758678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2857500"/>
                <a:gridCol w="2857500"/>
                <a:gridCol w="2781300"/>
              </a:tblGrid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规格名称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包装说明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入口形态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整袋 25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 kg / 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整袋（默认）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整块 2.5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 kg / 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整块（默认）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真空袋 1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kg / 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真空袋（默认）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罐装 3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kg / 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罐装（默认）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整包 50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 个 / 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整包（默认）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整箱 200 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 套 / 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整箱（默认）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4ECEB-27FF-42CC-A353-B799F039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入口形态默认是最上游的形态，不用改；品牌、商品条码选填。点「完成」保存。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6A8A1-41BC-4A09-B13A-000637B9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56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95548416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3D675-E1CC-47B4-BAE6-5E0B09F9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链路建好：真空袋 → 牛肉片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A2BF6-3EAB-4BB9-B6C3-B6F0C311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帕斯雀牛肉的链路页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970D3B-B147-4FD2-BF53-B8BB5D9A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94DB8B-5474-47BB-A4CA-9D62704D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链路显示「真空袋 → 开袋切片 → 牛肉片」，1袋=1000g。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EC89D-36DF-40D1-9F69-B6FD000D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37202-B578-4B50-A650-2F05A11EE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下方「进货规格」里出现「真空袋1kg」。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00ACE-85DC-4FC9-B8C3-EC5BDAC53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9722C4-1AB5-4377-8DB9-FE7CF2EE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6样都要有进货规格；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有链路的食材，入库时必须选规格。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98C36E-C415-46DE-8C09-6B20C56A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本例6样都是「采购态 → 一次作业 → 出品态」。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961BA4-61F6-4397-A819-45C20DB7BA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353f5908254dac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303AA0-8760-40CF-BCA3-B1CAF954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57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344740268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75D4FB-975A-4438-93DB-D246307D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第6步：入库，一张单录6行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36C89-528E-43F4-BA10-45330F64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底部「入库」→ 每行依次选一级分类、二级分类、食材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13490-9631-42E2-A699-2D685C669FEE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1619250"/>
                <a:gridCol w="1238250"/>
                <a:gridCol w="1809750"/>
                <a:gridCol w="1714500"/>
                <a:gridCol w="1333500"/>
                <a:gridCol w="1447800"/>
              </a:tblGrid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进货规格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储存方式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存放区域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到期日期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入库数量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总金额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整袋 25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2027-04-18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整块 2.5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冷藏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后厨/冷藏柜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2026-12-18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真空袋 1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冷藏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后厨/冷藏柜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2026-12-08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罐装 3 kg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2027-06-30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整包 50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2028-10-18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整箱 200 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常温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2028-10-18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7CAC0-657B-4BEF-A629-AF2DAECF7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数量按规格的单位填（袋、块、罐、包、箱），生产日期可不填。6行都加入清单后点「确认入库」。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DFE651-6558-4C47-B91C-92863D9F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58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675627285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04D9B-3854-4C78-82A1-3A8252CD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入库一行：以帕斯雀牛肉为例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FF782-586C-4F76-BF80-D885A736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入库 → 肉类 → 熟肉制品 → 帕斯雀牛肉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862557-CB0F-44A1-A669-F9804FCD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17D28B-FFE4-401F-A354-F8A4FF8C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依次选「肉类」「熟肉制品」「帕斯雀牛肉」，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规格选「真空袋1kg」。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A7C5D-6499-4DC1-A15F-DEC52B22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E80E80-8532-4CDC-874F-A0F868DDB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储存方式选「冷藏」，存放区域选「后厨/冷藏柜」。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EFB913-0373-4886-A2E8-013B99C2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BDEA05-6F94-4765-8FF3-B7BA02D9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到期日期2026-12-08，入库数量2，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总金额360，点「加入待提交清单」。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3AF46-FB17-4A79-9AB3-FF0AA9BBC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6样逐一加入清单，最后一次确认入库。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7BA86-5A42-4E39-B6DE-BB6F393A68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8842f46a844a45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4C783-23BA-4FA6-9034-036966DF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59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54616323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C2D3E-B4C0-4AD6-8AA0-257D2A0C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核对清单后，一次确认入库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9099C0-DC8B-42BF-8430-18112B91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入库 → 今日入库单 → 确认入库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100BA-0211-4F61-92A2-753D1315B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3FF2E-2248-4458-B59C-2D8084F6F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逐行核对规格、数量、储存方式和到期日。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534AC-7AEE-4FF8-AB80-5F88D112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C6C01C-FD9E-4EBF-9276-A3CCAA77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批号只是预览：两种包材都显示PKG-01，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确认后依次编成PKG-01、PKG-02。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6F3603-428B-4558-8334-B4ECC473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CB5E5-BF23-4747-BA9B-E5FF36B9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核对无误，点「确认入库」。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E7E45-8482-4757-B2D9-6CB578B7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清单不改库存；确认入库后才写入批次。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978B68-FEC1-4067-84D2-B7DDA26CD7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ebdfd32884c50"/>
          <a:stretch xmlns:a="http://schemas.openxmlformats.org/drawingml/2006/main"/>
        </p:blipFill>
        <p:spPr>
          <a:xfrm xmlns:a="http://schemas.openxmlformats.org/drawingml/2006/main">
            <a:off x="8105623" y="1476375"/>
            <a:ext cx="2972105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ED5800-FE5F-462D-A24C-5CE7A155C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60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16903655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97C703-C50B-4B0D-B091-AFE0052C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入库后：6个批次都待作业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6DF3F-ADC2-4015-BA27-B62D60DB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入库 → 刚才入库的批次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C8959-370F-49CF-9813-7B8F629A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97A14A-C664-4449-BFFF-AC66FAA0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采购态批次还不能直接出餐，要先做作业。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7C868-B623-4DD2-93AC-E9FA1B69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9B31D-F9D5-442B-8240-52AFDACE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奶酪5000g、牛肉2000g、盒50个、刀叉200套。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5734E-2375-4BDC-BCD3-5E110B63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E119A-C0D6-42D3-8DEA-7016681A9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批号按二级分类的批次码生成：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FLR、CHZ、MEAT、SAU、PKG。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CAEE77-428D-47FF-AA9E-D8F828A1F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本次入库金额共1065元。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5A9C6-D8E4-486A-9F75-4BDD8E393C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362470fd346de"/>
          <a:stretch xmlns:a="http://schemas.openxmlformats.org/drawingml/2006/main"/>
        </p:blipFill>
        <p:spPr>
          <a:xfrm xmlns:a="http://schemas.openxmlformats.org/drawingml/2006/main">
            <a:off x="8133617" y="1476375"/>
            <a:ext cx="2916115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135FD4-48FD-4972-8434-D15DCF97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61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08027526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26E6AA-A5A5-4C95-A721-800E9D1E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第7步：每样做一次作业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FA00B4-D9F7-478C-8D74-8E49928F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底部「作业」→ 执行作业（每样做一次）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C439FD-2D8D-40B4-ACF1-B3E57F857968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809750"/>
                <a:gridCol w="952500"/>
                <a:gridCol w="1428750"/>
                <a:gridCol w="1333500"/>
                <a:gridCol w="1714500"/>
                <a:gridCol w="1638300"/>
              </a:tblGrid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来源批次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页面预计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实际产出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存放区域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作业后到期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261018-FLR-01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2027-04-18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261018-CHZ-01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块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2450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后厨/冷藏柜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2026-10-21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261018-MEAT-01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袋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970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970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后厨/冷藏柜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2026-10-21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261018-SAU-01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2970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2970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2026-10-23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261018-PKG-01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包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2028-10-18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261018-PKG-02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箱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后厨/干货架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2028-10-18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B43F4-BB95-4A78-A6F1-839A13CC0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投入数量填1，点「预览作业」，按实际称重或点数填实际产出，选存放区域后点「确认作业」。批号和到期日按当天日期生成，以页面为准。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4ACD4-68C2-42F1-AC60-E21AEEC0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62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948395822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82BE99-34DC-41E1-BFA7-CD72B329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作业：以马苏里拉刨丝为例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45EFF-8212-4A5C-B380-E6D78B8D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作业 → 执行作业 → 来源批次261018-CHZ-01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FBCBD-DB59-454B-810E-63A519D28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F687B-D0CE-4F17-92D2-8A17FFA2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来源批次选马苏里拉奶酪，投入数量1（块）。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974E4-7358-4FA8-A3B2-1915D633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517C04-399C-4D72-BF06-5C2A2F31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点「预览作业」，页面显示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预计产出2450g和新的到期日。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6CBAE-8846-4C0B-BD8C-A5065395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740CC0-EE14-449D-9D1E-C8759758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按实际称重填产出2450，区域「后厨/冷藏柜」，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点「确认作业」。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680A1B-4F86-4801-B50B-CEFFCE9B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刨丝后到期2026-10-21；未开的另一块到期日不变。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9CF9BF-F24B-4D9F-AC58-AA2C65CA30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42991c05074358"/>
          <a:stretch xmlns:a="http://schemas.openxmlformats.org/drawingml/2006/main"/>
        </p:blipFill>
        <p:spPr>
          <a:xfrm xmlns:a="http://schemas.openxmlformats.org/drawingml/2006/main">
            <a:off x="7856795" y="1476375"/>
            <a:ext cx="3469760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EF13E-27B5-460D-B5F4-C042946B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63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69345948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C3955-3EE6-41D6-80F6-982640B0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第8步：配方，每份6行用料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CDEBF-E4E2-4121-BE37-0FAA4CB6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更多 → 菜品配方 → + 新增菜品 → 编辑用料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FE7F52-0E26-4FFE-B111-3099D385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2BA72-A5E0-4A01-9F81-F59E96A6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点「+新增菜品」：名称「帕斯雀牛肉披萨」，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默认规格「9寸」，保存。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627B6E-A326-47FC-9F17-BAA18CACE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FB64E-E08D-4743-B421-AB4B31BEA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点「编辑用料」，按1份填（单位g）：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面粉180、酱80、奶酪120、牛肉70。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8E0D5-75DA-411F-B99F-6BEF4807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14A17F-D859-4BF5-BEEC-3D3CFEC0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每次「+添加食材」加一行；辅料也加：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披萨盒1、刀叉1，最后点「发布配方新版本」。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F573C-6127-4039-831A-1A5DB9394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配方按1份填写；发布配方不扣库存。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8A0E9-B0B1-4E07-93B9-415C3AB361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b8310d4bb48c5"/>
          <a:stretch xmlns:a="http://schemas.openxmlformats.org/drawingml/2006/main"/>
        </p:blipFill>
        <p:spPr>
          <a:xfrm xmlns:a="http://schemas.openxmlformats.org/drawingml/2006/main">
            <a:off x="7946793" y="1476375"/>
            <a:ext cx="3289763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10884-4DEF-4EAF-A933-7A4F7984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64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648887287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38199-82B3-4DDB-A059-BBD040C6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发布后：直接算出可出份数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6C9A7-635D-4C5B-8389-7BA95D59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菜品配方 → 帕斯雀牛肉披萨 / 9寸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2FC890-A6F5-427E-B359-7D511C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221F4-E005-44A2-9548-B13C37FBE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规格卡列出6行用料，右上角显示「13份可出餐」。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E1213C-F0A8-4E68-99CC-D7AA68212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8D7DBB-5655-40F7-9743-03E726EB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可出份数看最紧的那一样：牛肉970g÷70g = 13份。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637982-1048-4326-930C-E1473E6E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B92F5-4248-4DC1-8E5C-2E25A836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要多出餐，就先给另一袋牛肉做「开袋切片」。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25A66-B528-482C-8B6F-A2115256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只算出品态库存；采购态要先作业才算。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83849A-86DB-448E-86D5-FCE24BB631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80adbd4d6e4385"/>
          <a:stretch xmlns:a="http://schemas.openxmlformats.org/drawingml/2006/main"/>
        </p:blipFill>
        <p:spPr>
          <a:xfrm xmlns:a="http://schemas.openxmlformats.org/drawingml/2006/main">
            <a:off x="7600950" y="2304452"/>
            <a:ext cx="3981450" cy="3011097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C268AD-3A01-4205-A353-21C33995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65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102834588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E19959-7DC7-4FD9-859D-91A33B96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库存页：每样还能出几份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1600D-B459-46F9-841F-785A1EF2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 → 展开食材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FCE19-68DE-48B3-B7CD-DDA887EF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CACEB-96CE-459B-8D69-2D9865A9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展开食材，看「出品态可用」「待作业」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和「可出餐N份」。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D01196-1A82-4E34-BB21-6D53D88D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FC8A4-14EC-4B66-B002-8F0CEC11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奶酪可用2450g，另1块待作业2500g，可出20份。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B3B2B-BA14-4D83-ABC3-3E650563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5F17BC-34B0-42BA-924E-5ADBF982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面粉138份、酱37份、披萨盒50份、刀叉200份。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8D5E3B-B772-4851-BCA4-88B23AAC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牛肉13份最少，这道菜现在能出13份。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DB682-DC52-4AD4-8037-8431EFA2CB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474a460c144aae"/>
          <a:stretch xmlns:a="http://schemas.openxmlformats.org/drawingml/2006/main"/>
        </p:blipFill>
        <p:spPr>
          <a:xfrm xmlns:a="http://schemas.openxmlformats.org/drawingml/2006/main">
            <a:off x="7774427" y="1476375"/>
            <a:ext cx="3634497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397EF2-2AC9-4947-92F9-8A133453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66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82557821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317F7F-BA35-414B-B565-43468F41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第9步：新建厨房单，A3桌2份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F24F2-5DB0-4591-BD9C-A2AD0F8D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出餐 → + 手动创建厨房单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DC2EF2-0926-46D6-8C7B-381E83B9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03AE4-AB1D-41A5-886E-58035DF7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桌号A3，菜品选「帕斯雀牛肉披萨/9寸」，份数2。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2A2FF-E6AE-4145-8F16-BBB001F2C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A63E1-95A4-4E63-964A-C046E595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订单备注写顾客要求：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3人用餐，加一套刀叉；一份多加芝士、少放酱。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3E919-F0C5-4ABB-8585-03C1B3FE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B31AC7-EACA-4858-B2D4-E4F860D9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点「创建厨房单」，订单进入「待出餐订单」，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此时还没扣库存。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CBAD07-26A4-4642-94B7-6F87492F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一单多道菜时，点「+ 添加菜品」继续加。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288803-DD88-47CB-8FB6-F59455E6F4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a3018bbee40f1"/>
          <a:stretch xmlns:a="http://schemas.openxmlformats.org/drawingml/2006/main"/>
        </p:blipFill>
        <p:spPr>
          <a:xfrm xmlns:a="http://schemas.openxmlformats.org/drawingml/2006/main">
            <a:off x="7946793" y="1476375"/>
            <a:ext cx="3289763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0E9642-4D8D-4737-9A78-49F27209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67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29129624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FA1410-3F92-4105-801E-8EE0C586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出餐预览：按2份自动汇总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41D15-0EBA-4D1A-8EB1-BFDE77C7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待出餐订单 → 查看并出餐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AC980F-4426-48CC-A260-DE09DD56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24A65-72E3-4E3E-9007-BB8926C7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按配方×2自动汇总：披萨盒2个、刀叉2个。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26EDE4-CB01-43BD-A13C-F1216FE4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A3D695-BF4C-45DD-8E61-3DBD67F6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面粉360g、奶酪240g、牛肉140g、酱160g。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D9C3AC-BA96-48EA-892E-982123F7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7C2382-C4D2-4F69-9258-DF46F209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每行显示可用量，不够会提示短缺；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改错了点「恢复配方用量」。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6031-67C7-40A1-A4E3-7D056D51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预览不扣库存。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33631F-7810-4AE8-B347-4B57332591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62469efee4915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F54731-AF52-4F3E-A528-B0C270FF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68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2096169186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15F5F-02E1-46D5-82E1-BA7A3DC4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按顾客要求微调用量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0B03A2-C3BB-402A-BC21-62F600F3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本单实际用料 → 逐项修改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5FA1B0-B8FA-4030-AE73-E4D6C148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D6583-8E1B-4D6E-A591-F103D3F2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马苏里拉奶酪240 → 280g：一份多加40g芝士。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DF2E4-B3EE-45A4-9CF4-806951E0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BE68A-E414-4DF1-A350-FC390481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披萨酱160 → 140g：一份少放20g。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243C9-09A6-487B-9166-F4F18C7B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39EDB-B17B-4F6F-ACF0-9488DB39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一次性刀叉2 → 3：3人用餐；其他保持配方用量。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C5522-FD78-4AD0-988A-2BA24A14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微调只改这一单，不改配方；填0表示不用。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F0F09-5871-40CD-8E61-ACD653D0D6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b64e2d720c46a0"/>
          <a:stretch xmlns:a="http://schemas.openxmlformats.org/drawingml/2006/main"/>
        </p:blipFill>
        <p:spPr>
          <a:xfrm xmlns:a="http://schemas.openxmlformats.org/drawingml/2006/main">
            <a:off x="8388589" y="1476375"/>
            <a:ext cx="2406173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858C6-D1FD-459C-ADE9-97FCCACA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69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822279729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59BB5F-7DC8-45F9-82EF-35C920A0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确认出餐，按实际用量扣减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522CD-EDDC-49DB-8391-5899CCC6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本单实际用料 → 确认出餐并扣减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2DA3E1-7768-4271-B864-4F33F909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26965-A4E0-4E68-A597-1DFFB57F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点「确认出餐并扣减」，订单离开「待出餐订单」。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61F3FF-BEE5-492A-BB71-2EF0AFEBE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7EEDD3-44DA-49BC-A5AE-6713E23F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按微调后的用量扣：奶酪280、酱140、刀叉3，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短缺都是0。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D9E03-B6E0-4255-A9FE-7CFA2D00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C1811-B339-4D5B-9597-6B62E17C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扣减成本按批次金额计算，本单约53.75元。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3D038C-2139-4922-8443-A12FBC3F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扣的是出品态批次，未开的奶酪和牛肉不动。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A0BD06-BCB1-477F-9540-129C7C308F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e90e4a13b46b5"/>
          <a:stretch xmlns:a="http://schemas.openxmlformats.org/drawingml/2006/main"/>
        </p:blipFill>
        <p:spPr>
          <a:xfrm xmlns:a="http://schemas.openxmlformats.org/drawingml/2006/main">
            <a:off x="7960326" y="1476375"/>
            <a:ext cx="326269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7208F6-7FB7-47FF-B8FD-65C2F72C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70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453771573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7D2526-C263-4AF4-8CEC-A7093A28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扣减流水：每样扣了哪个批次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519DB-220E-403B-8362-DD3C28D7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出餐 → 出餐扣减流水 → 展开本单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D097D-A46F-4E4F-B654-0A4DB5DB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76444-7EB2-42CE-B643-0D559F361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展开「SERVE-20261018-0001」，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备注里带着顾客要求。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61456-37D2-4A32-AE58-3813E2C3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168824-924D-4243-94B1-936FD180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每行列出食材和实际用量，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以及扣自哪个批次、数量和金额。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1F721-7AC7-4F1F-83F6-28AB3C68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3E66C-B3E1-4FD8-BB21-B06FFCA0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对账时看这里，不用翻厨房单。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A7A5D-86C2-4AFD-B805-78FEFCFB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一单一条流水；扣到多个批次时分行列出。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34B958-6CCA-4617-88D5-FEC9894D4D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5e29380284661"/>
          <a:stretch xmlns:a="http://schemas.openxmlformats.org/drawingml/2006/main"/>
        </p:blipFill>
        <p:spPr>
          <a:xfrm xmlns:a="http://schemas.openxmlformats.org/drawingml/2006/main">
            <a:off x="8326921" y="1476375"/>
            <a:ext cx="2529508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5A3C79-BFC7-41B2-B8D9-561B8D97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71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1994702625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656583-70BC-4B08-B313-5258FB605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第10步：扣减核对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E6673A-9090-422A-87C9-800CD4EC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库存页逐样对：作业后可用 − 本单扣减 = 剩余可用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A0DF92-8658-4A24-A62F-05A564121894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095500"/>
                <a:gridCol w="1905000"/>
                <a:gridCol w="2095500"/>
                <a:gridCol w="2495550"/>
              </a:tblGrid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食材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作业后可用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本单扣减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剩余可用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仍在采购态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T w="9525">
                      <a:solidFill>
                        <a:srgbClr val="DDE5ED"/>
                      </a:solidFill>
                      <a:prstDash val="solid"/>
                    </a:lnT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142D47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高筋面粉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25000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24640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马苏里拉奶酪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2450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块 2500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帕斯雀牛肉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970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袋 1000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披萨酱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2970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2830 g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披萨盒 9 寸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5F8FB"/>
                    </a:solidFill>
                  </a:tcPr>
                </a:tc>
              </a:tr>
              <a:tr h="551089"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一次性刀叉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DE5ED"/>
                      </a:solidFill>
                      <a:prstDash val="solid"/>
                    </a:lnL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 个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42875" tIns="85725" rIns="114300" bIns="57150"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83C5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DE5ED"/>
                      </a:solidFill>
                      <a:prstDash val="solid"/>
                    </a:lnR>
                    <a:lnB w="9525">
                      <a:solidFill>
                        <a:srgbClr val="DDE5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C16F40-610F-4081-9E0B-126A8807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奶酪2170 + 280 + 损耗50 + 未开2500 = 入库5000g；牛肉830 + 140 + 30 + 1000 = 2000g。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B0484-8EFA-4F15-B117-90632F3F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72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737530647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9634B9-DE15-44E0-9B1E-68C933F5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>
                <a:solidFill>
                  <a:srgbClr val="142D47"/>
                </a:solidFill>
                <a:latin typeface="Microsoft YaHei"/>
                <a:ea typeface="Microsoft YaHei"/>
                <a:cs typeface="Microsoft YaHei"/>
              </a:rPr>
              <a:t>出餐后：库存和可出份数一起变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6629ED-AD95-4607-BD2C-6EE23AF36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038225"/>
            <a:ext cx="1095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库存 → 马苏里拉奶酪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4D2F18-E058-4C61-AE79-003F6307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B6FEF-F61B-4DBC-B60B-0D6370FE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奶酪出品态可用2170g，可出餐从20份变成18份。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19217E-1AEA-4D04-8190-3C457388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3227B-6FBA-4C1C-B3B3-471CA5087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另一块「整块」仍待作业，快用完前再刨丝。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1C32C-8A42-4D13-B8E3-153268AA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30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05DEE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DEB5F-B35F-4DE4-AA13-34667B107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604837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刨丝后的批次2026-10-21到期，</a:t>
            </a:r>
          </a:p>
          <a:p xmlns:a="http://schemas.openxmlformats.org/drawingml/2006/main">
            <a:pPr>
              <a:def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283C50"/>
                </a:solidFill>
                <a:latin typeface="Microsoft YaHei"/>
                <a:ea typeface="Microsoft YaHei"/>
                <a:cs typeface="Microsoft YaHei"/>
              </a:rPr>
              <a:t>会出现在首页的临期提醒里。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B0390B-F686-458D-842A-A2F31868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5151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446"/>
                </a:solidFill>
                <a:latin typeface="Microsoft YaHei"/>
                <a:ea typeface="Microsoft YaHei"/>
                <a:cs typeface="Microsoft YaHei"/>
              </a:rPr>
              <a:t>每天看库存页决定开不开新的一块，临期的先用。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1AD5E-B081-48A8-BA18-0288D704CD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2822698984dd9"/>
          <a:stretch xmlns:a="http://schemas.openxmlformats.org/drawingml/2006/main"/>
        </p:blipFill>
        <p:spPr>
          <a:xfrm xmlns:a="http://schemas.openxmlformats.org/drawingml/2006/main">
            <a:off x="8134155" y="1476375"/>
            <a:ext cx="2915040" cy="46672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84511-10F7-4AB3-9727-EB3492A63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055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1pPr>
            <a:lvl2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2pPr>
            <a:lvl3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3pPr>
            <a:lvl4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4pPr>
            <a:lvl5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5pPr>
            <a:lvl6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6pPr>
            <a:lvl7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7pPr>
            <a:lvl8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8pPr>
            <a:lvl9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88A"/>
                </a:solidFill>
                <a:latin typeface="Microsoft YaHei"/>
                <a:ea typeface="Microsoft YaHei"/>
                <a:cs typeface="Microsoft YaHei"/>
              </a:rPr>
              <a:t>73 / 73  ·  2026-10-18  ·  演示数据</a:t>
            </a:r>
          </a:p>
        </p:txBody>
      </p:sp>
    </p:spTree>
    <p:extLst>
      <p:ext uri="{BB962C8B-B14F-4D97-AF65-F5344CB8AC3E}">
        <p14:creationId xmlns:p14="http://schemas.microsoft.com/office/powerpoint/2010/main" val="7887001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2026-10-18T06:28:25.4350000Z</dcterms:created>
  <dcterms:modified xsi:type="dcterms:W3CDTF">2026-10-18T06:28:25.4350000Z</dcterms:modified>
</coreProperties>
</file>