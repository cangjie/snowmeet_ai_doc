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这份是给门店员工和店长的操作手册，按每天的工作顺序讲，每页对应手机上的一个界面。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底部五个页签覆盖每天最常用的操作，不常用的基础资料都收在「更多」里。右上角可以看到当前身份。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大部分日常操作员工都能做；涉及规则和结构的修改、最终确认，需要店长。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按时间顺序讲，后面的页面也按这个顺序排。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每天一张检查单，谁先到谁开始。全部正常时用一键通过，但温度这类数值必须真的去量。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店长不改员工填的结果，只追加处理记录。所有异常都有处理记录后才能确认。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名称、拍照、存放区域是必填，其余都有默认值。熟练后一条二十秒左右。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开封是对一件操作，不是对整个批次。十瓶番茄酱开一瓶，只消掉一瓶。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半成品也是食材，它的入库方式是制作。制作一次就核销对应原料。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配方是出餐扣减的依据。大份不是标准份乘系数，是一张独立的料表。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订单来自订单系统。备注是现场调整用料的依据，扣减流水里也会带上。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未开封和开封后分开算，取更早的日期。阈值来自二级分类。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过期不等于已处理。必须逐批确认销毁，留下时间和经办人。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只盘可用量：散装和已开封的余量。未开封整件不参与差异计算。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区域是食材、工具、餐具、检查项共同的位置基础。先把区域建好，入库和检查才有得选。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工具只记状态和位置，不走库存。每一次状态变化都写日志。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餐具不等同于食材：按个记数，不进配方，不随出餐扣减。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预警线两种算法二选一。默认按最近一次入库量的百分之十。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把培训时最常被问到的问题集中在这里。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给需要理解数据结构的同事：批次是库存的最小单位，挂在食材和存储区域上。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0" y="-2667000"/>
            <a:ext cx="7810500" cy="7810500"/>
          </a:xfrm>
          <a:prstGeom prst="ellipse">
            <a:avLst/>
          </a:prstGeom>
          <a:gradFill rotWithShape="1">
            <a:gsLst>
              <a:gs pos="0">
                <a:srgbClr val="2563EB">
                  <a:alpha val="38000"/>
                </a:srgbClr>
              </a:gs>
              <a:gs pos="68000">
                <a:srgbClr val="2563E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52500" y="2568476"/>
            <a:ext cx="685800" cy="5715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2403376"/>
            <a:ext cx="2942977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450" kern="0" dirty="0">
                <a:solidFill>
                  <a:srgbClr val="7CB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操作手册 · 手机端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52500" y="3247926"/>
            <a:ext cx="18021300" cy="12816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615"/>
              </a:lnSpc>
              <a:buNone/>
            </a:pPr>
            <a:r>
              <a:rPr lang="en-US" sz="96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食材管理系统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952500" y="4662885"/>
            <a:ext cx="18021300" cy="960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59"/>
              </a:lnSpc>
              <a:buNone/>
            </a:pPr>
            <a:r>
              <a:rPr lang="en-US" sz="6600" b="1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使用说明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952500" y="6042025"/>
            <a:ext cx="1275397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7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员工与店长的日常操作：开门检查、入库、开封、制作、出餐、临期处理、盘点，以及区域、工具、餐具的管理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52500" y="7527925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 10 月版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28675"/>
            <a:ext cx="4000500" cy="86296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6200">
            <a:solidFill>
              <a:srgbClr val="111827"/>
            </a:solidFill>
            <a:prstDash val="solid"/>
          </a:ln>
          <a:effectLst>
            <a:outerShdw sx="100000" sy="100000" kx="0" ky="0" algn="bl" rotWithShape="0" blurRad="571500" dist="190500" dir="5400000">
              <a:srgbClr val="111827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882" r="882" t="0" b="0"/>
          <a:stretch/>
        </p:blipFill>
        <p:spPr>
          <a:xfrm>
            <a:off x="1028700" y="904875"/>
            <a:ext cx="3848100" cy="847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05500" y="1692473"/>
            <a:ext cx="125730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开始之前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905500" y="2200474"/>
            <a:ext cx="125730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认识界面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5905500" y="3178373"/>
            <a:ext cx="1257300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底部五个页签，打开就是「库存」首页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5905500" y="3972124"/>
            <a:ext cx="18859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库存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7886700" y="3972124"/>
            <a:ext cx="103936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在库食材与批次、今日检查状态、临期提醒、开封入口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5905500" y="4615061"/>
            <a:ext cx="18859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入库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7886700" y="4615061"/>
            <a:ext cx="103936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每天采购到货后登记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5905500" y="5257999"/>
            <a:ext cx="18859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开门检查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7886700" y="5257999"/>
            <a:ext cx="103936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每天营业前按区域逐项检查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5905500" y="5900936"/>
            <a:ext cx="18859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出餐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7886700" y="5900936"/>
            <a:ext cx="103936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订单出餐后自动扣减食材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5905500" y="6543874"/>
            <a:ext cx="17907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7886700" y="6543874"/>
            <a:ext cx="9732264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存储区域、工具、餐具、用量预警、分类、配方、半成品、盘点、销毁、看板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5905500" y="7753549"/>
            <a:ext cx="11430000" cy="840978"/>
          </a:xfrm>
          <a:prstGeom prst="roundRect">
            <a:avLst>
              <a:gd name="adj" fmla="val 20387"/>
            </a:avLst>
          </a:prstGeom>
          <a:solidFill>
            <a:srgbClr val="EFF4FF"/>
          </a:solidFill>
          <a:ln/>
        </p:spPr>
      </p:sp>
      <p:sp>
        <p:nvSpPr>
          <p:cNvPr id="18" name="Text 15"/>
          <p:cNvSpPr/>
          <p:nvPr/>
        </p:nvSpPr>
        <p:spPr>
          <a:xfrm>
            <a:off x="6191250" y="7982149"/>
            <a:ext cx="11201400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右上角</a:t>
            </a:r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1E3A8A"/>
                </a:solidFill>
                <a:highlight>
                  <a:srgbClr val="EFF4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显示当前身份（员工或店长）和日期。部分操作只有店长能做，见下一页。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开始之前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60500"/>
            <a:ext cx="180213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员工能做什么，店长另外能做什么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781300"/>
            <a:ext cx="8039100" cy="65532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9700" y="3200400"/>
            <a:ext cx="838200" cy="508000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/>
        </p:spPr>
      </p:sp>
      <p:sp>
        <p:nvSpPr>
          <p:cNvPr id="6" name="Text 4"/>
          <p:cNvSpPr/>
          <p:nvPr/>
        </p:nvSpPr>
        <p:spPr>
          <a:xfrm>
            <a:off x="1581150" y="3276600"/>
            <a:ext cx="5715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400300" y="3260725"/>
            <a:ext cx="176022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所有在职员工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09700" y="3956050"/>
            <a:ext cx="7338441" cy="3538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42"/>
              </a:lnSpc>
              <a:buNone/>
            </a:pPr>
            <a:r>
              <a:rPr lang="en-US" sz="2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开始、填写、提交开门检查 · 入库、开封、半成品制作 · 出餐扣减、临期报损、确认销毁 · 盘点录入 · 餐具入库、领用、报损 · 工具标记损坏 / 缺失 / 送修 / 找回、移动位置 · 给存储区域拍照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296400" y="2781300"/>
            <a:ext cx="8039100" cy="6553200"/>
          </a:xfrm>
          <a:prstGeom prst="roundRect">
            <a:avLst>
              <a:gd name="adj" fmla="val 3488"/>
            </a:avLst>
          </a:prstGeom>
          <a:solidFill>
            <a:srgbClr val="111827"/>
          </a:solidFill>
          <a:ln/>
        </p:spPr>
      </p:sp>
      <p:sp>
        <p:nvSpPr>
          <p:cNvPr id="10" name="Shape 8"/>
          <p:cNvSpPr/>
          <p:nvPr/>
        </p:nvSpPr>
        <p:spPr>
          <a:xfrm>
            <a:off x="9753600" y="3200400"/>
            <a:ext cx="838200" cy="50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925050" y="3276600"/>
            <a:ext cx="5715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店长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744200" y="3260725"/>
            <a:ext cx="322707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员工能做的都能做，另外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753600" y="3956050"/>
            <a:ext cx="7338441" cy="3038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42"/>
              </a:lnSpc>
              <a:buNone/>
            </a:pPr>
            <a:r>
              <a:rPr lang="en-US" sz="2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新增、停用、删除存储区域 · 新增、停用开门检查项 · 处理检查异常并确认检查单 · 报废工具、修改工具档案 · 修改用量预警规则 · 维护分类与菜品配方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一天的节奏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60500"/>
            <a:ext cx="180213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每天的工作顺序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524000" y="3257550"/>
            <a:ext cx="15240000" cy="38100"/>
          </a:xfrm>
          <a:prstGeom prst="rect">
            <a:avLst/>
          </a:prstGeom>
          <a:solidFill>
            <a:srgbClr val="C7D8F7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895600"/>
            <a:ext cx="762000" cy="7620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956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" y="3867150"/>
            <a:ext cx="1341120" cy="482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开门检查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" y="4521200"/>
            <a:ext cx="226962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55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营业前，按区域逐项检查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3317379" y="2895600"/>
            <a:ext cx="762000" cy="7620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279279" y="28956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3317379" y="3867150"/>
            <a:ext cx="685800" cy="482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入库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17379" y="4521200"/>
            <a:ext cx="226962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55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到货就登记，拍照、选区域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5682258" y="2895600"/>
            <a:ext cx="762000" cy="7620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644158" y="28956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5682258" y="3867150"/>
            <a:ext cx="1341120" cy="482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备料制作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682258" y="4521200"/>
            <a:ext cx="226972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55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做半成品，原料自动核销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47236" y="2895600"/>
            <a:ext cx="762000" cy="7620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8009136" y="28956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8047236" y="3867150"/>
            <a:ext cx="685800" cy="482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开封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047236" y="4521200"/>
            <a:ext cx="226962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55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要用的封装食材开一件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412116" y="2895600"/>
            <a:ext cx="762000" cy="7620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10374016" y="28956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10412116" y="3867150"/>
            <a:ext cx="685800" cy="482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出餐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412116" y="4521200"/>
            <a:ext cx="19069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55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按订单扣减食材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2777093" y="2895600"/>
            <a:ext cx="762000" cy="7620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12738993" y="28956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12777093" y="3867150"/>
            <a:ext cx="1341120" cy="482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临期处理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777093" y="4521200"/>
            <a:ext cx="19069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55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报损、确认销毁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5141972" y="2895600"/>
            <a:ext cx="762000" cy="76200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30" name="Text 28"/>
          <p:cNvSpPr/>
          <p:nvPr/>
        </p:nvSpPr>
        <p:spPr>
          <a:xfrm>
            <a:off x="15103872" y="28956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300" dirty="0"/>
          </a:p>
        </p:txBody>
      </p:sp>
      <p:sp>
        <p:nvSpPr>
          <p:cNvPr id="31" name="Text 29"/>
          <p:cNvSpPr/>
          <p:nvPr/>
        </p:nvSpPr>
        <p:spPr>
          <a:xfrm>
            <a:off x="15141972" y="3867150"/>
            <a:ext cx="685800" cy="482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盘点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5141972" y="4521200"/>
            <a:ext cx="21793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55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收档或按周期核对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952500" y="5873750"/>
            <a:ext cx="16383000" cy="1424781"/>
          </a:xfrm>
          <a:prstGeom prst="roundRect">
            <a:avLst>
              <a:gd name="adj" fmla="val 133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000000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333500" y="6159500"/>
            <a:ext cx="16112490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74151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库存只会在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入库、开封、制作、出餐、报损 / 销毁、盘点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74151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这几个动作上变化，每一次都记录批次号、经办人和时间。开门检查只记录状态，不改库存。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28675"/>
            <a:ext cx="4000500" cy="86296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6200">
            <a:solidFill>
              <a:srgbClr val="111827"/>
            </a:solidFill>
            <a:prstDash val="solid"/>
          </a:ln>
          <a:effectLst>
            <a:outerShdw sx="100000" sy="100000" kx="0" ky="0" algn="bl" rotWithShape="0" blurRad="571500" dist="190500" dir="5400000">
              <a:srgbClr val="111827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882" r="882" t="0" b="0"/>
          <a:stretch/>
        </p:blipFill>
        <p:spPr>
          <a:xfrm>
            <a:off x="1028700" y="904875"/>
            <a:ext cx="3848100" cy="847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05500" y="2200275"/>
            <a:ext cx="125730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开门检查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905500" y="2708275"/>
            <a:ext cx="125730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填写今日检查</a:t>
            </a:r>
            <a:endParaRPr lang="en-US" sz="4500" dirty="0"/>
          </a:p>
        </p:txBody>
      </p:sp>
      <p:sp>
        <p:nvSpPr>
          <p:cNvPr id="6" name="Shape 3"/>
          <p:cNvSpPr/>
          <p:nvPr/>
        </p:nvSpPr>
        <p:spPr>
          <a:xfrm>
            <a:off x="5905500" y="3895725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5867400" y="389572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629400" y="3933825"/>
            <a:ext cx="1102728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点底部「开门检查」→「开始今日检查」，系统按存储区域生成当天的检查单，每天一张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5905500" y="5019675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5867400" y="501967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629400" y="5057775"/>
            <a:ext cx="1035044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逐项选「正常 / 异常 / 不适用」；温度等数值项填实测值，超出标准自动判为异常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5905500" y="5743575"/>
            <a:ext cx="495300" cy="49530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3" name="Text 10"/>
          <p:cNvSpPr/>
          <p:nvPr/>
        </p:nvSpPr>
        <p:spPr>
          <a:xfrm>
            <a:off x="5867400" y="574357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629400" y="5781675"/>
            <a:ext cx="1102728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都没问题时点「</a:t>
            </a:r>
            <a:pPr algn="l" indent="0" marL="0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一键全部通过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」：只填还没填的项，已填的结果不变，数值项仍要手填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5905500" y="6867525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5867400" y="686752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629400" y="6905625"/>
            <a:ext cx="470916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标为异常必须写原因；拍照留证可选</a:t>
            </a:r>
            <a:endParaRPr lang="en-US" sz="2250" dirty="0"/>
          </a:p>
        </p:txBody>
      </p:sp>
      <p:sp>
        <p:nvSpPr>
          <p:cNvPr id="18" name="Shape 15"/>
          <p:cNvSpPr/>
          <p:nvPr/>
        </p:nvSpPr>
        <p:spPr>
          <a:xfrm>
            <a:off x="5905500" y="7591425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5867400" y="759142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629400" y="7629525"/>
            <a:ext cx="691657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中途可「保存草稿」；必填项都完成后点「提交检查」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28675"/>
            <a:ext cx="4000500" cy="86296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6200">
            <a:solidFill>
              <a:srgbClr val="111827"/>
            </a:solidFill>
            <a:prstDash val="solid"/>
          </a:ln>
          <a:effectLst>
            <a:outerShdw sx="100000" sy="100000" kx="0" ky="0" algn="bl" rotWithShape="0" blurRad="571500" dist="190500" dir="5400000">
              <a:srgbClr val="111827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882" r="882" t="0" b="0"/>
          <a:stretch/>
        </p:blipFill>
        <p:spPr>
          <a:xfrm>
            <a:off x="1028700" y="904875"/>
            <a:ext cx="3848100" cy="847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05500" y="1886347"/>
            <a:ext cx="125730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开门检查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905500" y="2394347"/>
            <a:ext cx="125730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处理异常，确认检查单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5905500" y="3372247"/>
            <a:ext cx="1257300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店长操作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5905500" y="4146947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5867400" y="4146947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629400" y="4185047"/>
            <a:ext cx="662225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提交后状态变为「已提交」，异常项显示「待处理」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5905500" y="4870847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5867400" y="4870847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629400" y="4908947"/>
            <a:ext cx="868251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每条异常写处理说明，点「追加记录」；员工填的原始结果不会被改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5905500" y="5594747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5867400" y="5594747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629400" y="5632847"/>
            <a:ext cx="618077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异常全部有处理记录后，点「店长确认检查单」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5905500" y="6318647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5867400" y="6318647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629400" y="6356747"/>
            <a:ext cx="971264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涉及工具或餐具的异常，可从检查项直接跳到工具页登记状态、餐具页补货</a:t>
            </a:r>
            <a:endParaRPr lang="en-US" sz="2250" dirty="0"/>
          </a:p>
        </p:txBody>
      </p:sp>
      <p:sp>
        <p:nvSpPr>
          <p:cNvPr id="19" name="Shape 16"/>
          <p:cNvSpPr/>
          <p:nvPr/>
        </p:nvSpPr>
        <p:spPr>
          <a:xfrm>
            <a:off x="5905500" y="7175897"/>
            <a:ext cx="11430000" cy="1224756"/>
          </a:xfrm>
          <a:prstGeom prst="roundRect">
            <a:avLst>
              <a:gd name="adj" fmla="val 13999"/>
            </a:avLst>
          </a:prstGeom>
          <a:solidFill>
            <a:srgbClr val="FEF3C7"/>
          </a:solidFill>
          <a:ln/>
        </p:spPr>
      </p:sp>
      <p:sp>
        <p:nvSpPr>
          <p:cNvPr id="20" name="Text 17"/>
          <p:cNvSpPr/>
          <p:nvPr/>
        </p:nvSpPr>
        <p:spPr>
          <a:xfrm>
            <a:off x="6191250" y="7404497"/>
            <a:ext cx="11201400" cy="805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提交时提示「快照已过期」？ </a:t>
            </a:r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92400E"/>
                </a:solidFill>
                <a:highlight>
                  <a:srgbClr val="FEF3C7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说明填写期间店长改过检查项。点「刷新检查项」，已填的结果会保留。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28675"/>
            <a:ext cx="4000500" cy="86296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6200">
            <a:solidFill>
              <a:srgbClr val="111827"/>
            </a:solidFill>
            <a:prstDash val="solid"/>
          </a:ln>
          <a:effectLst>
            <a:outerShdw sx="100000" sy="100000" kx="0" ky="0" algn="bl" rotWithShape="0" blurRad="571500" dist="190500" dir="5400000">
              <a:srgbClr val="111827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882" r="882" t="0" b="0"/>
          <a:stretch/>
        </p:blipFill>
        <p:spPr>
          <a:xfrm>
            <a:off x="1028700" y="904875"/>
            <a:ext cx="3848100" cy="847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05500" y="1735534"/>
            <a:ext cx="125730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入库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905500" y="2243534"/>
            <a:ext cx="125730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登记每日到货</a:t>
            </a:r>
            <a:endParaRPr lang="en-US" sz="4500" dirty="0"/>
          </a:p>
        </p:txBody>
      </p:sp>
      <p:sp>
        <p:nvSpPr>
          <p:cNvPr id="6" name="Shape 3"/>
          <p:cNvSpPr/>
          <p:nvPr/>
        </p:nvSpPr>
        <p:spPr>
          <a:xfrm>
            <a:off x="5905500" y="341193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5867400" y="341193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6553200" y="3440509"/>
            <a:ext cx="22098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选一级、二级分类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11811000" y="341193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11772900" y="341193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2458700" y="3440509"/>
            <a:ext cx="384581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填食材名称并拍照建档（必填）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5905500" y="407868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5867400" y="407868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6553200" y="4107259"/>
            <a:ext cx="35711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批次号由系统生成，可以手改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11811000" y="407868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11772900" y="407868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2458700" y="4107259"/>
            <a:ext cx="502310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储存方式按分类默认，冷藏、冷冻、常温都能选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5905500" y="511691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6"/>
          <p:cNvSpPr/>
          <p:nvPr/>
        </p:nvSpPr>
        <p:spPr>
          <a:xfrm>
            <a:off x="5867400" y="511691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6553200" y="5145485"/>
            <a:ext cx="41205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存放区域必选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，浅蓝框是系统建议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11811000" y="511691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11772900" y="511691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12458700" y="5145485"/>
            <a:ext cx="502310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选封装或散装；封装要填每件规格，如 1000 ml/瓶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5905500" y="6155135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2"/>
          <p:cNvSpPr/>
          <p:nvPr/>
        </p:nvSpPr>
        <p:spPr>
          <a:xfrm>
            <a:off x="5867400" y="615513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50" dirty="0"/>
          </a:p>
        </p:txBody>
      </p:sp>
      <p:sp>
        <p:nvSpPr>
          <p:cNvPr id="26" name="Text 23"/>
          <p:cNvSpPr/>
          <p:nvPr/>
        </p:nvSpPr>
        <p:spPr>
          <a:xfrm>
            <a:off x="6553200" y="6183710"/>
            <a:ext cx="485315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数量与单位：个 / 公斤 / 克，按分类默认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11811000" y="6155135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5"/>
          <p:cNvSpPr/>
          <p:nvPr/>
        </p:nvSpPr>
        <p:spPr>
          <a:xfrm>
            <a:off x="11772900" y="615513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50" dirty="0"/>
          </a:p>
        </p:txBody>
      </p:sp>
      <p:sp>
        <p:nvSpPr>
          <p:cNvPr id="29" name="Text 26"/>
          <p:cNvSpPr/>
          <p:nvPr/>
        </p:nvSpPr>
        <p:spPr>
          <a:xfrm>
            <a:off x="12458700" y="6183710"/>
            <a:ext cx="502310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生产日期、保质期、到期日期三项独立，可扫描包装识别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5905500" y="7326710"/>
            <a:ext cx="11430000" cy="1224756"/>
          </a:xfrm>
          <a:prstGeom prst="roundRect">
            <a:avLst>
              <a:gd name="adj" fmla="val 13999"/>
            </a:avLst>
          </a:prstGeom>
          <a:solidFill>
            <a:srgbClr val="EFF4FF"/>
          </a:solidFill>
          <a:ln/>
        </p:spPr>
      </p:sp>
      <p:sp>
        <p:nvSpPr>
          <p:cNvPr id="31" name="Text 28"/>
          <p:cNvSpPr/>
          <p:nvPr/>
        </p:nvSpPr>
        <p:spPr>
          <a:xfrm>
            <a:off x="6191250" y="7555310"/>
            <a:ext cx="11201400" cy="805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点「加入」放进今日入库清单，可连续录多条，最后统一「确认入库」。按包装算已经过期的不能入库。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28675"/>
            <a:ext cx="4000500" cy="86296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6200">
            <a:solidFill>
              <a:srgbClr val="111827"/>
            </a:solidFill>
            <a:prstDash val="solid"/>
          </a:ln>
          <a:effectLst>
            <a:outerShdw sx="100000" sy="100000" kx="0" ky="0" algn="bl" rotWithShape="0" blurRad="571500" dist="190500" dir="5400000">
              <a:srgbClr val="111827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882" r="882" t="0" b="0"/>
          <a:stretch/>
        </p:blipFill>
        <p:spPr>
          <a:xfrm>
            <a:off x="1028700" y="904875"/>
            <a:ext cx="3848100" cy="847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05500" y="2160786"/>
            <a:ext cx="125730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开封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905500" y="2668786"/>
            <a:ext cx="125730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一次开一件</a:t>
            </a:r>
            <a:endParaRPr lang="en-US" sz="4500" dirty="0"/>
          </a:p>
        </p:txBody>
      </p:sp>
      <p:sp>
        <p:nvSpPr>
          <p:cNvPr id="6" name="Shape 3"/>
          <p:cNvSpPr/>
          <p:nvPr/>
        </p:nvSpPr>
        <p:spPr>
          <a:xfrm>
            <a:off x="5905500" y="3856236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5867400" y="385623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629400" y="3894336"/>
            <a:ext cx="647509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在「库存」点开食材，找到「封装未开封」的批次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5905500" y="4580136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5867400" y="458013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629400" y="4618236"/>
            <a:ext cx="264890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点蓝色「开封」按钮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5905500" y="5304036"/>
            <a:ext cx="495300" cy="495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5867400" y="530403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629400" y="5342136"/>
            <a:ext cx="794670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选开封后的存放区域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（必选，已按开封后储存方式给出建议）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5905500" y="6027936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5867400" y="602793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629400" y="6066036"/>
            <a:ext cx="1102728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点「确认开封 1 瓶」：封装批次 −1 瓶，已开封余量 +1000 ml，开封后保质期从今天算起</a:t>
            </a:r>
            <a:endParaRPr lang="en-US" sz="2250" dirty="0"/>
          </a:p>
        </p:txBody>
      </p:sp>
      <p:sp>
        <p:nvSpPr>
          <p:cNvPr id="18" name="Shape 15"/>
          <p:cNvSpPr/>
          <p:nvPr/>
        </p:nvSpPr>
        <p:spPr>
          <a:xfrm>
            <a:off x="5905500" y="7285236"/>
            <a:ext cx="11430000" cy="840978"/>
          </a:xfrm>
          <a:prstGeom prst="roundRect">
            <a:avLst>
              <a:gd name="adj" fmla="val 20387"/>
            </a:avLst>
          </a:prstGeom>
          <a:solidFill>
            <a:srgbClr val="EFF4FF"/>
          </a:solidFill>
          <a:ln/>
        </p:spPr>
      </p:sp>
      <p:sp>
        <p:nvSpPr>
          <p:cNvPr id="19" name="Text 16"/>
          <p:cNvSpPr/>
          <p:nvPr/>
        </p:nvSpPr>
        <p:spPr>
          <a:xfrm>
            <a:off x="6191250" y="7513836"/>
            <a:ext cx="11201400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1E3A8A"/>
                </a:solidFill>
                <a:highlight>
                  <a:srgbClr val="EFF4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出餐和半成品制作只用</a:t>
            </a:r>
            <a:pPr algn="l" indent="0" marL="0">
              <a:lnSpc>
                <a:spcPct val="137386"/>
              </a:lnSpc>
              <a:buNone/>
            </a:pPr>
            <a:r>
              <a:rPr lang="en-US" sz="1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散装、已开封、半成品</a:t>
            </a:r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1E3A8A"/>
                </a:solidFill>
                <a:highlight>
                  <a:srgbClr val="EFF4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，未开封的整件不会被扣减。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28675"/>
            <a:ext cx="4000500" cy="86296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6200">
            <a:solidFill>
              <a:srgbClr val="111827"/>
            </a:solidFill>
            <a:prstDash val="solid"/>
          </a:ln>
          <a:effectLst>
            <a:outerShdw sx="100000" sy="100000" kx="0" ky="0" algn="bl" rotWithShape="0" blurRad="571500" dist="190500" dir="5400000">
              <a:srgbClr val="111827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882" r="882" t="0" b="0"/>
          <a:stretch/>
        </p:blipFill>
        <p:spPr>
          <a:xfrm>
            <a:off x="1028700" y="904875"/>
            <a:ext cx="3848100" cy="847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05500" y="2440186"/>
            <a:ext cx="125730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半成品制作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905500" y="2948186"/>
            <a:ext cx="125730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做半成品，原料自动核销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5905500" y="3926086"/>
            <a:ext cx="1257300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 → 半成品制作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5905500" y="4700786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5867400" y="47007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629400" y="4738886"/>
            <a:ext cx="595216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选要做的半成品，如「Pizza 面团」，调整批数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5905500" y="5424686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5867400" y="54246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629400" y="5462786"/>
            <a:ext cx="676941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核对每种原料的用量和可用量，可以改用量、加原料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5905500" y="6148586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5867400" y="61485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629400" y="6186686"/>
            <a:ext cx="101541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点「确认制作并核销原料」：原料按先到期先出扣减，同时生成一个半成品批次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5905500" y="7005836"/>
            <a:ext cx="11430000" cy="840978"/>
          </a:xfrm>
          <a:prstGeom prst="roundRect">
            <a:avLst>
              <a:gd name="adj" fmla="val 20387"/>
            </a:avLst>
          </a:prstGeom>
          <a:solidFill>
            <a:srgbClr val="EFF4FF"/>
          </a:solidFill>
          <a:ln/>
        </p:spPr>
      </p:sp>
      <p:sp>
        <p:nvSpPr>
          <p:cNvPr id="17" name="Text 14"/>
          <p:cNvSpPr/>
          <p:nvPr/>
        </p:nvSpPr>
        <p:spPr>
          <a:xfrm>
            <a:off x="6191250" y="7234436"/>
            <a:ext cx="11201400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半成品可以按重量或件数记，菜品配方里可以直接用。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28675"/>
            <a:ext cx="4000500" cy="86296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6200">
            <a:solidFill>
              <a:srgbClr val="111827"/>
            </a:solidFill>
            <a:prstDash val="solid"/>
          </a:ln>
          <a:effectLst>
            <a:outerShdw sx="100000" sy="100000" kx="0" ky="0" algn="bl" rotWithShape="0" blurRad="571500" dist="190500" dir="5400000">
              <a:srgbClr val="111827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882" r="882" t="0" b="0"/>
          <a:stretch/>
        </p:blipFill>
        <p:spPr>
          <a:xfrm>
            <a:off x="1028700" y="904875"/>
            <a:ext cx="3848100" cy="847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05500" y="2440186"/>
            <a:ext cx="125730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菜品配方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905500" y="2948186"/>
            <a:ext cx="125730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设置每道菜的用料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5905500" y="3926086"/>
            <a:ext cx="1257300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 → 菜品配方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5905500" y="4700786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5867400" y="47007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629400" y="4738886"/>
            <a:ext cx="529780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点开菜品，每道菜默认有一个「标准份」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5905500" y="5424686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5867400" y="54246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629400" y="5462786"/>
            <a:ext cx="541267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需要时「新增规格」，如「大份」「12 寸」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5905500" y="6148586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5867400" y="61485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629400" y="6186686"/>
            <a:ext cx="663911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每个规格单独「添加食材」并设用量，用 − / + 调整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5905500" y="7005836"/>
            <a:ext cx="11430000" cy="840978"/>
          </a:xfrm>
          <a:prstGeom prst="roundRect">
            <a:avLst>
              <a:gd name="adj" fmla="val 20387"/>
            </a:avLst>
          </a:prstGeom>
          <a:solidFill>
            <a:srgbClr val="EFF4FF"/>
          </a:solidFill>
          <a:ln/>
        </p:spPr>
      </p:sp>
      <p:sp>
        <p:nvSpPr>
          <p:cNvPr id="17" name="Text 14"/>
          <p:cNvSpPr/>
          <p:nvPr/>
        </p:nvSpPr>
        <p:spPr>
          <a:xfrm>
            <a:off x="6191250" y="7234436"/>
            <a:ext cx="11201400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1E3A8A"/>
                </a:solidFill>
                <a:highlight>
                  <a:srgbClr val="EFF4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只能选</a:t>
            </a:r>
            <a:pPr algn="l" indent="0" marL="0">
              <a:lnSpc>
                <a:spcPct val="137386"/>
              </a:lnSpc>
              <a:buNone/>
            </a:pPr>
            <a:r>
              <a:rPr lang="en-US" sz="1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散装、已开封、半成品</a:t>
            </a:r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1E3A8A"/>
                </a:solidFill>
                <a:highlight>
                  <a:srgbClr val="EFF4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食材；页面下方会估算单份成本。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28675"/>
            <a:ext cx="4000500" cy="86296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6200">
            <a:solidFill>
              <a:srgbClr val="111827"/>
            </a:solidFill>
            <a:prstDash val="solid"/>
          </a:ln>
          <a:effectLst>
            <a:outerShdw sx="100000" sy="100000" kx="0" ky="0" algn="bl" rotWithShape="0" blurRad="571500" dist="190500" dir="5400000">
              <a:srgbClr val="111827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882" r="882" t="0" b="0"/>
          <a:stretch/>
        </p:blipFill>
        <p:spPr>
          <a:xfrm>
            <a:off x="1028700" y="904875"/>
            <a:ext cx="3848100" cy="847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05500" y="2962275"/>
            <a:ext cx="125730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出餐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905500" y="3470275"/>
            <a:ext cx="125730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按订单扣减食材</a:t>
            </a:r>
            <a:endParaRPr lang="en-US" sz="4500" dirty="0"/>
          </a:p>
        </p:txBody>
      </p:sp>
      <p:sp>
        <p:nvSpPr>
          <p:cNvPr id="6" name="Shape 3"/>
          <p:cNvSpPr/>
          <p:nvPr/>
        </p:nvSpPr>
        <p:spPr>
          <a:xfrm>
            <a:off x="5905500" y="4657725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5867400" y="465772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629400" y="4695825"/>
            <a:ext cx="853535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「待出餐订单」由订单系统同步，显示订单号、桌号、时间和备注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5905500" y="5381625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5867400" y="538162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629400" y="5419725"/>
            <a:ext cx="765238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点开订单，按配方列出要扣的食材；不够的标「库存不足」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5905500" y="6105525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5867400" y="610552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629400" y="6143625"/>
            <a:ext cx="382619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按备注微调用量后，确认出餐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5905500" y="6829425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5867400" y="682942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629400" y="6867525"/>
            <a:ext cx="101541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系统按先到期先出扣减批次；「扣减流水」里能查到每一笔对应的订单号和备注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28675"/>
            <a:ext cx="4000500" cy="86296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6200">
            <a:solidFill>
              <a:srgbClr val="111827"/>
            </a:solidFill>
            <a:prstDash val="solid"/>
          </a:ln>
          <a:effectLst>
            <a:outerShdw sx="100000" sy="100000" kx="0" ky="0" algn="bl" rotWithShape="0" blurRad="571500" dist="190500" dir="5400000">
              <a:srgbClr val="111827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882" r="882" t="0" b="0"/>
          <a:stretch/>
        </p:blipFill>
        <p:spPr>
          <a:xfrm>
            <a:off x="1028700" y="904875"/>
            <a:ext cx="3848100" cy="847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05500" y="1811536"/>
            <a:ext cx="125730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临期处理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905500" y="2319536"/>
            <a:ext cx="125730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看临期，及时报损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5905500" y="3297436"/>
            <a:ext cx="1257300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库存 → 临期与过期批次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5905500" y="4072136"/>
            <a:ext cx="114300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91250" y="4300736"/>
            <a:ext cx="95250" cy="4953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6515100" y="4342011"/>
            <a:ext cx="23050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已过期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8839200" y="4354711"/>
            <a:ext cx="3960495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点「去销毁」，进入待销毁清单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5905500" y="5196086"/>
            <a:ext cx="114300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91250" y="5424686"/>
            <a:ext cx="95250" cy="4953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0"/>
          <p:cNvSpPr/>
          <p:nvPr/>
        </p:nvSpPr>
        <p:spPr>
          <a:xfrm>
            <a:off x="6515100" y="5465961"/>
            <a:ext cx="23050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开封后临期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8839200" y="5478661"/>
            <a:ext cx="381381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优先用掉，用不完点「报损」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5905500" y="6320036"/>
            <a:ext cx="114300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1250" y="6548636"/>
            <a:ext cx="95250" cy="495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6515100" y="6589911"/>
            <a:ext cx="23050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未开封临期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8839200" y="6602611"/>
            <a:ext cx="234696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安排先开封、先用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5905500" y="7634486"/>
            <a:ext cx="11430000" cy="840978"/>
          </a:xfrm>
          <a:prstGeom prst="roundRect">
            <a:avLst>
              <a:gd name="adj" fmla="val 20387"/>
            </a:avLst>
          </a:prstGeom>
          <a:solidFill>
            <a:srgbClr val="EFF4FF"/>
          </a:solidFill>
          <a:ln/>
        </p:spPr>
      </p:sp>
      <p:sp>
        <p:nvSpPr>
          <p:cNvPr id="20" name="Text 17"/>
          <p:cNvSpPr/>
          <p:nvPr/>
        </p:nvSpPr>
        <p:spPr>
          <a:xfrm>
            <a:off x="6191250" y="7863086"/>
            <a:ext cx="11201400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临期天数按二级分类设定。报损的数量进损耗台账，在数据看板里汇总。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28675"/>
            <a:ext cx="4000500" cy="86296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6200">
            <a:solidFill>
              <a:srgbClr val="111827"/>
            </a:solidFill>
            <a:prstDash val="solid"/>
          </a:ln>
          <a:effectLst>
            <a:outerShdw sx="100000" sy="100000" kx="0" ky="0" algn="bl" rotWithShape="0" blurRad="571500" dist="190500" dir="5400000">
              <a:srgbClr val="111827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882" r="882" t="0" b="0"/>
          <a:stretch/>
        </p:blipFill>
        <p:spPr>
          <a:xfrm>
            <a:off x="1028700" y="904875"/>
            <a:ext cx="3848100" cy="847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05500" y="2722761"/>
            <a:ext cx="125730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临期处理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905500" y="3230761"/>
            <a:ext cx="125730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确认过期食材已销毁</a:t>
            </a:r>
            <a:endParaRPr lang="en-US" sz="4500" dirty="0"/>
          </a:p>
        </p:txBody>
      </p:sp>
      <p:sp>
        <p:nvSpPr>
          <p:cNvPr id="6" name="Shape 3"/>
          <p:cNvSpPr/>
          <p:nvPr/>
        </p:nvSpPr>
        <p:spPr>
          <a:xfrm>
            <a:off x="5905500" y="4418211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5867400" y="4418211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629400" y="4456311"/>
            <a:ext cx="382619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过期批次自动进入「待销毁」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5905500" y="5142111"/>
            <a:ext cx="495300" cy="495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7"/>
          <p:cNvSpPr/>
          <p:nvPr/>
        </p:nvSpPr>
        <p:spPr>
          <a:xfrm>
            <a:off x="5867400" y="5142111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629400" y="5180211"/>
            <a:ext cx="529780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实物处理掉之后，逐批点「确认已销毁」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5905500" y="5866011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5867400" y="5866011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629400" y="5904111"/>
            <a:ext cx="647509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「已销毁」页签保留记录：批次、数量、销毁时间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5905500" y="6723261"/>
            <a:ext cx="11430000" cy="840978"/>
          </a:xfrm>
          <a:prstGeom prst="roundRect">
            <a:avLst>
              <a:gd name="adj" fmla="val 20387"/>
            </a:avLst>
          </a:prstGeom>
          <a:solidFill>
            <a:srgbClr val="FEF2F2"/>
          </a:solidFill>
          <a:ln/>
        </p:spPr>
      </p:sp>
      <p:sp>
        <p:nvSpPr>
          <p:cNvPr id="16" name="Text 13"/>
          <p:cNvSpPr/>
          <p:nvPr/>
        </p:nvSpPr>
        <p:spPr>
          <a:xfrm>
            <a:off x="6191250" y="6951861"/>
            <a:ext cx="11201400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没有确认销毁的过期批次会一直留在待销毁清单里，库存页也会持续提醒。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28675"/>
            <a:ext cx="4000500" cy="86296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6200">
            <a:solidFill>
              <a:srgbClr val="111827"/>
            </a:solidFill>
            <a:prstDash val="solid"/>
          </a:ln>
          <a:effectLst>
            <a:outerShdw sx="100000" sy="100000" kx="0" ky="0" algn="bl" rotWithShape="0" blurRad="571500" dist="190500" dir="5400000">
              <a:srgbClr val="111827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882" r="882" t="0" b="0"/>
          <a:stretch/>
        </p:blipFill>
        <p:spPr>
          <a:xfrm>
            <a:off x="1028700" y="904875"/>
            <a:ext cx="3848100" cy="847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05500" y="2440186"/>
            <a:ext cx="125730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盘点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905500" y="2948186"/>
            <a:ext cx="125730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核对系统数与实盘数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5905500" y="3926086"/>
            <a:ext cx="1257300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 → 盘点核对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5905500" y="4700786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5867400" y="47007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629400" y="4738886"/>
            <a:ext cx="559212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逐项在「实盘」里填实际称量或点数的结果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5905500" y="5424686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5867400" y="54246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629400" y="5462786"/>
            <a:ext cx="382619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系统即时显示与系统数的差异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5905500" y="6148586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5867400" y="61485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629400" y="6186686"/>
            <a:ext cx="647509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提交后以实盘数为准更新库存，差异记入损耗台账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5905500" y="7005836"/>
            <a:ext cx="11430000" cy="840978"/>
          </a:xfrm>
          <a:prstGeom prst="roundRect">
            <a:avLst>
              <a:gd name="adj" fmla="val 20387"/>
            </a:avLst>
          </a:prstGeom>
          <a:solidFill>
            <a:srgbClr val="EFF4FF"/>
          </a:solidFill>
          <a:ln/>
        </p:spPr>
      </p:sp>
      <p:sp>
        <p:nvSpPr>
          <p:cNvPr id="17" name="Text 14"/>
          <p:cNvSpPr/>
          <p:nvPr/>
        </p:nvSpPr>
        <p:spPr>
          <a:xfrm>
            <a:off x="6191250" y="7234436"/>
            <a:ext cx="11201400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1E3A8A"/>
                </a:solidFill>
                <a:highlight>
                  <a:srgbClr val="EFF4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只盘</a:t>
            </a:r>
            <a:pPr algn="l" indent="0" marL="0">
              <a:lnSpc>
                <a:spcPct val="137386"/>
              </a:lnSpc>
              <a:buNone/>
            </a:pPr>
            <a:r>
              <a:rPr lang="en-US" sz="1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散装和已开封的余量</a:t>
            </a:r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1E3A8A"/>
                </a:solidFill>
                <a:highlight>
                  <a:srgbClr val="EFF4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；未开封的整件按件清点即可，不参与差异计算。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28675"/>
            <a:ext cx="4000500" cy="86296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6200">
            <a:solidFill>
              <a:srgbClr val="111827"/>
            </a:solidFill>
            <a:prstDash val="solid"/>
          </a:ln>
          <a:effectLst>
            <a:outerShdw sx="100000" sy="100000" kx="0" ky="0" algn="bl" rotWithShape="0" blurRad="571500" dist="190500" dir="5400000">
              <a:srgbClr val="111827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882" r="882" t="0" b="0"/>
          <a:stretch/>
        </p:blipFill>
        <p:spPr>
          <a:xfrm>
            <a:off x="1028700" y="904875"/>
            <a:ext cx="3848100" cy="847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05500" y="2248297"/>
            <a:ext cx="125730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存储区域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905500" y="2756297"/>
            <a:ext cx="125730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维护区域与检查项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5905500" y="3734197"/>
            <a:ext cx="1257300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 → 存储区域 · 增删改需店长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5905500" y="4508897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5867400" y="4508897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629400" y="4546997"/>
            <a:ext cx="766883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区域分两级，如「后厨 → 冷藏柜」；可新增一级或下级区域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5905500" y="5232797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5867400" y="5232797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629400" y="5270897"/>
            <a:ext cx="591945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每个区域可拍照，最多 6 张；第一张作为封面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5905500" y="5956697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5867400" y="5956697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629400" y="5994797"/>
            <a:ext cx="802856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点「检查项 ›」配置开门检查：是否 / 数值 / 拍照，必填或选填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5905500" y="6813947"/>
            <a:ext cx="11430000" cy="1224756"/>
          </a:xfrm>
          <a:prstGeom prst="roundRect">
            <a:avLst>
              <a:gd name="adj" fmla="val 13999"/>
            </a:avLst>
          </a:prstGeom>
          <a:solidFill>
            <a:srgbClr val="FEF3C7"/>
          </a:solidFill>
          <a:ln/>
        </p:spPr>
      </p:sp>
      <p:sp>
        <p:nvSpPr>
          <p:cNvPr id="17" name="Text 14"/>
          <p:cNvSpPr/>
          <p:nvPr/>
        </p:nvSpPr>
        <p:spPr>
          <a:xfrm>
            <a:off x="6191250" y="7042547"/>
            <a:ext cx="11201400" cy="805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92400E"/>
                </a:solidFill>
                <a:highlight>
                  <a:srgbClr val="FEF3C7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还有食材、工具、餐具或检查项绑定的区域</a:t>
            </a:r>
            <a:pPr algn="l" indent="0" marL="0">
              <a:lnSpc>
                <a:spcPct val="137386"/>
              </a:lnSpc>
              <a:buNone/>
            </a:pPr>
            <a:r>
              <a:rPr lang="en-US" sz="1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只能停用，不能删除 </a:t>
            </a:r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92400E"/>
                </a:solidFill>
                <a:highlight>
                  <a:srgbClr val="FEF3C7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。停用后新入库、新检查项选不到它，历史记录照常显示。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28675"/>
            <a:ext cx="4000500" cy="86296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6200">
            <a:solidFill>
              <a:srgbClr val="111827"/>
            </a:solidFill>
            <a:prstDash val="solid"/>
          </a:ln>
          <a:effectLst>
            <a:outerShdw sx="100000" sy="100000" kx="0" ky="0" algn="bl" rotWithShape="0" blurRad="571500" dist="190500" dir="5400000">
              <a:srgbClr val="111827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882" r="882" t="0" b="0"/>
          <a:stretch/>
        </p:blipFill>
        <p:spPr>
          <a:xfrm>
            <a:off x="1028700" y="904875"/>
            <a:ext cx="3848100" cy="847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05500" y="1961555"/>
            <a:ext cx="125730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餐饮工具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905500" y="2469555"/>
            <a:ext cx="125730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登记工具状态与位置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5905500" y="3447455"/>
            <a:ext cx="1257300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 → 餐饮工具 · 点开一件工具操作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5905500" y="4203105"/>
            <a:ext cx="11430000" cy="2781300"/>
          </a:xfrm>
          <a:prstGeom prst="roundRect">
            <a:avLst>
              <a:gd name="adj" fmla="val 75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67450" y="4526955"/>
            <a:ext cx="2609850" cy="546100"/>
          </a:xfrm>
          <a:prstGeom prst="roundRect">
            <a:avLst>
              <a:gd name="adj" fmla="val 17442"/>
            </a:avLst>
          </a:prstGeom>
          <a:solidFill>
            <a:srgbClr val="DCFCE7"/>
          </a:solidFill>
          <a:ln/>
        </p:spPr>
      </p:sp>
      <p:sp>
        <p:nvSpPr>
          <p:cNvPr id="9" name="Text 6"/>
          <p:cNvSpPr/>
          <p:nvPr/>
        </p:nvSpPr>
        <p:spPr>
          <a:xfrm>
            <a:off x="6418802" y="4622205"/>
            <a:ext cx="2307146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正常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8839200" y="4660305"/>
            <a:ext cx="6477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9448800" y="4526955"/>
            <a:ext cx="2609850" cy="546100"/>
          </a:xfrm>
          <a:prstGeom prst="roundRect">
            <a:avLst>
              <a:gd name="adj" fmla="val 17442"/>
            </a:avLst>
          </a:prstGeom>
          <a:solidFill>
            <a:srgbClr val="FEF3C7"/>
          </a:solidFill>
          <a:ln/>
        </p:spPr>
      </p:sp>
      <p:sp>
        <p:nvSpPr>
          <p:cNvPr id="12" name="Text 9"/>
          <p:cNvSpPr/>
          <p:nvPr/>
        </p:nvSpPr>
        <p:spPr>
          <a:xfrm>
            <a:off x="9600152" y="4622205"/>
            <a:ext cx="2307146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损坏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2020550" y="4660305"/>
            <a:ext cx="6477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12630150" y="4526955"/>
            <a:ext cx="4343400" cy="546100"/>
          </a:xfrm>
          <a:prstGeom prst="roundRect">
            <a:avLst>
              <a:gd name="adj" fmla="val 17442"/>
            </a:avLst>
          </a:prstGeom>
          <a:solidFill>
            <a:srgbClr val="EFF4FF"/>
          </a:solidFill>
          <a:ln/>
        </p:spPr>
      </p:sp>
      <p:sp>
        <p:nvSpPr>
          <p:cNvPr id="15" name="Text 12"/>
          <p:cNvSpPr/>
          <p:nvPr/>
        </p:nvSpPr>
        <p:spPr>
          <a:xfrm>
            <a:off x="12755499" y="4622205"/>
            <a:ext cx="4092702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维修中 → 正常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9318308" y="5428655"/>
            <a:ext cx="287083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020550" y="5454055"/>
            <a:ext cx="6477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12630150" y="5320705"/>
            <a:ext cx="4343400" cy="546100"/>
          </a:xfrm>
          <a:prstGeom prst="roundRect">
            <a:avLst>
              <a:gd name="adj" fmla="val 17442"/>
            </a:avLst>
          </a:prstGeom>
          <a:solidFill>
            <a:srgbClr val="F3F4F6"/>
          </a:solidFill>
          <a:ln/>
        </p:spPr>
      </p:sp>
      <p:sp>
        <p:nvSpPr>
          <p:cNvPr id="19" name="Text 16"/>
          <p:cNvSpPr/>
          <p:nvPr/>
        </p:nvSpPr>
        <p:spPr>
          <a:xfrm>
            <a:off x="12755499" y="5415955"/>
            <a:ext cx="4092702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已报废（店长）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6267450" y="6114455"/>
            <a:ext cx="2609850" cy="546100"/>
          </a:xfrm>
          <a:prstGeom prst="roundRect">
            <a:avLst>
              <a:gd name="adj" fmla="val 17442"/>
            </a:avLst>
          </a:prstGeom>
          <a:solidFill>
            <a:srgbClr val="DCFCE7"/>
          </a:solidFill>
          <a:ln/>
        </p:spPr>
      </p:sp>
      <p:sp>
        <p:nvSpPr>
          <p:cNvPr id="21" name="Text 18"/>
          <p:cNvSpPr/>
          <p:nvPr/>
        </p:nvSpPr>
        <p:spPr>
          <a:xfrm>
            <a:off x="6418802" y="6209705"/>
            <a:ext cx="2307146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正常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8839200" y="6247805"/>
            <a:ext cx="6477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3" name="Shape 20"/>
          <p:cNvSpPr/>
          <p:nvPr/>
        </p:nvSpPr>
        <p:spPr>
          <a:xfrm>
            <a:off x="9448800" y="6114455"/>
            <a:ext cx="2609850" cy="546100"/>
          </a:xfrm>
          <a:prstGeom prst="roundRect">
            <a:avLst>
              <a:gd name="adj" fmla="val 17442"/>
            </a:avLst>
          </a:prstGeom>
          <a:solidFill>
            <a:srgbClr val="FEF2F2"/>
          </a:solidFill>
          <a:ln/>
        </p:spPr>
      </p:sp>
      <p:sp>
        <p:nvSpPr>
          <p:cNvPr id="24" name="Text 21"/>
          <p:cNvSpPr/>
          <p:nvPr/>
        </p:nvSpPr>
        <p:spPr>
          <a:xfrm>
            <a:off x="9600152" y="6209705"/>
            <a:ext cx="2307146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缺失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2020550" y="6247805"/>
            <a:ext cx="6477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6" name="Shape 23"/>
          <p:cNvSpPr/>
          <p:nvPr/>
        </p:nvSpPr>
        <p:spPr>
          <a:xfrm>
            <a:off x="12630150" y="6114455"/>
            <a:ext cx="4343400" cy="546100"/>
          </a:xfrm>
          <a:prstGeom prst="roundRect">
            <a:avLst>
              <a:gd name="adj" fmla="val 17442"/>
            </a:avLst>
          </a:prstGeom>
          <a:solidFill>
            <a:srgbClr val="DCFCE7"/>
          </a:solidFill>
          <a:ln/>
        </p:spPr>
      </p:sp>
      <p:sp>
        <p:nvSpPr>
          <p:cNvPr id="27" name="Text 24"/>
          <p:cNvSpPr/>
          <p:nvPr/>
        </p:nvSpPr>
        <p:spPr>
          <a:xfrm>
            <a:off x="12755499" y="6209705"/>
            <a:ext cx="4092702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已找回（须写说明）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5905500" y="7327305"/>
            <a:ext cx="125730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在「所在区域」点选另一个区域即完成移动，自动记日志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5905500" y="7912100"/>
            <a:ext cx="125730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报废必须写原因；状态日志里能看到每次变化的人和时间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28675"/>
            <a:ext cx="4000500" cy="86296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6200">
            <a:solidFill>
              <a:srgbClr val="111827"/>
            </a:solidFill>
            <a:prstDash val="solid"/>
          </a:ln>
          <a:effectLst>
            <a:outerShdw sx="100000" sy="100000" kx="0" ky="0" algn="bl" rotWithShape="0" blurRad="571500" dist="190500" dir="5400000">
              <a:srgbClr val="111827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882" r="882" t="0" b="0"/>
          <a:stretch/>
        </p:blipFill>
        <p:spPr>
          <a:xfrm>
            <a:off x="1028700" y="904875"/>
            <a:ext cx="3848100" cy="847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05500" y="2440186"/>
            <a:ext cx="125730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餐饮物资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905500" y="2948186"/>
            <a:ext cx="125730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餐具入库、领用、报损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5905500" y="3926086"/>
            <a:ext cx="1257300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 → 餐饮物资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5905500" y="4700786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5867400" y="47007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629400" y="4738886"/>
            <a:ext cx="618077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上方切换「一次性餐具」和「可重复使用餐具」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5905500" y="5424686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5867400" y="54246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629400" y="5462786"/>
            <a:ext cx="887883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点开物资，选「入库 / 领用 / 报损」；入库按箱、包填，自动换算成个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5905500" y="6148586"/>
            <a:ext cx="495300" cy="4953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5867400" y="61485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629400" y="6186686"/>
            <a:ext cx="88296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领用、报损要选原因；可重复使用餐具只有「补充」和「破损报损」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5905500" y="7005836"/>
            <a:ext cx="11430000" cy="840978"/>
          </a:xfrm>
          <a:prstGeom prst="roundRect">
            <a:avLst>
              <a:gd name="adj" fmla="val 20387"/>
            </a:avLst>
          </a:prstGeom>
          <a:solidFill>
            <a:srgbClr val="EFF4FF"/>
          </a:solidFill>
          <a:ln/>
        </p:spPr>
      </p:sp>
      <p:sp>
        <p:nvSpPr>
          <p:cNvPr id="17" name="Text 14"/>
          <p:cNvSpPr/>
          <p:nvPr/>
        </p:nvSpPr>
        <p:spPr>
          <a:xfrm>
            <a:off x="6191250" y="7234436"/>
            <a:ext cx="11201400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1E3A8A"/>
                </a:solidFill>
                <a:highlight>
                  <a:srgbClr val="EFF4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录错了？最近一次入库在 </a:t>
            </a:r>
            <a:pPr algn="l" indent="0" marL="0">
              <a:lnSpc>
                <a:spcPct val="137386"/>
              </a:lnSpc>
              <a:buNone/>
            </a:pPr>
            <a:r>
              <a:rPr lang="en-US" sz="1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分钟内</a:t>
            </a:r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1E3A8A"/>
                </a:solidFill>
                <a:highlight>
                  <a:srgbClr val="EFF4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、且之后没有新流水时，可以撤销。</a:t>
            </a:r>
            <a:endParaRPr lang="en-US" sz="1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28675"/>
            <a:ext cx="4000500" cy="86296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6200">
            <a:solidFill>
              <a:srgbClr val="111827"/>
            </a:solidFill>
            <a:prstDash val="solid"/>
          </a:ln>
          <a:effectLst>
            <a:outerShdw sx="100000" sy="100000" kx="0" ky="0" algn="bl" rotWithShape="0" blurRad="571500" dist="190500" dir="5400000">
              <a:srgbClr val="111827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882" r="882" t="0" b="0"/>
          <a:stretch/>
        </p:blipFill>
        <p:spPr>
          <a:xfrm>
            <a:off x="1028700" y="904875"/>
            <a:ext cx="3848100" cy="847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05500" y="2312392"/>
            <a:ext cx="125730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用量预警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905500" y="2820392"/>
            <a:ext cx="125730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快用完时提醒补货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5905500" y="3798292"/>
            <a:ext cx="1257300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库存首页「用量预警」，或 更多 → 用量预警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5905500" y="4572992"/>
            <a:ext cx="5600700" cy="2041525"/>
          </a:xfrm>
          <a:prstGeom prst="roundRect">
            <a:avLst>
              <a:gd name="adj" fmla="val 93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48400" y="4896842"/>
            <a:ext cx="540639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 · 按比例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248400" y="5385792"/>
            <a:ext cx="54063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最近一次入库量 × 10%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6248400" y="5919192"/>
            <a:ext cx="54063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55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 20 kg，低于 2 kg 提醒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11734800" y="4572992"/>
            <a:ext cx="5600700" cy="2041525"/>
          </a:xfrm>
          <a:prstGeom prst="roundRect">
            <a:avLst>
              <a:gd name="adj" fmla="val 93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000000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2077700" y="4896842"/>
            <a:ext cx="540639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可改 · 固定值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2077700" y="5385792"/>
            <a:ext cx="54063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低于设定数量就提醒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2077700" y="5919192"/>
            <a:ext cx="54063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55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如打包盒低于 100 个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5905500" y="6976467"/>
            <a:ext cx="125730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两种方式只能选一种，食材和餐饮物资通用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5905500" y="7561263"/>
            <a:ext cx="125730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用「改为固定值 / 改为按比例」切换，− / + 调整；修改需店长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附录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60500"/>
            <a:ext cx="18021300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常见问题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781300"/>
            <a:ext cx="5295900" cy="3152775"/>
          </a:xfrm>
          <a:prstGeom prst="roundRect">
            <a:avLst>
              <a:gd name="adj" fmla="val 6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95400" y="3124200"/>
            <a:ext cx="50711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出餐为什么没扣我刚入库的番茄酱？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95400" y="3676650"/>
            <a:ext cx="474840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818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封装的整瓶要先「开封」，开封后的余量才会被出餐扣减。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496050" y="2781300"/>
            <a:ext cx="5295900" cy="3152775"/>
          </a:xfrm>
          <a:prstGeom prst="roundRect">
            <a:avLst>
              <a:gd name="adj" fmla="val 6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38950" y="3124200"/>
            <a:ext cx="50711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入库的「加入」按钮是灰的？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838950" y="3676650"/>
            <a:ext cx="474840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818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检查名称、拍照、存放区域是否都已填写，封装品还要填每件规格。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039600" y="2781300"/>
            <a:ext cx="5295900" cy="3152775"/>
          </a:xfrm>
          <a:prstGeom prst="roundRect">
            <a:avLst>
              <a:gd name="adj" fmla="val 6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382500" y="3124200"/>
            <a:ext cx="50711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开门检查提交不了？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382500" y="3676650"/>
            <a:ext cx="474840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818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还有必填项没填，或异常没写原因；提示快照过期就点「刷新检查项」。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2500" y="6181725"/>
            <a:ext cx="5295900" cy="3152775"/>
          </a:xfrm>
          <a:prstGeom prst="roundRect">
            <a:avLst>
              <a:gd name="adj" fmla="val 6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95400" y="6524625"/>
            <a:ext cx="50711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存储区域删不掉？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95400" y="7077075"/>
            <a:ext cx="474840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818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区域里还有食材、工具、餐具或检查项，只能停用。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496050" y="6181725"/>
            <a:ext cx="5295900" cy="3152775"/>
          </a:xfrm>
          <a:prstGeom prst="roundRect">
            <a:avLst>
              <a:gd name="adj" fmla="val 6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38950" y="6524625"/>
            <a:ext cx="50711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餐具入库填错了？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6838950" y="7077075"/>
            <a:ext cx="474840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818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分钟内可撤销最近一次入库；超过时间请用报损或再次入库修正。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2039600" y="6181725"/>
            <a:ext cx="5295900" cy="3152775"/>
          </a:xfrm>
          <a:prstGeom prst="roundRect">
            <a:avLst>
              <a:gd name="adj" fmla="val 6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382500" y="6524625"/>
            <a:ext cx="50711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按钮提示「需要店长权限」？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2382500" y="7077075"/>
            <a:ext cx="507111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818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该操作只限店长，请店长登录后处理。</a:t>
            </a:r>
            <a:endParaRPr lang="en-US" sz="1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586038"/>
            <a:ext cx="50292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附录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3227388"/>
            <a:ext cx="470916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54"/>
              </a:lnSpc>
              <a:buNone/>
            </a:pPr>
            <a:r>
              <a:rPr lang="en-US" sz="4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系统里的对象怎么关联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4884738"/>
            <a:ext cx="4709160" cy="2238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375"/>
              </a:lnSpc>
              <a:buNone/>
            </a:pPr>
            <a:r>
              <a:rPr lang="en-US" sz="2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44375"/>
              </a:lnSpc>
              <a:buNone/>
            </a:pPr>
            <a:r>
              <a:rPr lang="en-US" sz="2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批次 </a:t>
            </a:r>
            <a:pPr algn="l" indent="0" marL="0">
              <a:lnSpc>
                <a:spcPct val="144375"/>
              </a:lnSpc>
              <a:buNone/>
            </a:pPr>
            <a:r>
              <a:rPr lang="en-US" sz="2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是库存的最小单位，属于一个食材，放在一个存储区域 · 出餐、报损、盘点都落到批次上 · 区域同时承载工具、餐具和开门检查项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52500" y="7370663"/>
            <a:ext cx="50292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高清原图另附：食材管理-对象关系图.png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6158" y="666750"/>
            <a:ext cx="10619184" cy="8953401"/>
          </a:xfrm>
          <a:prstGeom prst="roundRect">
            <a:avLst>
              <a:gd name="adj" fmla="val 1702"/>
            </a:avLst>
          </a:prstGeom>
          <a:ln/>
          <a:effectLst>
            <a:outerShdw sx="100000" sy="100000" kx="0" ky="0" algn="bl" rotWithShape="0" blurRad="381000" dist="95250" dir="5400000">
              <a:srgbClr val="111827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6158" y="666750"/>
            <a:ext cx="10619184" cy="89534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2026-10-02T12:12:46Z</dcterms:created>
  <dcterms:modified xsi:type="dcterms:W3CDTF">2026-10-02T12:12:46Z</dcterms:modified>
</cp:coreProperties>
</file>